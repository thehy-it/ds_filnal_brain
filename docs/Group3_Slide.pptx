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78" r:id="rId8"/>
    <p:sldId id="279"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8C94"/>
    <a:srgbClr val="15848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73" d="100"/>
          <a:sy n="73" d="100"/>
        </p:scale>
        <p:origin x="54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9145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490140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613374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7F9FB"/>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0" name="Image 0" descr="/home/claude/work/build/cover_bg.jpg"/>
          <p:cNvPicPr>
            <a:picLocks noChangeAspect="1"/>
          </p:cNvPicPr>
          <p:nvPr userDrawn="1"/>
        </p:nvPicPr>
        <p:blipFill>
          <a:blip r:embed="rId4"/>
          <a:stretch>
            <a:fillRect/>
          </a:stretch>
        </p:blipFill>
        <p:spPr>
          <a:xfrm>
            <a:off x="0" y="0"/>
            <a:ext cx="12191695" cy="6858000"/>
          </a:xfrm>
          <a:prstGeom prst="rect">
            <a:avLst/>
          </a:prstGeom>
        </p:spPr>
      </p:pic>
      <p:sp>
        <p:nvSpPr>
          <p:cNvPr id="9" name="Rectangle 8"/>
          <p:cNvSpPr/>
          <p:nvPr userDrawn="1"/>
        </p:nvSpPr>
        <p:spPr>
          <a:xfrm>
            <a:off x="4917445" y="230491"/>
            <a:ext cx="7378545" cy="646331"/>
          </a:xfrm>
          <a:prstGeom prst="rect">
            <a:avLst/>
          </a:prstGeom>
        </p:spPr>
        <p:txBody>
          <a:bodyPr wrap="square">
            <a:spAutoFit/>
          </a:bodyPr>
          <a:lstStyle/>
          <a:p>
            <a:pPr algn="ctr"/>
            <a:r>
              <a:rPr lang="en-US" b="1" kern="0" spc="50" dirty="0">
                <a:solidFill>
                  <a:srgbClr val="15848B"/>
                </a:solidFill>
                <a:latin typeface="Times New Roman" pitchFamily="34" charset="0"/>
                <a:ea typeface="Times New Roman" pitchFamily="34" charset="-122"/>
                <a:cs typeface="Times New Roman" pitchFamily="34" charset="-120"/>
              </a:rPr>
              <a:t>TRƯỜNG ĐẠI HỌC GIAO THÔNG VẬN TẢI TP. HỒ CHÍ MINH  </a:t>
            </a:r>
            <a:br>
              <a:rPr lang="en-US" b="1" kern="0" spc="50" dirty="0">
                <a:solidFill>
                  <a:srgbClr val="15848B"/>
                </a:solidFill>
                <a:latin typeface="Times New Roman" pitchFamily="34" charset="0"/>
                <a:ea typeface="Times New Roman" pitchFamily="34" charset="-122"/>
                <a:cs typeface="Times New Roman" pitchFamily="34" charset="-120"/>
              </a:rPr>
            </a:br>
            <a:r>
              <a:rPr lang="en-US" b="1" kern="0" spc="50" dirty="0">
                <a:solidFill>
                  <a:srgbClr val="15848B"/>
                </a:solidFill>
                <a:latin typeface="Times New Roman" pitchFamily="34" charset="0"/>
                <a:ea typeface="Times New Roman" pitchFamily="34" charset="-122"/>
                <a:cs typeface="Times New Roman" pitchFamily="34" charset="-120"/>
              </a:rPr>
              <a:t>VIỆN ĐÀO TẠO CHẤT LƯỢNG CAO</a:t>
            </a:r>
            <a:endParaRPr lang="en-US" b="1" dirty="0">
              <a:solidFill>
                <a:srgbClr val="15848B"/>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7.pn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png"/><Relationship Id="rId7" Type="http://schemas.openxmlformats.org/officeDocument/2006/relationships/image" Target="../media/image2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16.png"/><Relationship Id="rId4" Type="http://schemas.openxmlformats.org/officeDocument/2006/relationships/image" Target="../media/image6.png"/><Relationship Id="rId9"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35.png"/><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grpSp>
        <p:nvGrpSpPr>
          <p:cNvPr id="14" name="Group 13"/>
          <p:cNvGrpSpPr/>
          <p:nvPr/>
        </p:nvGrpSpPr>
        <p:grpSpPr>
          <a:xfrm>
            <a:off x="-1211837" y="3830411"/>
            <a:ext cx="14426534" cy="5889364"/>
            <a:chOff x="-1198390" y="3830411"/>
            <a:chExt cx="14426534" cy="5889364"/>
          </a:xfrm>
        </p:grpSpPr>
        <p:sp>
          <p:nvSpPr>
            <p:cNvPr id="15" name="Oval 14"/>
            <p:cNvSpPr/>
            <p:nvPr/>
          </p:nvSpPr>
          <p:spPr>
            <a:xfrm rot="20333944">
              <a:off x="-430342" y="3830411"/>
              <a:ext cx="2390503" cy="4333768"/>
            </a:xfrm>
            <a:prstGeom prst="ellipse">
              <a:avLst/>
            </a:prstGeom>
            <a:solidFill>
              <a:srgbClr val="F2CC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rot="20333944">
              <a:off x="-1067246" y="4233550"/>
              <a:ext cx="3411647" cy="5486225"/>
            </a:xfrm>
            <a:prstGeom prst="ellipse">
              <a:avLst/>
            </a:prstGeom>
            <a:solidFill>
              <a:srgbClr val="17A6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rot="20333944">
              <a:off x="-1198390" y="4905310"/>
              <a:ext cx="3811856" cy="4716624"/>
            </a:xfrm>
            <a:prstGeom prst="ellipse">
              <a:avLst/>
            </a:prstGeom>
            <a:solidFill>
              <a:srgbClr val="1584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p:cNvSpPr/>
            <p:nvPr/>
          </p:nvSpPr>
          <p:spPr>
            <a:xfrm rot="13935528">
              <a:off x="9800175" y="3544992"/>
              <a:ext cx="2390503" cy="4465435"/>
            </a:xfrm>
            <a:prstGeom prst="ellipse">
              <a:avLst/>
            </a:prstGeom>
            <a:solidFill>
              <a:srgbClr val="F2CC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p:cNvSpPr/>
            <p:nvPr/>
          </p:nvSpPr>
          <p:spPr>
            <a:xfrm rot="12874827">
              <a:off x="9128957" y="4592373"/>
              <a:ext cx="3411647" cy="4416764"/>
            </a:xfrm>
            <a:prstGeom prst="ellipse">
              <a:avLst/>
            </a:prstGeom>
            <a:solidFill>
              <a:srgbClr val="17A6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rot="12874827">
              <a:off x="9321497" y="5359700"/>
              <a:ext cx="3811856" cy="3657925"/>
            </a:xfrm>
            <a:prstGeom prst="ellipse">
              <a:avLst/>
            </a:prstGeom>
            <a:solidFill>
              <a:srgbClr val="1584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Text 3"/>
          <p:cNvSpPr/>
          <p:nvPr/>
        </p:nvSpPr>
        <p:spPr>
          <a:xfrm>
            <a:off x="731520" y="1650492"/>
            <a:ext cx="10698480" cy="310896"/>
          </a:xfrm>
          <a:prstGeom prst="rect">
            <a:avLst/>
          </a:prstGeom>
          <a:noFill/>
          <a:ln/>
        </p:spPr>
        <p:txBody>
          <a:bodyPr wrap="square" rtlCol="0" anchor="ctr"/>
          <a:lstStyle/>
          <a:p>
            <a:pPr marL="0" indent="0" algn="ctr">
              <a:buNone/>
            </a:pPr>
            <a:r>
              <a:rPr lang="en-US" sz="2400" b="1" kern="0" spc="200" dirty="0">
                <a:solidFill>
                  <a:srgbClr val="EACB24"/>
                </a:solidFill>
                <a:latin typeface="Times New Roman" pitchFamily="34" charset="0"/>
                <a:ea typeface="Times New Roman" pitchFamily="34" charset="-122"/>
                <a:cs typeface="Times New Roman" pitchFamily="34" charset="-120"/>
              </a:rPr>
              <a:t>ĐỒ ÁN THỰC TẾ KHOA HỌC DỮ LIỆU</a:t>
            </a:r>
            <a:endParaRPr lang="en-US" sz="2400" dirty="0">
              <a:solidFill>
                <a:srgbClr val="EACB24"/>
              </a:solidFill>
            </a:endParaRPr>
          </a:p>
        </p:txBody>
      </p:sp>
      <p:sp>
        <p:nvSpPr>
          <p:cNvPr id="23" name="Text 4"/>
          <p:cNvSpPr/>
          <p:nvPr/>
        </p:nvSpPr>
        <p:spPr>
          <a:xfrm>
            <a:off x="524692" y="1997964"/>
            <a:ext cx="11142617" cy="1234440"/>
          </a:xfrm>
          <a:prstGeom prst="rect">
            <a:avLst/>
          </a:prstGeom>
          <a:noFill/>
          <a:ln/>
        </p:spPr>
        <p:txBody>
          <a:bodyPr wrap="square" rtlCol="0" anchor="t"/>
          <a:lstStyle/>
          <a:p>
            <a:pPr marL="0" indent="0" algn="ctr">
              <a:lnSpc>
                <a:spcPct val="112000"/>
              </a:lnSpc>
              <a:buNone/>
            </a:pPr>
            <a:r>
              <a:rPr lang="en-US" sz="2700" b="1" dirty="0">
                <a:solidFill>
                  <a:srgbClr val="0B1E3D"/>
                </a:solidFill>
                <a:latin typeface="Times New Roman" pitchFamily="34" charset="0"/>
                <a:ea typeface="Times New Roman" pitchFamily="34" charset="-122"/>
                <a:cs typeface="Times New Roman" pitchFamily="34" charset="-120"/>
              </a:rPr>
              <a:t>ỨNG DỤNG HỌC SÂU &amp; TRÍ TUỆ NHÂN TẠO CÓ THỂ GIẢI THÍCH</a:t>
            </a:r>
            <a:endParaRPr lang="en-US" sz="2700" dirty="0"/>
          </a:p>
          <a:p>
            <a:pPr marL="0" indent="0" algn="ctr">
              <a:lnSpc>
                <a:spcPct val="112000"/>
              </a:lnSpc>
              <a:buNone/>
            </a:pPr>
            <a:r>
              <a:rPr lang="en-US" sz="2700" b="1" dirty="0">
                <a:solidFill>
                  <a:srgbClr val="0B1E3D"/>
                </a:solidFill>
                <a:latin typeface="Times New Roman" pitchFamily="34" charset="0"/>
                <a:ea typeface="Times New Roman" pitchFamily="34" charset="-122"/>
                <a:cs typeface="Times New Roman" pitchFamily="34" charset="-120"/>
              </a:rPr>
              <a:t>TRONG PHÁT HIỆN, PHÂN LOẠI KHỐI U NÃO TRÊN ẢNH MRI</a:t>
            </a:r>
            <a:endParaRPr lang="en-US" sz="2700" dirty="0"/>
          </a:p>
        </p:txBody>
      </p:sp>
      <p:sp>
        <p:nvSpPr>
          <p:cNvPr id="24" name="Text 5"/>
          <p:cNvSpPr/>
          <p:nvPr/>
        </p:nvSpPr>
        <p:spPr>
          <a:xfrm>
            <a:off x="746607" y="3497580"/>
            <a:ext cx="10698480" cy="384048"/>
          </a:xfrm>
          <a:prstGeom prst="rect">
            <a:avLst/>
          </a:prstGeom>
          <a:noFill/>
          <a:ln/>
        </p:spPr>
        <p:txBody>
          <a:bodyPr wrap="square" rtlCol="0" anchor="ctr"/>
          <a:lstStyle/>
          <a:p>
            <a:pPr marL="0" indent="0" algn="ctr">
              <a:buNone/>
            </a:pPr>
            <a:r>
              <a:rPr lang="en-US" sz="1600" i="1" dirty="0">
                <a:solidFill>
                  <a:srgbClr val="158C94"/>
                </a:solidFill>
                <a:latin typeface="Times New Roman" pitchFamily="34" charset="0"/>
                <a:ea typeface="Times New Roman" pitchFamily="34" charset="-122"/>
                <a:cs typeface="Times New Roman" pitchFamily="34" charset="-120"/>
              </a:rPr>
              <a:t>BrainTumorAI  —  EfficientNetB0 / DenseNet121  &amp;  Grad-CAM</a:t>
            </a:r>
            <a:endParaRPr lang="en-US" sz="1600" dirty="0"/>
          </a:p>
        </p:txBody>
      </p:sp>
      <p:sp>
        <p:nvSpPr>
          <p:cNvPr id="25" name="Shape 6"/>
          <p:cNvSpPr/>
          <p:nvPr/>
        </p:nvSpPr>
        <p:spPr>
          <a:xfrm>
            <a:off x="4466844" y="3881628"/>
            <a:ext cx="3227832" cy="0"/>
          </a:xfrm>
          <a:prstGeom prst="line">
            <a:avLst/>
          </a:prstGeom>
          <a:noFill/>
          <a:ln w="15875">
            <a:solidFill>
              <a:srgbClr val="E2E6EC"/>
            </a:solidFill>
            <a:prstDash val="solid"/>
          </a:ln>
        </p:spPr>
      </p:sp>
      <p:sp>
        <p:nvSpPr>
          <p:cNvPr id="26" name="Text 7"/>
          <p:cNvSpPr/>
          <p:nvPr/>
        </p:nvSpPr>
        <p:spPr>
          <a:xfrm>
            <a:off x="4234216" y="4366260"/>
            <a:ext cx="4372501" cy="1239012"/>
          </a:xfrm>
          <a:prstGeom prst="rect">
            <a:avLst/>
          </a:prstGeom>
          <a:noFill/>
          <a:ln/>
        </p:spPr>
        <p:txBody>
          <a:bodyPr wrap="square" rtlCol="0" anchor="ctr"/>
          <a:lstStyle/>
          <a:p>
            <a:r>
              <a:rPr lang="en-US" b="1" dirty="0">
                <a:latin typeface="Times New Roman" pitchFamily="34" charset="0"/>
                <a:ea typeface="Times New Roman" pitchFamily="34" charset="-122"/>
                <a:cs typeface="Times New Roman" pitchFamily="34" charset="-120"/>
              </a:rPr>
              <a:t>Môn học: </a:t>
            </a:r>
            <a:r>
              <a:rPr lang="en-US" dirty="0">
                <a:latin typeface="Times New Roman" pitchFamily="34" charset="0"/>
                <a:ea typeface="Times New Roman" pitchFamily="34" charset="-122"/>
                <a:cs typeface="Times New Roman" pitchFamily="34" charset="-120"/>
              </a:rPr>
              <a:t>Đồ án thực tế Khoa học </a:t>
            </a:r>
            <a:r>
              <a:rPr lang="en-US" dirty="0" err="1">
                <a:latin typeface="Times New Roman" pitchFamily="34" charset="0"/>
                <a:ea typeface="Times New Roman" pitchFamily="34" charset="-122"/>
                <a:cs typeface="Times New Roman" pitchFamily="34" charset="-120"/>
              </a:rPr>
              <a:t>Dữ</a:t>
            </a:r>
            <a:r>
              <a:rPr lang="en-US" dirty="0">
                <a:latin typeface="Times New Roman" pitchFamily="34" charset="0"/>
                <a:ea typeface="Times New Roman" pitchFamily="34" charset="-122"/>
                <a:cs typeface="Times New Roman" pitchFamily="34" charset="-120"/>
              </a:rPr>
              <a:t> </a:t>
            </a:r>
            <a:r>
              <a:rPr lang="en-US" dirty="0" err="1">
                <a:latin typeface="Times New Roman" pitchFamily="34" charset="0"/>
                <a:ea typeface="Times New Roman" pitchFamily="34" charset="-122"/>
                <a:cs typeface="Times New Roman" pitchFamily="34" charset="-120"/>
              </a:rPr>
              <a:t>liệu</a:t>
            </a:r>
            <a:endParaRPr lang="en-US" dirty="0">
              <a:latin typeface="Times New Roman" pitchFamily="34" charset="0"/>
              <a:ea typeface="Times New Roman" pitchFamily="34" charset="-122"/>
              <a:cs typeface="Times New Roman" pitchFamily="34" charset="-120"/>
            </a:endParaRPr>
          </a:p>
          <a:p>
            <a:r>
              <a:rPr lang="en-US" b="1" dirty="0" err="1">
                <a:latin typeface="Times New Roman" pitchFamily="34" charset="0"/>
                <a:ea typeface="Times New Roman" pitchFamily="34" charset="-122"/>
                <a:cs typeface="Times New Roman" pitchFamily="34" charset="-120"/>
              </a:rPr>
              <a:t>Mã</a:t>
            </a:r>
            <a:r>
              <a:rPr lang="en-US" b="1" dirty="0">
                <a:latin typeface="Times New Roman" pitchFamily="34" charset="0"/>
                <a:ea typeface="Times New Roman" pitchFamily="34" charset="-122"/>
                <a:cs typeface="Times New Roman" pitchFamily="34" charset="-120"/>
              </a:rPr>
              <a:t> lớp: </a:t>
            </a:r>
            <a:r>
              <a:rPr lang="en-US" dirty="0">
                <a:latin typeface="Times New Roman" pitchFamily="34" charset="0"/>
                <a:ea typeface="Times New Roman" pitchFamily="34" charset="-122"/>
                <a:cs typeface="Times New Roman" pitchFamily="34" charset="-120"/>
              </a:rPr>
              <a:t>010412710702</a:t>
            </a:r>
            <a:br>
              <a:rPr lang="en-US" dirty="0">
                <a:latin typeface="Times New Roman" pitchFamily="34" charset="0"/>
                <a:ea typeface="Times New Roman" pitchFamily="34" charset="-122"/>
                <a:cs typeface="Times New Roman" pitchFamily="34" charset="-120"/>
              </a:rPr>
            </a:br>
            <a:r>
              <a:rPr lang="en-US" b="1" dirty="0" err="1">
                <a:latin typeface="Times New Roman" pitchFamily="34" charset="0"/>
                <a:ea typeface="Times New Roman" pitchFamily="34" charset="-122"/>
                <a:cs typeface="Times New Roman" pitchFamily="34" charset="-120"/>
              </a:rPr>
              <a:t>Giảng</a:t>
            </a:r>
            <a:r>
              <a:rPr lang="en-US" b="1" dirty="0">
                <a:latin typeface="Times New Roman" pitchFamily="34" charset="0"/>
                <a:ea typeface="Times New Roman" pitchFamily="34" charset="-122"/>
                <a:cs typeface="Times New Roman" pitchFamily="34" charset="-120"/>
              </a:rPr>
              <a:t> </a:t>
            </a:r>
            <a:r>
              <a:rPr lang="en-US" b="1" dirty="0" err="1">
                <a:latin typeface="Times New Roman" pitchFamily="34" charset="0"/>
                <a:ea typeface="Times New Roman" pitchFamily="34" charset="-122"/>
                <a:cs typeface="Times New Roman" pitchFamily="34" charset="-120"/>
              </a:rPr>
              <a:t>viên</a:t>
            </a:r>
            <a:r>
              <a:rPr lang="en-US" b="1" dirty="0">
                <a:latin typeface="Times New Roman" pitchFamily="34" charset="0"/>
                <a:ea typeface="Times New Roman" pitchFamily="34" charset="-122"/>
                <a:cs typeface="Times New Roman" pitchFamily="34" charset="-120"/>
              </a:rPr>
              <a:t> </a:t>
            </a:r>
            <a:r>
              <a:rPr lang="en-US" b="1" dirty="0" err="1">
                <a:latin typeface="Times New Roman" pitchFamily="34" charset="0"/>
                <a:ea typeface="Times New Roman" pitchFamily="34" charset="-122"/>
                <a:cs typeface="Times New Roman" pitchFamily="34" charset="-120"/>
              </a:rPr>
              <a:t>hướng</a:t>
            </a:r>
            <a:r>
              <a:rPr lang="en-US" b="1" dirty="0">
                <a:latin typeface="Times New Roman" pitchFamily="34" charset="0"/>
                <a:ea typeface="Times New Roman" pitchFamily="34" charset="-122"/>
                <a:cs typeface="Times New Roman" pitchFamily="34" charset="-120"/>
              </a:rPr>
              <a:t> </a:t>
            </a:r>
            <a:r>
              <a:rPr lang="en-US" b="1" dirty="0" err="1" smtClean="0">
                <a:latin typeface="Times New Roman" pitchFamily="34" charset="0"/>
                <a:ea typeface="Times New Roman" pitchFamily="34" charset="-122"/>
                <a:cs typeface="Times New Roman" pitchFamily="34" charset="-120"/>
              </a:rPr>
              <a:t>dẫn</a:t>
            </a:r>
            <a:r>
              <a:rPr lang="en-US" b="1" dirty="0" smtClean="0">
                <a:latin typeface="Times New Roman" pitchFamily="34" charset="0"/>
                <a:ea typeface="Times New Roman" pitchFamily="34" charset="-122"/>
                <a:cs typeface="Times New Roman" pitchFamily="34" charset="-120"/>
              </a:rPr>
              <a:t>:  </a:t>
            </a:r>
            <a:r>
              <a:rPr lang="en-US" b="1" dirty="0" err="1" smtClean="0">
                <a:latin typeface="Times New Roman" pitchFamily="34" charset="0"/>
                <a:ea typeface="Times New Roman" pitchFamily="34" charset="-122"/>
                <a:cs typeface="Times New Roman" pitchFamily="34" charset="-120"/>
              </a:rPr>
              <a:t>TS.</a:t>
            </a:r>
            <a:r>
              <a:rPr lang="en-US" dirty="0" err="1" smtClean="0">
                <a:latin typeface="Times New Roman" pitchFamily="34" charset="0"/>
                <a:ea typeface="Times New Roman" pitchFamily="34" charset="-122"/>
                <a:cs typeface="Times New Roman" pitchFamily="34" charset="-120"/>
              </a:rPr>
              <a:t>Trần</a:t>
            </a:r>
            <a:r>
              <a:rPr lang="en-US" dirty="0" smtClean="0">
                <a:latin typeface="Times New Roman" pitchFamily="34" charset="0"/>
                <a:ea typeface="Times New Roman" pitchFamily="34" charset="-122"/>
                <a:cs typeface="Times New Roman" pitchFamily="34" charset="-120"/>
              </a:rPr>
              <a:t> </a:t>
            </a:r>
            <a:r>
              <a:rPr lang="en-US" sz="2000" dirty="0" err="1">
                <a:latin typeface="Times New Roman" pitchFamily="34" charset="0"/>
                <a:ea typeface="Times New Roman" pitchFamily="34" charset="-122"/>
                <a:cs typeface="Times New Roman" pitchFamily="34" charset="-120"/>
              </a:rPr>
              <a:t>Thế</a:t>
            </a:r>
            <a:r>
              <a:rPr lang="en-US" dirty="0">
                <a:latin typeface="Times New Roman" pitchFamily="34" charset="0"/>
                <a:ea typeface="Times New Roman" pitchFamily="34" charset="-122"/>
                <a:cs typeface="Times New Roman" pitchFamily="34" charset="-120"/>
              </a:rPr>
              <a:t> </a:t>
            </a:r>
            <a:r>
              <a:rPr lang="en-US" dirty="0" err="1" smtClean="0">
                <a:latin typeface="Times New Roman" pitchFamily="34" charset="0"/>
                <a:ea typeface="Times New Roman" pitchFamily="34" charset="-122"/>
                <a:cs typeface="Times New Roman" pitchFamily="34" charset="-120"/>
              </a:rPr>
              <a:t>Vinh</a:t>
            </a:r>
            <a:endParaRPr lang="en-US" dirty="0" smtClean="0">
              <a:latin typeface="Times New Roman" pitchFamily="34" charset="0"/>
              <a:ea typeface="Times New Roman" pitchFamily="34" charset="-122"/>
              <a:cs typeface="Times New Roman" pitchFamily="34" charset="-120"/>
            </a:endParaRPr>
          </a:p>
          <a:p>
            <a:r>
              <a:rPr lang="en-US" b="1" dirty="0" err="1" smtClean="0">
                <a:latin typeface="Times New Roman" pitchFamily="34" charset="0"/>
                <a:cs typeface="Times New Roman" pitchFamily="34" charset="-120"/>
              </a:rPr>
              <a:t>Nhóm</a:t>
            </a:r>
            <a:r>
              <a:rPr lang="en-US" b="1" dirty="0" smtClean="0">
                <a:latin typeface="Times New Roman" pitchFamily="34" charset="0"/>
                <a:cs typeface="Times New Roman" pitchFamily="34" charset="-120"/>
              </a:rPr>
              <a:t> : </a:t>
            </a:r>
            <a:r>
              <a:rPr lang="en-US" dirty="0" smtClean="0">
                <a:latin typeface="Times New Roman" pitchFamily="34" charset="0"/>
                <a:cs typeface="Times New Roman" pitchFamily="34" charset="-120"/>
              </a:rPr>
              <a:t>3</a:t>
            </a:r>
            <a:endParaRPr lang="en-US" b="1" dirty="0"/>
          </a:p>
          <a:p>
            <a:pPr marL="0" indent="0">
              <a:buNone/>
            </a:pPr>
            <a:endParaRPr lang="en-US" dirty="0"/>
          </a:p>
        </p:txBody>
      </p:sp>
      <p:sp>
        <p:nvSpPr>
          <p:cNvPr id="27" name="Text 8"/>
          <p:cNvSpPr/>
          <p:nvPr/>
        </p:nvSpPr>
        <p:spPr>
          <a:xfrm>
            <a:off x="731520" y="4357116"/>
            <a:ext cx="10698480" cy="274320"/>
          </a:xfrm>
          <a:prstGeom prst="rect">
            <a:avLst/>
          </a:prstGeom>
          <a:noFill/>
          <a:ln/>
        </p:spPr>
        <p:txBody>
          <a:bodyPr wrap="square" rtlCol="0" anchor="ctr"/>
          <a:lstStyle/>
          <a:p>
            <a:pPr marL="0" indent="0" algn="ctr">
              <a:buNone/>
            </a:pPr>
            <a:endParaRPr lang="en-US" sz="1250" dirty="0"/>
          </a:p>
        </p:txBody>
      </p:sp>
      <p:sp>
        <p:nvSpPr>
          <p:cNvPr id="28" name="Text 9"/>
          <p:cNvSpPr/>
          <p:nvPr/>
        </p:nvSpPr>
        <p:spPr>
          <a:xfrm>
            <a:off x="714415" y="6086164"/>
            <a:ext cx="10698480" cy="274320"/>
          </a:xfrm>
          <a:prstGeom prst="rect">
            <a:avLst/>
          </a:prstGeom>
          <a:noFill/>
          <a:ln/>
        </p:spPr>
        <p:txBody>
          <a:bodyPr wrap="square" rtlCol="0" anchor="ctr"/>
          <a:lstStyle/>
          <a:p>
            <a:pPr marL="0" indent="0" algn="ctr">
              <a:buNone/>
            </a:pPr>
            <a:r>
              <a:rPr lang="en-US" sz="1150" i="1" dirty="0">
                <a:solidFill>
                  <a:srgbClr val="8992A0"/>
                </a:solidFill>
                <a:latin typeface="Times New Roman" pitchFamily="34" charset="0"/>
                <a:ea typeface="Times New Roman" pitchFamily="34" charset="-122"/>
                <a:cs typeface="Times New Roman" pitchFamily="34" charset="-120"/>
              </a:rPr>
              <a:t>TP. Hồ Chí Minh, </a:t>
            </a:r>
            <a:r>
              <a:rPr lang="en-US" sz="1150" i="1" dirty="0" err="1">
                <a:solidFill>
                  <a:srgbClr val="8992A0"/>
                </a:solidFill>
                <a:latin typeface="Times New Roman" pitchFamily="34" charset="0"/>
                <a:ea typeface="Times New Roman" pitchFamily="34" charset="-122"/>
                <a:cs typeface="Times New Roman" pitchFamily="34" charset="-120"/>
              </a:rPr>
              <a:t>ngày</a:t>
            </a:r>
            <a:r>
              <a:rPr lang="en-US" sz="1150" i="1" dirty="0">
                <a:solidFill>
                  <a:srgbClr val="8992A0"/>
                </a:solidFill>
                <a:latin typeface="Times New Roman" pitchFamily="34" charset="0"/>
                <a:ea typeface="Times New Roman" pitchFamily="34" charset="-122"/>
                <a:cs typeface="Times New Roman" pitchFamily="34" charset="-120"/>
              </a:rPr>
              <a:t> </a:t>
            </a:r>
            <a:r>
              <a:rPr lang="en-US" sz="1150" i="1" dirty="0" smtClean="0">
                <a:solidFill>
                  <a:srgbClr val="8992A0"/>
                </a:solidFill>
                <a:latin typeface="Times New Roman" pitchFamily="34" charset="0"/>
                <a:ea typeface="Times New Roman" pitchFamily="34" charset="-122"/>
                <a:cs typeface="Times New Roman" pitchFamily="34" charset="-120"/>
              </a:rPr>
              <a:t>18 </a:t>
            </a:r>
            <a:r>
              <a:rPr lang="en-US" sz="1150" i="1" dirty="0">
                <a:solidFill>
                  <a:srgbClr val="8992A0"/>
                </a:solidFill>
                <a:latin typeface="Times New Roman" pitchFamily="34" charset="0"/>
                <a:ea typeface="Times New Roman" pitchFamily="34" charset="-122"/>
                <a:cs typeface="Times New Roman" pitchFamily="34" charset="-120"/>
              </a:rPr>
              <a:t>tháng 07 năm 2026</a:t>
            </a:r>
            <a:endParaRPr lang="en-US" sz="11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5" name="Text 2"/>
          <p:cNvSpPr/>
          <p:nvPr/>
        </p:nvSpPr>
        <p:spPr>
          <a:xfrm>
            <a:off x="502920" y="777240"/>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00</a:t>
            </a:r>
            <a:endParaRPr lang="en-US" sz="1200" dirty="0"/>
          </a:p>
        </p:txBody>
      </p:sp>
      <p:sp>
        <p:nvSpPr>
          <p:cNvPr id="7" name="Text 4"/>
          <p:cNvSpPr/>
          <p:nvPr/>
        </p:nvSpPr>
        <p:spPr>
          <a:xfrm>
            <a:off x="502920" y="1143000"/>
            <a:ext cx="10972800" cy="603504"/>
          </a:xfrm>
          <a:prstGeom prst="rect">
            <a:avLst/>
          </a:prstGeom>
          <a:noFill/>
          <a:ln/>
        </p:spPr>
        <p:txBody>
          <a:bodyPr wrap="square" rtlCol="0" anchor="ctr"/>
          <a:lstStyle/>
          <a:p>
            <a:pPr marL="0" indent="0">
              <a:buNone/>
            </a:pPr>
            <a:r>
              <a:rPr lang="en-US" sz="2500" b="1" dirty="0">
                <a:solidFill>
                  <a:srgbClr val="0B1E3D"/>
                </a:solidFill>
                <a:latin typeface="Times New Roman" pitchFamily="34" charset="0"/>
                <a:ea typeface="Times New Roman" pitchFamily="34" charset="-122"/>
                <a:cs typeface="Times New Roman" pitchFamily="34" charset="-120"/>
              </a:rPr>
              <a:t>Thành viên nhóm thực hiện</a:t>
            </a:r>
            <a:endParaRPr lang="en-US" sz="2500" dirty="0"/>
          </a:p>
        </p:txBody>
      </p:sp>
      <p:sp>
        <p:nvSpPr>
          <p:cNvPr id="8" name="Shape 5"/>
          <p:cNvSpPr/>
          <p:nvPr/>
        </p:nvSpPr>
        <p:spPr>
          <a:xfrm>
            <a:off x="586588" y="1965960"/>
            <a:ext cx="3429000" cy="2788920"/>
          </a:xfrm>
          <a:prstGeom prst="roundRect">
            <a:avLst>
              <a:gd name="adj" fmla="val 4590"/>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9" name="Shape 6"/>
          <p:cNvSpPr/>
          <p:nvPr/>
        </p:nvSpPr>
        <p:spPr>
          <a:xfrm>
            <a:off x="1843888" y="2258568"/>
            <a:ext cx="914400" cy="914400"/>
          </a:xfrm>
          <a:prstGeom prst="ellipse">
            <a:avLst/>
          </a:prstGeom>
          <a:solidFill>
            <a:srgbClr val="158C94"/>
          </a:solidFill>
          <a:ln/>
          <a:effectLst>
            <a:outerShdw blurRad="76200" dist="25400" dir="5400000" algn="bl" rotWithShape="0">
              <a:srgbClr val="1B3760">
                <a:alpha val="18000"/>
              </a:srgbClr>
            </a:outerShdw>
          </a:effectLst>
        </p:spPr>
      </p:sp>
      <p:pic>
        <p:nvPicPr>
          <p:cNvPr id="10" name="Image 1" descr="/home/claude/work/build/users_white.png"/>
          <p:cNvPicPr>
            <a:picLocks noChangeAspect="1"/>
          </p:cNvPicPr>
          <p:nvPr/>
        </p:nvPicPr>
        <p:blipFill>
          <a:blip r:embed="rId3"/>
          <a:stretch>
            <a:fillRect/>
          </a:stretch>
        </p:blipFill>
        <p:spPr>
          <a:xfrm>
            <a:off x="2072488" y="2487168"/>
            <a:ext cx="457200" cy="457200"/>
          </a:xfrm>
          <a:prstGeom prst="rect">
            <a:avLst/>
          </a:prstGeom>
        </p:spPr>
      </p:pic>
      <p:sp>
        <p:nvSpPr>
          <p:cNvPr id="11" name="Text 7"/>
          <p:cNvSpPr/>
          <p:nvPr/>
        </p:nvSpPr>
        <p:spPr>
          <a:xfrm>
            <a:off x="2429104" y="2185416"/>
            <a:ext cx="457200" cy="329184"/>
          </a:xfrm>
          <a:prstGeom prst="rect">
            <a:avLst/>
          </a:prstGeom>
          <a:noFill/>
          <a:ln/>
        </p:spPr>
        <p:txBody>
          <a:bodyPr wrap="square" rtlCol="0" anchor="ctr"/>
          <a:lstStyle/>
          <a:p>
            <a:pPr marL="0" indent="0" algn="ctr">
              <a:buNone/>
            </a:pPr>
            <a:r>
              <a:rPr lang="en-US" sz="1400" b="1" dirty="0">
                <a:solidFill>
                  <a:srgbClr val="C9960B"/>
                </a:solidFill>
                <a:latin typeface="Times New Roman" pitchFamily="34" charset="0"/>
                <a:ea typeface="Times New Roman" pitchFamily="34" charset="-122"/>
                <a:cs typeface="Times New Roman" pitchFamily="34" charset="-120"/>
              </a:rPr>
              <a:t>01</a:t>
            </a:r>
            <a:endParaRPr lang="en-US" sz="1400" dirty="0"/>
          </a:p>
        </p:txBody>
      </p:sp>
      <p:sp>
        <p:nvSpPr>
          <p:cNvPr id="12" name="Text 8"/>
          <p:cNvSpPr/>
          <p:nvPr/>
        </p:nvSpPr>
        <p:spPr>
          <a:xfrm>
            <a:off x="769468" y="3319272"/>
            <a:ext cx="3063240" cy="457200"/>
          </a:xfrm>
          <a:prstGeom prst="rect">
            <a:avLst/>
          </a:prstGeom>
          <a:noFill/>
          <a:ln/>
        </p:spPr>
        <p:txBody>
          <a:bodyPr wrap="square" rtlCol="0" anchor="ctr"/>
          <a:lstStyle/>
          <a:p>
            <a:pPr marL="0" indent="0" algn="ctr">
              <a:buNone/>
            </a:pPr>
            <a:r>
              <a:rPr lang="en-US" sz="1600" b="1" dirty="0">
                <a:solidFill>
                  <a:srgbClr val="0B1E3D"/>
                </a:solidFill>
                <a:latin typeface="Times New Roman" pitchFamily="34" charset="0"/>
                <a:ea typeface="Times New Roman" pitchFamily="34" charset="-122"/>
                <a:cs typeface="Times New Roman" pitchFamily="34" charset="-120"/>
              </a:rPr>
              <a:t>Huỳnh Thế Hy</a:t>
            </a:r>
            <a:endParaRPr lang="en-US" sz="1600" dirty="0"/>
          </a:p>
        </p:txBody>
      </p:sp>
      <p:sp>
        <p:nvSpPr>
          <p:cNvPr id="13" name="Text 9"/>
          <p:cNvSpPr/>
          <p:nvPr/>
        </p:nvSpPr>
        <p:spPr>
          <a:xfrm>
            <a:off x="769468" y="3758184"/>
            <a:ext cx="3063240" cy="274320"/>
          </a:xfrm>
          <a:prstGeom prst="rect">
            <a:avLst/>
          </a:prstGeom>
          <a:noFill/>
          <a:ln/>
        </p:spPr>
        <p:txBody>
          <a:bodyPr wrap="square" rtlCol="0" anchor="ctr"/>
          <a:lstStyle/>
          <a:p>
            <a:pPr marL="0" indent="0" algn="ctr">
              <a:buNone/>
            </a:pPr>
            <a:r>
              <a:rPr lang="en-US" sz="1600" dirty="0">
                <a:solidFill>
                  <a:srgbClr val="5B6472"/>
                </a:solidFill>
                <a:latin typeface="Times New Roman" pitchFamily="34" charset="0"/>
                <a:ea typeface="Times New Roman" pitchFamily="34" charset="-122"/>
                <a:cs typeface="Times New Roman" pitchFamily="34" charset="-120"/>
              </a:rPr>
              <a:t>MSSV: 051205009083</a:t>
            </a:r>
            <a:endParaRPr lang="en-US" sz="1600" dirty="0"/>
          </a:p>
        </p:txBody>
      </p:sp>
      <p:sp>
        <p:nvSpPr>
          <p:cNvPr id="14" name="Shape 10"/>
          <p:cNvSpPr/>
          <p:nvPr/>
        </p:nvSpPr>
        <p:spPr>
          <a:xfrm>
            <a:off x="1226668" y="4178808"/>
            <a:ext cx="2148840" cy="128016"/>
          </a:xfrm>
          <a:prstGeom prst="roundRect">
            <a:avLst>
              <a:gd name="adj" fmla="val 50000"/>
            </a:avLst>
          </a:prstGeom>
          <a:solidFill>
            <a:srgbClr val="E2E6EC"/>
          </a:solidFill>
          <a:ln/>
        </p:spPr>
      </p:sp>
      <p:sp>
        <p:nvSpPr>
          <p:cNvPr id="15" name="Shape 11"/>
          <p:cNvSpPr/>
          <p:nvPr/>
        </p:nvSpPr>
        <p:spPr>
          <a:xfrm>
            <a:off x="1226668" y="4178808"/>
            <a:ext cx="2148840" cy="128016"/>
          </a:xfrm>
          <a:prstGeom prst="roundRect">
            <a:avLst>
              <a:gd name="adj" fmla="val 50000"/>
            </a:avLst>
          </a:prstGeom>
          <a:solidFill>
            <a:srgbClr val="158C94"/>
          </a:solidFill>
          <a:ln/>
        </p:spPr>
      </p:sp>
      <p:sp>
        <p:nvSpPr>
          <p:cNvPr id="16" name="Text 12"/>
          <p:cNvSpPr/>
          <p:nvPr/>
        </p:nvSpPr>
        <p:spPr>
          <a:xfrm>
            <a:off x="769468" y="4361688"/>
            <a:ext cx="3063240" cy="256032"/>
          </a:xfrm>
          <a:prstGeom prst="rect">
            <a:avLst/>
          </a:prstGeom>
          <a:noFill/>
          <a:ln/>
        </p:spPr>
        <p:txBody>
          <a:bodyPr wrap="square" rtlCol="0" anchor="ctr"/>
          <a:lstStyle/>
          <a:p>
            <a:pPr marL="0" indent="0" algn="ctr">
              <a:buNone/>
            </a:pPr>
            <a:r>
              <a:rPr lang="en-US" sz="1000" dirty="0">
                <a:solidFill>
                  <a:srgbClr val="158C94"/>
                </a:solidFill>
                <a:latin typeface="Times New Roman" pitchFamily="34" charset="0"/>
                <a:ea typeface="Times New Roman" pitchFamily="34" charset="-122"/>
                <a:cs typeface="Times New Roman" pitchFamily="34" charset="-120"/>
              </a:rPr>
              <a:t>Tiến độ hoàn thành: 100%</a:t>
            </a:r>
            <a:endParaRPr lang="en-US" sz="1000" dirty="0"/>
          </a:p>
        </p:txBody>
      </p:sp>
      <p:sp>
        <p:nvSpPr>
          <p:cNvPr id="17" name="Shape 13"/>
          <p:cNvSpPr/>
          <p:nvPr/>
        </p:nvSpPr>
        <p:spPr>
          <a:xfrm>
            <a:off x="4381348" y="1965960"/>
            <a:ext cx="3429000" cy="2788920"/>
          </a:xfrm>
          <a:prstGeom prst="roundRect">
            <a:avLst>
              <a:gd name="adj" fmla="val 4590"/>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8" name="Shape 14"/>
          <p:cNvSpPr/>
          <p:nvPr/>
        </p:nvSpPr>
        <p:spPr>
          <a:xfrm>
            <a:off x="5638648" y="2258568"/>
            <a:ext cx="914400" cy="914400"/>
          </a:xfrm>
          <a:prstGeom prst="ellipse">
            <a:avLst/>
          </a:prstGeom>
          <a:solidFill>
            <a:srgbClr val="158C94"/>
          </a:solidFill>
          <a:ln/>
          <a:effectLst>
            <a:outerShdw blurRad="76200" dist="25400" dir="5400000" algn="bl" rotWithShape="0">
              <a:srgbClr val="1B3760">
                <a:alpha val="18000"/>
              </a:srgbClr>
            </a:outerShdw>
          </a:effectLst>
        </p:spPr>
      </p:sp>
      <p:pic>
        <p:nvPicPr>
          <p:cNvPr id="19" name="Image 2" descr="/home/claude/work/build/users_white.png"/>
          <p:cNvPicPr>
            <a:picLocks noChangeAspect="1"/>
          </p:cNvPicPr>
          <p:nvPr/>
        </p:nvPicPr>
        <p:blipFill>
          <a:blip r:embed="rId3"/>
          <a:stretch>
            <a:fillRect/>
          </a:stretch>
        </p:blipFill>
        <p:spPr>
          <a:xfrm>
            <a:off x="5867248" y="2487168"/>
            <a:ext cx="457200" cy="457200"/>
          </a:xfrm>
          <a:prstGeom prst="rect">
            <a:avLst/>
          </a:prstGeom>
        </p:spPr>
      </p:pic>
      <p:sp>
        <p:nvSpPr>
          <p:cNvPr id="20" name="Text 15"/>
          <p:cNvSpPr/>
          <p:nvPr/>
        </p:nvSpPr>
        <p:spPr>
          <a:xfrm>
            <a:off x="6223864" y="2185416"/>
            <a:ext cx="457200" cy="329184"/>
          </a:xfrm>
          <a:prstGeom prst="rect">
            <a:avLst/>
          </a:prstGeom>
          <a:noFill/>
          <a:ln/>
        </p:spPr>
        <p:txBody>
          <a:bodyPr wrap="square" rtlCol="0" anchor="ctr"/>
          <a:lstStyle/>
          <a:p>
            <a:pPr marL="0" indent="0" algn="ctr">
              <a:buNone/>
            </a:pPr>
            <a:r>
              <a:rPr lang="en-US" sz="1400" b="1" dirty="0">
                <a:solidFill>
                  <a:srgbClr val="C9960B"/>
                </a:solidFill>
                <a:latin typeface="Times New Roman" pitchFamily="34" charset="0"/>
                <a:ea typeface="Times New Roman" pitchFamily="34" charset="-122"/>
                <a:cs typeface="Times New Roman" pitchFamily="34" charset="-120"/>
              </a:rPr>
              <a:t>02</a:t>
            </a:r>
            <a:endParaRPr lang="en-US" sz="1400" dirty="0"/>
          </a:p>
        </p:txBody>
      </p:sp>
      <p:sp>
        <p:nvSpPr>
          <p:cNvPr id="21" name="Text 16"/>
          <p:cNvSpPr/>
          <p:nvPr/>
        </p:nvSpPr>
        <p:spPr>
          <a:xfrm>
            <a:off x="4564228" y="3319272"/>
            <a:ext cx="3063240" cy="457200"/>
          </a:xfrm>
          <a:prstGeom prst="rect">
            <a:avLst/>
          </a:prstGeom>
          <a:noFill/>
          <a:ln/>
        </p:spPr>
        <p:txBody>
          <a:bodyPr wrap="square" rtlCol="0" anchor="ctr"/>
          <a:lstStyle/>
          <a:p>
            <a:pPr marL="0" indent="0" algn="ctr">
              <a:buNone/>
            </a:pPr>
            <a:r>
              <a:rPr lang="en-US" sz="1600" b="1" dirty="0">
                <a:solidFill>
                  <a:srgbClr val="0B1E3D"/>
                </a:solidFill>
                <a:latin typeface="Times New Roman" pitchFamily="34" charset="0"/>
                <a:ea typeface="Times New Roman" pitchFamily="34" charset="-122"/>
                <a:cs typeface="Times New Roman" pitchFamily="34" charset="-120"/>
              </a:rPr>
              <a:t>Bùi Cao Tự</a:t>
            </a:r>
            <a:endParaRPr lang="en-US" sz="1600" dirty="0"/>
          </a:p>
        </p:txBody>
      </p:sp>
      <p:sp>
        <p:nvSpPr>
          <p:cNvPr id="22" name="Text 17"/>
          <p:cNvSpPr/>
          <p:nvPr/>
        </p:nvSpPr>
        <p:spPr>
          <a:xfrm>
            <a:off x="4564228" y="3758184"/>
            <a:ext cx="3063240" cy="274320"/>
          </a:xfrm>
          <a:prstGeom prst="rect">
            <a:avLst/>
          </a:prstGeom>
          <a:noFill/>
          <a:ln/>
        </p:spPr>
        <p:txBody>
          <a:bodyPr wrap="square" rtlCol="0" anchor="ctr"/>
          <a:lstStyle/>
          <a:p>
            <a:pPr marL="0" indent="0" algn="ctr">
              <a:buNone/>
            </a:pPr>
            <a:r>
              <a:rPr lang="en-US" sz="1600" dirty="0">
                <a:solidFill>
                  <a:srgbClr val="5B6472"/>
                </a:solidFill>
                <a:latin typeface="Times New Roman" pitchFamily="34" charset="0"/>
                <a:ea typeface="Times New Roman" pitchFamily="34" charset="-122"/>
                <a:cs typeface="Times New Roman" pitchFamily="34" charset="-120"/>
              </a:rPr>
              <a:t>MSSV: 052205014948</a:t>
            </a:r>
            <a:endParaRPr lang="en-US" sz="1600" dirty="0"/>
          </a:p>
        </p:txBody>
      </p:sp>
      <p:sp>
        <p:nvSpPr>
          <p:cNvPr id="23" name="Shape 18"/>
          <p:cNvSpPr/>
          <p:nvPr/>
        </p:nvSpPr>
        <p:spPr>
          <a:xfrm>
            <a:off x="5021428" y="4178808"/>
            <a:ext cx="2148840" cy="128016"/>
          </a:xfrm>
          <a:prstGeom prst="roundRect">
            <a:avLst>
              <a:gd name="adj" fmla="val 50000"/>
            </a:avLst>
          </a:prstGeom>
          <a:solidFill>
            <a:srgbClr val="E2E6EC"/>
          </a:solidFill>
          <a:ln/>
        </p:spPr>
      </p:sp>
      <p:sp>
        <p:nvSpPr>
          <p:cNvPr id="24" name="Shape 19"/>
          <p:cNvSpPr/>
          <p:nvPr/>
        </p:nvSpPr>
        <p:spPr>
          <a:xfrm>
            <a:off x="5021428" y="4178808"/>
            <a:ext cx="2148840" cy="128016"/>
          </a:xfrm>
          <a:prstGeom prst="roundRect">
            <a:avLst>
              <a:gd name="adj" fmla="val 50000"/>
            </a:avLst>
          </a:prstGeom>
          <a:solidFill>
            <a:srgbClr val="158C94"/>
          </a:solidFill>
          <a:ln/>
        </p:spPr>
      </p:sp>
      <p:sp>
        <p:nvSpPr>
          <p:cNvPr id="25" name="Text 20"/>
          <p:cNvSpPr/>
          <p:nvPr/>
        </p:nvSpPr>
        <p:spPr>
          <a:xfrm>
            <a:off x="4564228" y="4361688"/>
            <a:ext cx="3063240" cy="256032"/>
          </a:xfrm>
          <a:prstGeom prst="rect">
            <a:avLst/>
          </a:prstGeom>
          <a:noFill/>
          <a:ln/>
        </p:spPr>
        <p:txBody>
          <a:bodyPr wrap="square" rtlCol="0" anchor="ctr"/>
          <a:lstStyle/>
          <a:p>
            <a:pPr marL="0" indent="0" algn="ctr">
              <a:buNone/>
            </a:pPr>
            <a:r>
              <a:rPr lang="en-US" sz="1000" dirty="0">
                <a:solidFill>
                  <a:srgbClr val="158C94"/>
                </a:solidFill>
                <a:latin typeface="Times New Roman" pitchFamily="34" charset="0"/>
                <a:ea typeface="Times New Roman" pitchFamily="34" charset="-122"/>
                <a:cs typeface="Times New Roman" pitchFamily="34" charset="-120"/>
              </a:rPr>
              <a:t>Tiến độ hoàn thành: 100%</a:t>
            </a:r>
            <a:endParaRPr lang="en-US" sz="1000" dirty="0"/>
          </a:p>
        </p:txBody>
      </p:sp>
      <p:sp>
        <p:nvSpPr>
          <p:cNvPr id="26" name="Shape 21"/>
          <p:cNvSpPr/>
          <p:nvPr/>
        </p:nvSpPr>
        <p:spPr>
          <a:xfrm>
            <a:off x="8176108" y="1965960"/>
            <a:ext cx="3429000" cy="2788920"/>
          </a:xfrm>
          <a:prstGeom prst="roundRect">
            <a:avLst>
              <a:gd name="adj" fmla="val 4590"/>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7" name="Shape 22"/>
          <p:cNvSpPr/>
          <p:nvPr/>
        </p:nvSpPr>
        <p:spPr>
          <a:xfrm>
            <a:off x="9433408" y="2258568"/>
            <a:ext cx="914400" cy="914400"/>
          </a:xfrm>
          <a:prstGeom prst="ellipse">
            <a:avLst/>
          </a:prstGeom>
          <a:solidFill>
            <a:srgbClr val="158C94"/>
          </a:solidFill>
          <a:ln/>
          <a:effectLst>
            <a:outerShdw blurRad="76200" dist="25400" dir="5400000" algn="bl" rotWithShape="0">
              <a:srgbClr val="1B3760">
                <a:alpha val="18000"/>
              </a:srgbClr>
            </a:outerShdw>
          </a:effectLst>
        </p:spPr>
      </p:sp>
      <p:pic>
        <p:nvPicPr>
          <p:cNvPr id="28" name="Image 3" descr="/home/claude/work/build/users_white.png"/>
          <p:cNvPicPr>
            <a:picLocks noChangeAspect="1"/>
          </p:cNvPicPr>
          <p:nvPr/>
        </p:nvPicPr>
        <p:blipFill>
          <a:blip r:embed="rId3"/>
          <a:stretch>
            <a:fillRect/>
          </a:stretch>
        </p:blipFill>
        <p:spPr>
          <a:xfrm>
            <a:off x="9662008" y="2487168"/>
            <a:ext cx="457200" cy="457200"/>
          </a:xfrm>
          <a:prstGeom prst="rect">
            <a:avLst/>
          </a:prstGeom>
        </p:spPr>
      </p:pic>
      <p:sp>
        <p:nvSpPr>
          <p:cNvPr id="29" name="Text 23"/>
          <p:cNvSpPr/>
          <p:nvPr/>
        </p:nvSpPr>
        <p:spPr>
          <a:xfrm>
            <a:off x="10018624" y="2185416"/>
            <a:ext cx="457200" cy="329184"/>
          </a:xfrm>
          <a:prstGeom prst="rect">
            <a:avLst/>
          </a:prstGeom>
          <a:noFill/>
          <a:ln/>
        </p:spPr>
        <p:txBody>
          <a:bodyPr wrap="square" rtlCol="0" anchor="ctr"/>
          <a:lstStyle/>
          <a:p>
            <a:pPr marL="0" indent="0" algn="ctr">
              <a:buNone/>
            </a:pPr>
            <a:r>
              <a:rPr lang="en-US" sz="1400" b="1" dirty="0">
                <a:solidFill>
                  <a:srgbClr val="C9960B"/>
                </a:solidFill>
                <a:latin typeface="Times New Roman" pitchFamily="34" charset="0"/>
                <a:ea typeface="Times New Roman" pitchFamily="34" charset="-122"/>
                <a:cs typeface="Times New Roman" pitchFamily="34" charset="-120"/>
              </a:rPr>
              <a:t>03</a:t>
            </a:r>
            <a:endParaRPr lang="en-US" sz="1400" dirty="0"/>
          </a:p>
        </p:txBody>
      </p:sp>
      <p:sp>
        <p:nvSpPr>
          <p:cNvPr id="30" name="Text 24"/>
          <p:cNvSpPr/>
          <p:nvPr/>
        </p:nvSpPr>
        <p:spPr>
          <a:xfrm>
            <a:off x="8358988" y="3319272"/>
            <a:ext cx="3063240" cy="457200"/>
          </a:xfrm>
          <a:prstGeom prst="rect">
            <a:avLst/>
          </a:prstGeom>
          <a:noFill/>
          <a:ln/>
        </p:spPr>
        <p:txBody>
          <a:bodyPr wrap="square" rtlCol="0" anchor="ctr"/>
          <a:lstStyle/>
          <a:p>
            <a:pPr marL="0" indent="0" algn="ctr">
              <a:buNone/>
            </a:pPr>
            <a:r>
              <a:rPr lang="en-US" sz="1600" b="1" dirty="0" err="1" smtClean="0">
                <a:solidFill>
                  <a:srgbClr val="0B1E3D"/>
                </a:solidFill>
                <a:latin typeface="Times New Roman" pitchFamily="34" charset="0"/>
                <a:ea typeface="Times New Roman" pitchFamily="34" charset="-122"/>
                <a:cs typeface="Times New Roman" pitchFamily="34" charset="-120"/>
              </a:rPr>
              <a:t>Tạ</a:t>
            </a:r>
            <a:r>
              <a:rPr lang="en-US" sz="1600" b="1" dirty="0" smtClean="0">
                <a:solidFill>
                  <a:srgbClr val="0B1E3D"/>
                </a:solidFill>
                <a:latin typeface="Times New Roman" pitchFamily="34" charset="0"/>
                <a:ea typeface="Times New Roman" pitchFamily="34" charset="-122"/>
                <a:cs typeface="Times New Roman" pitchFamily="34" charset="-120"/>
              </a:rPr>
              <a:t> </a:t>
            </a:r>
            <a:r>
              <a:rPr lang="en-US" sz="1600" b="1" dirty="0" err="1" smtClean="0">
                <a:solidFill>
                  <a:srgbClr val="0B1E3D"/>
                </a:solidFill>
                <a:latin typeface="Times New Roman" pitchFamily="34" charset="0"/>
                <a:ea typeface="Times New Roman" pitchFamily="34" charset="-122"/>
                <a:cs typeface="Times New Roman" pitchFamily="34" charset="-120"/>
              </a:rPr>
              <a:t>Nguyễn</a:t>
            </a:r>
            <a:r>
              <a:rPr lang="en-US" sz="1600" b="1" dirty="0" smtClean="0">
                <a:solidFill>
                  <a:srgbClr val="0B1E3D"/>
                </a:solidFill>
                <a:latin typeface="Times New Roman" pitchFamily="34" charset="0"/>
                <a:ea typeface="Times New Roman" pitchFamily="34" charset="-122"/>
                <a:cs typeface="Times New Roman" pitchFamily="34" charset="-120"/>
              </a:rPr>
              <a:t> </a:t>
            </a:r>
            <a:r>
              <a:rPr lang="en-US" sz="1600" b="1" dirty="0">
                <a:solidFill>
                  <a:srgbClr val="0B1E3D"/>
                </a:solidFill>
                <a:latin typeface="Times New Roman" pitchFamily="34" charset="0"/>
                <a:ea typeface="Times New Roman" pitchFamily="34" charset="-122"/>
                <a:cs typeface="Times New Roman" pitchFamily="34" charset="-120"/>
              </a:rPr>
              <a:t>Quốc Triệu</a:t>
            </a:r>
            <a:endParaRPr lang="en-US" sz="1600" dirty="0"/>
          </a:p>
        </p:txBody>
      </p:sp>
      <p:sp>
        <p:nvSpPr>
          <p:cNvPr id="31" name="Text 25"/>
          <p:cNvSpPr/>
          <p:nvPr/>
        </p:nvSpPr>
        <p:spPr>
          <a:xfrm>
            <a:off x="8358988" y="3758184"/>
            <a:ext cx="3063240" cy="274320"/>
          </a:xfrm>
          <a:prstGeom prst="rect">
            <a:avLst/>
          </a:prstGeom>
          <a:noFill/>
          <a:ln/>
        </p:spPr>
        <p:txBody>
          <a:bodyPr wrap="square" rtlCol="0" anchor="ctr"/>
          <a:lstStyle/>
          <a:p>
            <a:pPr marL="0" indent="0" algn="ctr">
              <a:buNone/>
            </a:pPr>
            <a:r>
              <a:rPr lang="en-US" sz="1600" dirty="0">
                <a:solidFill>
                  <a:srgbClr val="5B6472"/>
                </a:solidFill>
                <a:latin typeface="Times New Roman" pitchFamily="34" charset="0"/>
                <a:ea typeface="Times New Roman" pitchFamily="34" charset="-122"/>
                <a:cs typeface="Times New Roman" pitchFamily="34" charset="-120"/>
              </a:rPr>
              <a:t>MSSV: 051205004949</a:t>
            </a:r>
            <a:endParaRPr lang="en-US" sz="1600" dirty="0"/>
          </a:p>
        </p:txBody>
      </p:sp>
      <p:sp>
        <p:nvSpPr>
          <p:cNvPr id="32" name="Shape 26"/>
          <p:cNvSpPr/>
          <p:nvPr/>
        </p:nvSpPr>
        <p:spPr>
          <a:xfrm>
            <a:off x="8816188" y="4178808"/>
            <a:ext cx="2148840" cy="128016"/>
          </a:xfrm>
          <a:prstGeom prst="roundRect">
            <a:avLst>
              <a:gd name="adj" fmla="val 50000"/>
            </a:avLst>
          </a:prstGeom>
          <a:solidFill>
            <a:srgbClr val="E2E6EC"/>
          </a:solidFill>
          <a:ln/>
        </p:spPr>
      </p:sp>
      <p:sp>
        <p:nvSpPr>
          <p:cNvPr id="33" name="Shape 27"/>
          <p:cNvSpPr/>
          <p:nvPr/>
        </p:nvSpPr>
        <p:spPr>
          <a:xfrm>
            <a:off x="8816188" y="4178808"/>
            <a:ext cx="2148840" cy="128016"/>
          </a:xfrm>
          <a:prstGeom prst="roundRect">
            <a:avLst>
              <a:gd name="adj" fmla="val 50000"/>
            </a:avLst>
          </a:prstGeom>
          <a:solidFill>
            <a:srgbClr val="158C94"/>
          </a:solidFill>
          <a:ln/>
        </p:spPr>
      </p:sp>
      <p:sp>
        <p:nvSpPr>
          <p:cNvPr id="34" name="Text 28"/>
          <p:cNvSpPr/>
          <p:nvPr/>
        </p:nvSpPr>
        <p:spPr>
          <a:xfrm>
            <a:off x="8358988" y="4361688"/>
            <a:ext cx="3063240" cy="256032"/>
          </a:xfrm>
          <a:prstGeom prst="rect">
            <a:avLst/>
          </a:prstGeom>
          <a:noFill/>
          <a:ln/>
        </p:spPr>
        <p:txBody>
          <a:bodyPr wrap="square" rtlCol="0" anchor="ctr"/>
          <a:lstStyle/>
          <a:p>
            <a:pPr marL="0" indent="0" algn="ctr">
              <a:buNone/>
            </a:pPr>
            <a:r>
              <a:rPr lang="en-US" sz="1000" dirty="0">
                <a:solidFill>
                  <a:srgbClr val="158C94"/>
                </a:solidFill>
                <a:latin typeface="Times New Roman" pitchFamily="34" charset="0"/>
                <a:ea typeface="Times New Roman" pitchFamily="34" charset="-122"/>
                <a:cs typeface="Times New Roman" pitchFamily="34" charset="-120"/>
              </a:rPr>
              <a:t>Tiến độ hoàn thành: 100%</a:t>
            </a:r>
            <a:endParaRPr lang="en-US" sz="1000" dirty="0"/>
          </a:p>
        </p:txBody>
      </p:sp>
      <p:sp>
        <p:nvSpPr>
          <p:cNvPr id="35" name="Text 29"/>
          <p:cNvSpPr/>
          <p:nvPr/>
        </p:nvSpPr>
        <p:spPr>
          <a:xfrm>
            <a:off x="0" y="5010912"/>
            <a:ext cx="12191695" cy="320040"/>
          </a:xfrm>
          <a:prstGeom prst="rect">
            <a:avLst/>
          </a:prstGeom>
          <a:noFill/>
          <a:ln/>
        </p:spPr>
        <p:txBody>
          <a:bodyPr wrap="square" rtlCol="0" anchor="ctr"/>
          <a:lstStyle/>
          <a:p>
            <a:pPr marL="0" indent="0" algn="ctr">
              <a:buNone/>
            </a:pPr>
            <a:endParaRPr lang="en-US" sz="1300" dirty="0"/>
          </a:p>
        </p:txBody>
      </p:sp>
      <p:sp>
        <p:nvSpPr>
          <p:cNvPr id="36" name="Shape 30"/>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37" name="Text 31"/>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02</a:t>
            </a:r>
            <a:endParaRPr lang="en-US" sz="1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5" name="Text 2"/>
          <p:cNvSpPr/>
          <p:nvPr/>
        </p:nvSpPr>
        <p:spPr>
          <a:xfrm>
            <a:off x="502920" y="777240"/>
            <a:ext cx="566928" cy="292608"/>
          </a:xfrm>
          <a:prstGeom prst="rect">
            <a:avLst/>
          </a:prstGeom>
          <a:noFill/>
          <a:ln/>
        </p:spPr>
        <p:txBody>
          <a:bodyPr wrap="square" rtlCol="0" anchor="ctr"/>
          <a:lstStyle/>
          <a:p>
            <a:pPr marL="0" indent="0" algn="ctr">
              <a:buNone/>
            </a:pPr>
            <a:endParaRPr lang="en-US" sz="1200" dirty="0"/>
          </a:p>
        </p:txBody>
      </p:sp>
      <p:sp>
        <p:nvSpPr>
          <p:cNvPr id="6" name="Text 3"/>
          <p:cNvSpPr/>
          <p:nvPr/>
        </p:nvSpPr>
        <p:spPr>
          <a:xfrm>
            <a:off x="1179576" y="777240"/>
            <a:ext cx="9144000" cy="292608"/>
          </a:xfrm>
          <a:prstGeom prst="rect">
            <a:avLst/>
          </a:prstGeom>
          <a:noFill/>
          <a:ln/>
        </p:spPr>
        <p:txBody>
          <a:bodyPr wrap="square" rtlCol="0" anchor="ctr"/>
          <a:lstStyle/>
          <a:p>
            <a:pPr marL="0" indent="0">
              <a:buNone/>
            </a:pPr>
            <a:endParaRPr lang="en-US" sz="1250" dirty="0"/>
          </a:p>
        </p:txBody>
      </p:sp>
      <p:sp>
        <p:nvSpPr>
          <p:cNvPr id="7" name="Text 4"/>
          <p:cNvSpPr/>
          <p:nvPr/>
        </p:nvSpPr>
        <p:spPr>
          <a:xfrm>
            <a:off x="502920" y="1143000"/>
            <a:ext cx="10972800" cy="603504"/>
          </a:xfrm>
          <a:prstGeom prst="rect">
            <a:avLst/>
          </a:prstGeom>
          <a:noFill/>
          <a:ln/>
        </p:spPr>
        <p:txBody>
          <a:bodyPr wrap="square" rtlCol="0" anchor="ctr"/>
          <a:lstStyle/>
          <a:p>
            <a:pPr marL="0" indent="0">
              <a:buNone/>
            </a:pPr>
            <a:r>
              <a:rPr lang="en-US" sz="3600" b="1" dirty="0">
                <a:solidFill>
                  <a:srgbClr val="0B1E3D"/>
                </a:solidFill>
                <a:latin typeface="Times New Roman" pitchFamily="34" charset="0"/>
                <a:ea typeface="Times New Roman" pitchFamily="34" charset="-122"/>
                <a:cs typeface="Times New Roman" pitchFamily="34" charset="-120"/>
              </a:rPr>
              <a:t>Nội dung trình bày</a:t>
            </a:r>
            <a:endParaRPr lang="en-US" sz="3600" dirty="0"/>
          </a:p>
        </p:txBody>
      </p:sp>
      <p:sp>
        <p:nvSpPr>
          <p:cNvPr id="8" name="Shape 5"/>
          <p:cNvSpPr/>
          <p:nvPr/>
        </p:nvSpPr>
        <p:spPr>
          <a:xfrm>
            <a:off x="1051560" y="3528506"/>
            <a:ext cx="10104120" cy="0"/>
          </a:xfrm>
          <a:prstGeom prst="line">
            <a:avLst/>
          </a:prstGeom>
          <a:noFill/>
          <a:ln w="25400">
            <a:solidFill>
              <a:srgbClr val="E2E6EC"/>
            </a:solidFill>
            <a:prstDash val="solid"/>
          </a:ln>
        </p:spPr>
      </p:sp>
      <p:sp>
        <p:nvSpPr>
          <p:cNvPr id="9" name="Shape 6"/>
          <p:cNvSpPr/>
          <p:nvPr/>
        </p:nvSpPr>
        <p:spPr>
          <a:xfrm>
            <a:off x="896112" y="3373058"/>
            <a:ext cx="310896" cy="310896"/>
          </a:xfrm>
          <a:prstGeom prst="ellipse">
            <a:avLst/>
          </a:prstGeom>
          <a:solidFill>
            <a:srgbClr val="C9960B"/>
          </a:solidFill>
          <a:ln w="25400">
            <a:solidFill>
              <a:srgbClr val="FFFFFF"/>
            </a:solidFill>
            <a:prstDash val="solid"/>
          </a:ln>
        </p:spPr>
      </p:sp>
      <p:sp>
        <p:nvSpPr>
          <p:cNvPr id="10" name="Text 7"/>
          <p:cNvSpPr/>
          <p:nvPr/>
        </p:nvSpPr>
        <p:spPr>
          <a:xfrm>
            <a:off x="205740" y="2831947"/>
            <a:ext cx="1691640" cy="219456"/>
          </a:xfrm>
          <a:prstGeom prst="rect">
            <a:avLst/>
          </a:prstGeom>
          <a:noFill/>
          <a:ln/>
        </p:spPr>
        <p:txBody>
          <a:bodyPr wrap="square" rtlCol="0" anchor="ctr"/>
          <a:lstStyle/>
          <a:p>
            <a:pPr marL="0" indent="0" algn="ctr">
              <a:buNone/>
            </a:pPr>
            <a:r>
              <a:rPr lang="en-US" sz="1600" b="1" dirty="0">
                <a:solidFill>
                  <a:srgbClr val="C9960B"/>
                </a:solidFill>
                <a:latin typeface="Times New Roman" pitchFamily="34" charset="0"/>
                <a:ea typeface="Times New Roman" pitchFamily="34" charset="-122"/>
                <a:cs typeface="Times New Roman" pitchFamily="34" charset="-120"/>
              </a:rPr>
              <a:t>MĐ</a:t>
            </a:r>
            <a:endParaRPr lang="en-US" sz="1600" dirty="0"/>
          </a:p>
        </p:txBody>
      </p:sp>
      <p:sp>
        <p:nvSpPr>
          <p:cNvPr id="11" name="Text 8"/>
          <p:cNvSpPr/>
          <p:nvPr/>
        </p:nvSpPr>
        <p:spPr>
          <a:xfrm>
            <a:off x="205740" y="2466187"/>
            <a:ext cx="1691640" cy="365760"/>
          </a:xfrm>
          <a:prstGeom prst="rect">
            <a:avLst/>
          </a:prstGeom>
          <a:noFill/>
          <a:ln/>
        </p:spPr>
        <p:txBody>
          <a:bodyPr wrap="square" rtlCol="0" anchor="t"/>
          <a:lstStyle/>
          <a:p>
            <a:pPr marL="0" indent="0" algn="ctr">
              <a:buNone/>
            </a:pPr>
            <a:r>
              <a:rPr lang="en-US" b="1" dirty="0">
                <a:solidFill>
                  <a:srgbClr val="0B1E3D"/>
                </a:solidFill>
                <a:latin typeface="Times New Roman" pitchFamily="34" charset="0"/>
                <a:ea typeface="Times New Roman" pitchFamily="34" charset="-122"/>
                <a:cs typeface="Times New Roman" pitchFamily="34" charset="-120"/>
              </a:rPr>
              <a:t>Mở đầu</a:t>
            </a:r>
            <a:endParaRPr lang="en-US" dirty="0"/>
          </a:p>
        </p:txBody>
      </p:sp>
      <p:sp>
        <p:nvSpPr>
          <p:cNvPr id="12" name="Text 9"/>
          <p:cNvSpPr/>
          <p:nvPr/>
        </p:nvSpPr>
        <p:spPr>
          <a:xfrm>
            <a:off x="205739" y="3069691"/>
            <a:ext cx="1945789" cy="502920"/>
          </a:xfrm>
          <a:prstGeom prst="rect">
            <a:avLst/>
          </a:prstGeom>
          <a:noFill/>
          <a:ln/>
        </p:spPr>
        <p:txBody>
          <a:bodyPr wrap="square" rtlCol="0" anchor="t"/>
          <a:lstStyle/>
          <a:p>
            <a:pPr marL="0" indent="0" algn="ctr">
              <a:lnSpc>
                <a:spcPct val="105000"/>
              </a:lnSpc>
              <a:buNone/>
            </a:pPr>
            <a:r>
              <a:rPr lang="en-US" sz="1100" dirty="0">
                <a:solidFill>
                  <a:srgbClr val="5B6472"/>
                </a:solidFill>
                <a:latin typeface="Times New Roman" pitchFamily="34" charset="0"/>
                <a:ea typeface="Times New Roman" pitchFamily="34" charset="-122"/>
                <a:cs typeface="Times New Roman" pitchFamily="34" charset="-120"/>
              </a:rPr>
              <a:t>Vấn đề &amp; mục tiêu nghiên cứu</a:t>
            </a:r>
            <a:endParaRPr lang="en-US" sz="1100" dirty="0"/>
          </a:p>
        </p:txBody>
      </p:sp>
      <p:sp>
        <p:nvSpPr>
          <p:cNvPr id="13" name="Shape 10"/>
          <p:cNvSpPr/>
          <p:nvPr/>
        </p:nvSpPr>
        <p:spPr>
          <a:xfrm>
            <a:off x="2607564" y="3400490"/>
            <a:ext cx="256032" cy="256032"/>
          </a:xfrm>
          <a:prstGeom prst="ellipse">
            <a:avLst/>
          </a:prstGeom>
          <a:solidFill>
            <a:srgbClr val="5B4B93"/>
          </a:solidFill>
          <a:ln w="25400">
            <a:solidFill>
              <a:srgbClr val="FFFFFF"/>
            </a:solidFill>
            <a:prstDash val="solid"/>
          </a:ln>
        </p:spPr>
      </p:sp>
      <p:sp>
        <p:nvSpPr>
          <p:cNvPr id="14" name="Text 11"/>
          <p:cNvSpPr/>
          <p:nvPr/>
        </p:nvSpPr>
        <p:spPr>
          <a:xfrm>
            <a:off x="1889760" y="3821114"/>
            <a:ext cx="1691640" cy="219456"/>
          </a:xfrm>
          <a:prstGeom prst="rect">
            <a:avLst/>
          </a:prstGeom>
          <a:noFill/>
          <a:ln/>
        </p:spPr>
        <p:txBody>
          <a:bodyPr wrap="square" rtlCol="0" anchor="ctr"/>
          <a:lstStyle/>
          <a:p>
            <a:pPr marL="0" indent="0" algn="ctr">
              <a:buNone/>
            </a:pPr>
            <a:r>
              <a:rPr lang="en-US" sz="1600" b="1" dirty="0">
                <a:solidFill>
                  <a:srgbClr val="5B4B93"/>
                </a:solidFill>
                <a:latin typeface="Times New Roman" pitchFamily="34" charset="0"/>
                <a:ea typeface="Times New Roman" pitchFamily="34" charset="-122"/>
                <a:cs typeface="Times New Roman" pitchFamily="34" charset="-120"/>
              </a:rPr>
              <a:t>01</a:t>
            </a:r>
            <a:endParaRPr lang="en-US" sz="1600" dirty="0"/>
          </a:p>
        </p:txBody>
      </p:sp>
      <p:sp>
        <p:nvSpPr>
          <p:cNvPr id="15" name="Text 12"/>
          <p:cNvSpPr/>
          <p:nvPr/>
        </p:nvSpPr>
        <p:spPr>
          <a:xfrm>
            <a:off x="1889760" y="4040570"/>
            <a:ext cx="1691640" cy="365760"/>
          </a:xfrm>
          <a:prstGeom prst="rect">
            <a:avLst/>
          </a:prstGeom>
          <a:noFill/>
          <a:ln/>
        </p:spPr>
        <p:txBody>
          <a:bodyPr wrap="square" rtlCol="0" anchor="t"/>
          <a:lstStyle/>
          <a:p>
            <a:pPr marL="0" indent="0" algn="ctr">
              <a:buNone/>
            </a:pPr>
            <a:r>
              <a:rPr lang="en-US" b="1" dirty="0">
                <a:solidFill>
                  <a:srgbClr val="0B1E3D"/>
                </a:solidFill>
                <a:latin typeface="Times New Roman" pitchFamily="34" charset="0"/>
                <a:ea typeface="Times New Roman" pitchFamily="34" charset="-122"/>
                <a:cs typeface="Times New Roman" pitchFamily="34" charset="-120"/>
              </a:rPr>
              <a:t>Cơ sở lý thuyết</a:t>
            </a:r>
            <a:endParaRPr lang="en-US" dirty="0"/>
          </a:p>
        </p:txBody>
      </p:sp>
      <p:sp>
        <p:nvSpPr>
          <p:cNvPr id="16" name="Text 13"/>
          <p:cNvSpPr/>
          <p:nvPr/>
        </p:nvSpPr>
        <p:spPr>
          <a:xfrm>
            <a:off x="1889760" y="4388042"/>
            <a:ext cx="1691640" cy="502920"/>
          </a:xfrm>
          <a:prstGeom prst="rect">
            <a:avLst/>
          </a:prstGeom>
          <a:noFill/>
          <a:ln/>
        </p:spPr>
        <p:txBody>
          <a:bodyPr wrap="square" rtlCol="0" anchor="t"/>
          <a:lstStyle/>
          <a:p>
            <a:pPr marL="0" indent="0" algn="ctr">
              <a:lnSpc>
                <a:spcPct val="105000"/>
              </a:lnSpc>
              <a:buNone/>
            </a:pPr>
            <a:r>
              <a:rPr lang="en-US" sz="1100" dirty="0">
                <a:solidFill>
                  <a:srgbClr val="5B6472"/>
                </a:solidFill>
                <a:latin typeface="Times New Roman" pitchFamily="34" charset="0"/>
                <a:ea typeface="Times New Roman" pitchFamily="34" charset="-122"/>
                <a:cs typeface="Times New Roman" pitchFamily="34" charset="-120"/>
              </a:rPr>
              <a:t>CNN · Transfer Learning · Grad-CAM</a:t>
            </a:r>
            <a:endParaRPr lang="en-US" sz="1100" dirty="0"/>
          </a:p>
        </p:txBody>
      </p:sp>
      <p:sp>
        <p:nvSpPr>
          <p:cNvPr id="17" name="Shape 14"/>
          <p:cNvSpPr/>
          <p:nvPr/>
        </p:nvSpPr>
        <p:spPr>
          <a:xfrm>
            <a:off x="4291584" y="3400490"/>
            <a:ext cx="256032" cy="256032"/>
          </a:xfrm>
          <a:prstGeom prst="ellipse">
            <a:avLst/>
          </a:prstGeom>
          <a:solidFill>
            <a:srgbClr val="158C94"/>
          </a:solidFill>
          <a:ln w="25400">
            <a:solidFill>
              <a:srgbClr val="FFFFFF"/>
            </a:solidFill>
            <a:prstDash val="solid"/>
          </a:ln>
        </p:spPr>
      </p:sp>
      <p:sp>
        <p:nvSpPr>
          <p:cNvPr id="18" name="Text 15"/>
          <p:cNvSpPr/>
          <p:nvPr/>
        </p:nvSpPr>
        <p:spPr>
          <a:xfrm>
            <a:off x="3573780" y="2831947"/>
            <a:ext cx="1691640" cy="219456"/>
          </a:xfrm>
          <a:prstGeom prst="rect">
            <a:avLst/>
          </a:prstGeom>
          <a:noFill/>
          <a:ln/>
        </p:spPr>
        <p:txBody>
          <a:bodyPr wrap="square" rtlCol="0" anchor="ctr"/>
          <a:lstStyle/>
          <a:p>
            <a:pPr marL="0" indent="0" algn="ctr">
              <a:buNone/>
            </a:pPr>
            <a:r>
              <a:rPr lang="en-US" sz="1600" b="1" dirty="0">
                <a:solidFill>
                  <a:srgbClr val="158C94"/>
                </a:solidFill>
                <a:latin typeface="Times New Roman" pitchFamily="34" charset="0"/>
                <a:ea typeface="Times New Roman" pitchFamily="34" charset="-122"/>
                <a:cs typeface="Times New Roman" pitchFamily="34" charset="-120"/>
              </a:rPr>
              <a:t>02</a:t>
            </a:r>
            <a:endParaRPr lang="en-US" sz="1600" dirty="0"/>
          </a:p>
        </p:txBody>
      </p:sp>
      <p:sp>
        <p:nvSpPr>
          <p:cNvPr id="19" name="Text 16"/>
          <p:cNvSpPr/>
          <p:nvPr/>
        </p:nvSpPr>
        <p:spPr>
          <a:xfrm>
            <a:off x="3573780" y="2466187"/>
            <a:ext cx="2289138" cy="365760"/>
          </a:xfrm>
          <a:prstGeom prst="rect">
            <a:avLst/>
          </a:prstGeom>
          <a:noFill/>
          <a:ln/>
        </p:spPr>
        <p:txBody>
          <a:bodyPr wrap="square" rtlCol="0" anchor="t"/>
          <a:lstStyle/>
          <a:p>
            <a:pPr marL="0" indent="0" algn="ctr">
              <a:buNone/>
            </a:pPr>
            <a:r>
              <a:rPr lang="en-US" b="1" dirty="0">
                <a:solidFill>
                  <a:srgbClr val="0B1E3D"/>
                </a:solidFill>
                <a:latin typeface="Times New Roman" pitchFamily="34" charset="0"/>
                <a:ea typeface="Times New Roman" pitchFamily="34" charset="-122"/>
                <a:cs typeface="Times New Roman" pitchFamily="34" charset="-120"/>
              </a:rPr>
              <a:t>Phân tích &amp; Thiết kế</a:t>
            </a:r>
            <a:endParaRPr lang="en-US" dirty="0"/>
          </a:p>
        </p:txBody>
      </p:sp>
      <p:sp>
        <p:nvSpPr>
          <p:cNvPr id="20" name="Text 17"/>
          <p:cNvSpPr/>
          <p:nvPr/>
        </p:nvSpPr>
        <p:spPr>
          <a:xfrm>
            <a:off x="3573780" y="3069691"/>
            <a:ext cx="1691640" cy="502920"/>
          </a:xfrm>
          <a:prstGeom prst="rect">
            <a:avLst/>
          </a:prstGeom>
          <a:noFill/>
          <a:ln/>
        </p:spPr>
        <p:txBody>
          <a:bodyPr wrap="square" rtlCol="0" anchor="t"/>
          <a:lstStyle/>
          <a:p>
            <a:pPr marL="0" indent="0" algn="ctr">
              <a:lnSpc>
                <a:spcPct val="105000"/>
              </a:lnSpc>
              <a:buNone/>
            </a:pPr>
            <a:r>
              <a:rPr lang="en-US" sz="1100" dirty="0">
                <a:solidFill>
                  <a:srgbClr val="5B6472"/>
                </a:solidFill>
                <a:latin typeface="Times New Roman" pitchFamily="34" charset="0"/>
                <a:ea typeface="Times New Roman" pitchFamily="34" charset="-122"/>
                <a:cs typeface="Times New Roman" pitchFamily="34" charset="-120"/>
              </a:rPr>
              <a:t>Pipeline hệ thống · Dataset</a:t>
            </a:r>
            <a:endParaRPr lang="en-US" sz="1100" dirty="0"/>
          </a:p>
        </p:txBody>
      </p:sp>
      <p:sp>
        <p:nvSpPr>
          <p:cNvPr id="21" name="Shape 18"/>
          <p:cNvSpPr/>
          <p:nvPr/>
        </p:nvSpPr>
        <p:spPr>
          <a:xfrm>
            <a:off x="5975604" y="3400490"/>
            <a:ext cx="256032" cy="256032"/>
          </a:xfrm>
          <a:prstGeom prst="ellipse">
            <a:avLst/>
          </a:prstGeom>
          <a:solidFill>
            <a:srgbClr val="D8432E"/>
          </a:solidFill>
          <a:ln w="25400">
            <a:solidFill>
              <a:srgbClr val="FFFFFF"/>
            </a:solidFill>
            <a:prstDash val="solid"/>
          </a:ln>
        </p:spPr>
      </p:sp>
      <p:sp>
        <p:nvSpPr>
          <p:cNvPr id="22" name="Text 19"/>
          <p:cNvSpPr/>
          <p:nvPr/>
        </p:nvSpPr>
        <p:spPr>
          <a:xfrm>
            <a:off x="5257800" y="3821114"/>
            <a:ext cx="1691640" cy="219456"/>
          </a:xfrm>
          <a:prstGeom prst="rect">
            <a:avLst/>
          </a:prstGeom>
          <a:noFill/>
          <a:ln/>
        </p:spPr>
        <p:txBody>
          <a:bodyPr wrap="square" rtlCol="0" anchor="ctr"/>
          <a:lstStyle/>
          <a:p>
            <a:pPr marL="0" indent="0" algn="ctr">
              <a:buNone/>
            </a:pPr>
            <a:r>
              <a:rPr lang="en-US" sz="1600" b="1" dirty="0">
                <a:solidFill>
                  <a:srgbClr val="D8432E"/>
                </a:solidFill>
                <a:latin typeface="Times New Roman" pitchFamily="34" charset="0"/>
                <a:ea typeface="Times New Roman" pitchFamily="34" charset="-122"/>
                <a:cs typeface="Times New Roman" pitchFamily="34" charset="-120"/>
              </a:rPr>
              <a:t>03</a:t>
            </a:r>
            <a:endParaRPr lang="en-US" sz="1600" dirty="0"/>
          </a:p>
        </p:txBody>
      </p:sp>
      <p:sp>
        <p:nvSpPr>
          <p:cNvPr id="23" name="Text 20"/>
          <p:cNvSpPr/>
          <p:nvPr/>
        </p:nvSpPr>
        <p:spPr>
          <a:xfrm>
            <a:off x="4884259" y="4040570"/>
            <a:ext cx="2601563" cy="365760"/>
          </a:xfrm>
          <a:prstGeom prst="rect">
            <a:avLst/>
          </a:prstGeom>
          <a:noFill/>
          <a:ln/>
        </p:spPr>
        <p:txBody>
          <a:bodyPr wrap="square" rtlCol="0" anchor="t"/>
          <a:lstStyle/>
          <a:p>
            <a:pPr marL="0" indent="0" algn="ctr">
              <a:buNone/>
            </a:pPr>
            <a:r>
              <a:rPr lang="en-US" b="1" dirty="0">
                <a:solidFill>
                  <a:srgbClr val="0B1E3D"/>
                </a:solidFill>
                <a:latin typeface="Times New Roman" pitchFamily="34" charset="0"/>
                <a:ea typeface="Times New Roman" pitchFamily="34" charset="-122"/>
                <a:cs typeface="Times New Roman" pitchFamily="34" charset="-120"/>
              </a:rPr>
              <a:t>Huấn luyện &amp; Đánh giá</a:t>
            </a:r>
            <a:endParaRPr lang="en-US" dirty="0"/>
          </a:p>
        </p:txBody>
      </p:sp>
      <p:sp>
        <p:nvSpPr>
          <p:cNvPr id="24" name="Text 21"/>
          <p:cNvSpPr/>
          <p:nvPr/>
        </p:nvSpPr>
        <p:spPr>
          <a:xfrm>
            <a:off x="5257800" y="4388042"/>
            <a:ext cx="1691640" cy="502920"/>
          </a:xfrm>
          <a:prstGeom prst="rect">
            <a:avLst/>
          </a:prstGeom>
          <a:noFill/>
          <a:ln/>
        </p:spPr>
        <p:txBody>
          <a:bodyPr wrap="square" rtlCol="0" anchor="t"/>
          <a:lstStyle/>
          <a:p>
            <a:pPr marL="0" indent="0" algn="ctr">
              <a:lnSpc>
                <a:spcPct val="105000"/>
              </a:lnSpc>
              <a:buNone/>
            </a:pPr>
            <a:r>
              <a:rPr lang="en-US" sz="1100" dirty="0">
                <a:solidFill>
                  <a:srgbClr val="5B6472"/>
                </a:solidFill>
                <a:latin typeface="Times New Roman" pitchFamily="34" charset="0"/>
                <a:ea typeface="Times New Roman" pitchFamily="34" charset="-122"/>
                <a:cs typeface="Times New Roman" pitchFamily="34" charset="-120"/>
              </a:rPr>
              <a:t>EfficientNetB0 vs DenseNet121</a:t>
            </a:r>
            <a:endParaRPr lang="en-US" sz="1100" dirty="0"/>
          </a:p>
        </p:txBody>
      </p:sp>
      <p:sp>
        <p:nvSpPr>
          <p:cNvPr id="25" name="Shape 22"/>
          <p:cNvSpPr/>
          <p:nvPr/>
        </p:nvSpPr>
        <p:spPr>
          <a:xfrm>
            <a:off x="7659624" y="3400490"/>
            <a:ext cx="256032" cy="256032"/>
          </a:xfrm>
          <a:prstGeom prst="ellipse">
            <a:avLst/>
          </a:prstGeom>
          <a:solidFill>
            <a:srgbClr val="8992A0"/>
          </a:solidFill>
          <a:ln w="25400">
            <a:solidFill>
              <a:srgbClr val="FFFFFF"/>
            </a:solidFill>
            <a:prstDash val="solid"/>
          </a:ln>
        </p:spPr>
      </p:sp>
      <p:sp>
        <p:nvSpPr>
          <p:cNvPr id="26" name="Text 23"/>
          <p:cNvSpPr/>
          <p:nvPr/>
        </p:nvSpPr>
        <p:spPr>
          <a:xfrm>
            <a:off x="6941820" y="2831947"/>
            <a:ext cx="1691640" cy="219456"/>
          </a:xfrm>
          <a:prstGeom prst="rect">
            <a:avLst/>
          </a:prstGeom>
          <a:noFill/>
          <a:ln/>
        </p:spPr>
        <p:txBody>
          <a:bodyPr wrap="square" rtlCol="0" anchor="ctr"/>
          <a:lstStyle/>
          <a:p>
            <a:pPr marL="0" indent="0" algn="ctr">
              <a:buNone/>
            </a:pPr>
            <a:r>
              <a:rPr lang="en-US" sz="1600" b="1" dirty="0">
                <a:solidFill>
                  <a:srgbClr val="8992A0"/>
                </a:solidFill>
                <a:latin typeface="Times New Roman" pitchFamily="34" charset="0"/>
                <a:ea typeface="Times New Roman" pitchFamily="34" charset="-122"/>
                <a:cs typeface="Times New Roman" pitchFamily="34" charset="-120"/>
              </a:rPr>
              <a:t>04</a:t>
            </a:r>
            <a:endParaRPr lang="en-US" sz="1600" dirty="0"/>
          </a:p>
        </p:txBody>
      </p:sp>
      <p:sp>
        <p:nvSpPr>
          <p:cNvPr id="27" name="Text 24"/>
          <p:cNvSpPr/>
          <p:nvPr/>
        </p:nvSpPr>
        <p:spPr>
          <a:xfrm>
            <a:off x="6941819" y="2466187"/>
            <a:ext cx="2242521" cy="365760"/>
          </a:xfrm>
          <a:prstGeom prst="rect">
            <a:avLst/>
          </a:prstGeom>
          <a:noFill/>
          <a:ln/>
        </p:spPr>
        <p:txBody>
          <a:bodyPr wrap="square" rtlCol="0" anchor="t"/>
          <a:lstStyle/>
          <a:p>
            <a:pPr marL="0" indent="0" algn="ctr">
              <a:buNone/>
            </a:pPr>
            <a:r>
              <a:rPr lang="en-US" b="1" dirty="0">
                <a:solidFill>
                  <a:srgbClr val="0B1E3D"/>
                </a:solidFill>
                <a:latin typeface="Times New Roman" pitchFamily="34" charset="0"/>
                <a:ea typeface="Times New Roman" pitchFamily="34" charset="-122"/>
                <a:cs typeface="Times New Roman" pitchFamily="34" charset="-120"/>
              </a:rPr>
              <a:t>Triển khai hệ thống</a:t>
            </a:r>
            <a:endParaRPr lang="en-US" dirty="0"/>
          </a:p>
        </p:txBody>
      </p:sp>
      <p:sp>
        <p:nvSpPr>
          <p:cNvPr id="28" name="Text 25"/>
          <p:cNvSpPr/>
          <p:nvPr/>
        </p:nvSpPr>
        <p:spPr>
          <a:xfrm>
            <a:off x="6941820" y="3069691"/>
            <a:ext cx="1691640" cy="502920"/>
          </a:xfrm>
          <a:prstGeom prst="rect">
            <a:avLst/>
          </a:prstGeom>
          <a:noFill/>
          <a:ln/>
        </p:spPr>
        <p:txBody>
          <a:bodyPr wrap="square" rtlCol="0" anchor="t"/>
          <a:lstStyle/>
          <a:p>
            <a:pPr marL="0" indent="0" algn="ctr">
              <a:lnSpc>
                <a:spcPct val="105000"/>
              </a:lnSpc>
              <a:buNone/>
            </a:pPr>
            <a:r>
              <a:rPr lang="en-US" sz="1100" dirty="0">
                <a:solidFill>
                  <a:srgbClr val="5B6472"/>
                </a:solidFill>
                <a:latin typeface="Times New Roman" pitchFamily="34" charset="0"/>
                <a:ea typeface="Times New Roman" pitchFamily="34" charset="-122"/>
                <a:cs typeface="Times New Roman" pitchFamily="34" charset="-120"/>
              </a:rPr>
              <a:t>API · Web Demo · Docker</a:t>
            </a:r>
            <a:endParaRPr lang="en-US" sz="1100" dirty="0"/>
          </a:p>
        </p:txBody>
      </p:sp>
      <p:sp>
        <p:nvSpPr>
          <p:cNvPr id="29" name="Shape 26"/>
          <p:cNvSpPr/>
          <p:nvPr/>
        </p:nvSpPr>
        <p:spPr>
          <a:xfrm>
            <a:off x="9343644" y="3400490"/>
            <a:ext cx="256032" cy="256032"/>
          </a:xfrm>
          <a:prstGeom prst="ellipse">
            <a:avLst/>
          </a:prstGeom>
          <a:solidFill>
            <a:srgbClr val="C9960B"/>
          </a:solidFill>
          <a:ln w="25400">
            <a:solidFill>
              <a:srgbClr val="FFFFFF"/>
            </a:solidFill>
            <a:prstDash val="solid"/>
          </a:ln>
        </p:spPr>
      </p:sp>
      <p:sp>
        <p:nvSpPr>
          <p:cNvPr id="30" name="Text 27"/>
          <p:cNvSpPr/>
          <p:nvPr/>
        </p:nvSpPr>
        <p:spPr>
          <a:xfrm>
            <a:off x="8625840" y="3821114"/>
            <a:ext cx="1691640" cy="219456"/>
          </a:xfrm>
          <a:prstGeom prst="rect">
            <a:avLst/>
          </a:prstGeom>
          <a:noFill/>
          <a:ln/>
        </p:spPr>
        <p:txBody>
          <a:bodyPr wrap="square" rtlCol="0" anchor="ctr"/>
          <a:lstStyle/>
          <a:p>
            <a:pPr marL="0" indent="0" algn="ctr">
              <a:buNone/>
            </a:pPr>
            <a:r>
              <a:rPr lang="en-US" sz="1600" b="1" dirty="0">
                <a:solidFill>
                  <a:srgbClr val="C9960B"/>
                </a:solidFill>
                <a:latin typeface="Times New Roman" pitchFamily="34" charset="0"/>
                <a:ea typeface="Times New Roman" pitchFamily="34" charset="-122"/>
                <a:cs typeface="Times New Roman" pitchFamily="34" charset="-120"/>
              </a:rPr>
              <a:t>05</a:t>
            </a:r>
            <a:endParaRPr lang="en-US" sz="1600" dirty="0"/>
          </a:p>
        </p:txBody>
      </p:sp>
      <p:sp>
        <p:nvSpPr>
          <p:cNvPr id="31" name="Text 28"/>
          <p:cNvSpPr/>
          <p:nvPr/>
        </p:nvSpPr>
        <p:spPr>
          <a:xfrm>
            <a:off x="8093189" y="4040570"/>
            <a:ext cx="3217939" cy="365760"/>
          </a:xfrm>
          <a:prstGeom prst="rect">
            <a:avLst/>
          </a:prstGeom>
          <a:noFill/>
          <a:ln/>
        </p:spPr>
        <p:txBody>
          <a:bodyPr wrap="square" rtlCol="0" anchor="t"/>
          <a:lstStyle/>
          <a:p>
            <a:pPr marL="0" indent="0" algn="ctr">
              <a:buNone/>
            </a:pPr>
            <a:r>
              <a:rPr lang="en-US" b="1" dirty="0">
                <a:solidFill>
                  <a:srgbClr val="0B1E3D"/>
                </a:solidFill>
                <a:latin typeface="Times New Roman" pitchFamily="34" charset="0"/>
                <a:ea typeface="Times New Roman" pitchFamily="34" charset="-122"/>
                <a:cs typeface="Times New Roman" pitchFamily="34" charset="-120"/>
              </a:rPr>
              <a:t>Đánh giá &amp; Hướng phát triển</a:t>
            </a:r>
            <a:endParaRPr lang="en-US" dirty="0"/>
          </a:p>
        </p:txBody>
      </p:sp>
      <p:sp>
        <p:nvSpPr>
          <p:cNvPr id="32" name="Text 29"/>
          <p:cNvSpPr/>
          <p:nvPr/>
        </p:nvSpPr>
        <p:spPr>
          <a:xfrm>
            <a:off x="8625840" y="4388042"/>
            <a:ext cx="1691640" cy="502920"/>
          </a:xfrm>
          <a:prstGeom prst="rect">
            <a:avLst/>
          </a:prstGeom>
          <a:noFill/>
          <a:ln/>
        </p:spPr>
        <p:txBody>
          <a:bodyPr wrap="square" rtlCol="0" anchor="t"/>
          <a:lstStyle/>
          <a:p>
            <a:pPr marL="0" indent="0" algn="ctr">
              <a:lnSpc>
                <a:spcPct val="105000"/>
              </a:lnSpc>
              <a:buNone/>
            </a:pPr>
            <a:r>
              <a:rPr lang="en-US" sz="1100" dirty="0">
                <a:solidFill>
                  <a:srgbClr val="5B6472"/>
                </a:solidFill>
                <a:latin typeface="Times New Roman" pitchFamily="34" charset="0"/>
                <a:ea typeface="Times New Roman" pitchFamily="34" charset="-122"/>
                <a:cs typeface="Times New Roman" pitchFamily="34" charset="-120"/>
              </a:rPr>
              <a:t>Hạn chế · Khuyến nghị</a:t>
            </a:r>
            <a:endParaRPr lang="en-US" sz="1100" dirty="0"/>
          </a:p>
        </p:txBody>
      </p:sp>
      <p:sp>
        <p:nvSpPr>
          <p:cNvPr id="33" name="Shape 30"/>
          <p:cNvSpPr/>
          <p:nvPr/>
        </p:nvSpPr>
        <p:spPr>
          <a:xfrm>
            <a:off x="11000232" y="3373058"/>
            <a:ext cx="310896" cy="310896"/>
          </a:xfrm>
          <a:prstGeom prst="ellipse">
            <a:avLst/>
          </a:prstGeom>
          <a:solidFill>
            <a:srgbClr val="0B1E3D"/>
          </a:solidFill>
          <a:ln w="25400">
            <a:solidFill>
              <a:srgbClr val="FFFFFF"/>
            </a:solidFill>
            <a:prstDash val="solid"/>
          </a:ln>
        </p:spPr>
      </p:sp>
      <p:sp>
        <p:nvSpPr>
          <p:cNvPr id="34" name="Text 31"/>
          <p:cNvSpPr/>
          <p:nvPr/>
        </p:nvSpPr>
        <p:spPr>
          <a:xfrm>
            <a:off x="10309860" y="2831947"/>
            <a:ext cx="1691640" cy="219456"/>
          </a:xfrm>
          <a:prstGeom prst="rect">
            <a:avLst/>
          </a:prstGeom>
          <a:noFill/>
          <a:ln/>
        </p:spPr>
        <p:txBody>
          <a:bodyPr wrap="square" rtlCol="0" anchor="ctr"/>
          <a:lstStyle/>
          <a:p>
            <a:pPr marL="0" indent="0" algn="ctr">
              <a:buNone/>
            </a:pPr>
            <a:r>
              <a:rPr lang="en-US" sz="1600" b="1" dirty="0">
                <a:solidFill>
                  <a:srgbClr val="0B1E3D"/>
                </a:solidFill>
                <a:latin typeface="Times New Roman" pitchFamily="34" charset="0"/>
                <a:ea typeface="Times New Roman" pitchFamily="34" charset="-122"/>
                <a:cs typeface="Times New Roman" pitchFamily="34" charset="-120"/>
              </a:rPr>
              <a:t>06</a:t>
            </a:r>
            <a:endParaRPr lang="en-US" sz="1600" dirty="0"/>
          </a:p>
        </p:txBody>
      </p:sp>
      <p:sp>
        <p:nvSpPr>
          <p:cNvPr id="35" name="Text 32"/>
          <p:cNvSpPr/>
          <p:nvPr/>
        </p:nvSpPr>
        <p:spPr>
          <a:xfrm>
            <a:off x="10309860" y="2466187"/>
            <a:ext cx="1691640" cy="365760"/>
          </a:xfrm>
          <a:prstGeom prst="rect">
            <a:avLst/>
          </a:prstGeom>
          <a:noFill/>
          <a:ln/>
        </p:spPr>
        <p:txBody>
          <a:bodyPr wrap="square" rtlCol="0" anchor="t"/>
          <a:lstStyle/>
          <a:p>
            <a:pPr marL="0" indent="0" algn="ctr">
              <a:buNone/>
            </a:pPr>
            <a:r>
              <a:rPr lang="en-US" b="1" dirty="0">
                <a:solidFill>
                  <a:srgbClr val="0B1E3D"/>
                </a:solidFill>
                <a:latin typeface="Times New Roman" pitchFamily="34" charset="0"/>
                <a:ea typeface="Times New Roman" pitchFamily="34" charset="-122"/>
                <a:cs typeface="Times New Roman" pitchFamily="34" charset="-120"/>
              </a:rPr>
              <a:t>Kết luận</a:t>
            </a:r>
            <a:endParaRPr lang="en-US" dirty="0"/>
          </a:p>
        </p:txBody>
      </p:sp>
      <p:sp>
        <p:nvSpPr>
          <p:cNvPr id="36" name="Text 33"/>
          <p:cNvSpPr/>
          <p:nvPr/>
        </p:nvSpPr>
        <p:spPr>
          <a:xfrm>
            <a:off x="10309860" y="3069691"/>
            <a:ext cx="1691640" cy="502920"/>
          </a:xfrm>
          <a:prstGeom prst="rect">
            <a:avLst/>
          </a:prstGeom>
          <a:noFill/>
          <a:ln/>
        </p:spPr>
        <p:txBody>
          <a:bodyPr wrap="square" rtlCol="0" anchor="t"/>
          <a:lstStyle/>
          <a:p>
            <a:pPr marL="0" indent="0" algn="ctr">
              <a:lnSpc>
                <a:spcPct val="105000"/>
              </a:lnSpc>
              <a:buNone/>
            </a:pPr>
            <a:r>
              <a:rPr lang="en-US" sz="1100" dirty="0">
                <a:solidFill>
                  <a:srgbClr val="5B6472"/>
                </a:solidFill>
                <a:latin typeface="Times New Roman" pitchFamily="34" charset="0"/>
                <a:ea typeface="Times New Roman" pitchFamily="34" charset="-122"/>
                <a:cs typeface="Times New Roman" pitchFamily="34" charset="-120"/>
              </a:rPr>
              <a:t>Tổng kết đề tài</a:t>
            </a:r>
            <a:endParaRPr lang="en-US" sz="1100" dirty="0"/>
          </a:p>
        </p:txBody>
      </p:sp>
      <p:sp>
        <p:nvSpPr>
          <p:cNvPr id="37" name="Shape 34"/>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38" name="Text 35"/>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03</a:t>
            </a:r>
            <a:endParaRPr lang="en-US" sz="1000" dirty="0"/>
          </a:p>
        </p:txBody>
      </p:sp>
      <p:grpSp>
        <p:nvGrpSpPr>
          <p:cNvPr id="40" name="Group 39"/>
          <p:cNvGrpSpPr/>
          <p:nvPr/>
        </p:nvGrpSpPr>
        <p:grpSpPr>
          <a:xfrm>
            <a:off x="-1211837" y="4140374"/>
            <a:ext cx="14426534" cy="5889364"/>
            <a:chOff x="-1198390" y="3830411"/>
            <a:chExt cx="14426534" cy="5889364"/>
          </a:xfrm>
        </p:grpSpPr>
        <p:sp>
          <p:nvSpPr>
            <p:cNvPr id="41" name="Oval 40"/>
            <p:cNvSpPr/>
            <p:nvPr/>
          </p:nvSpPr>
          <p:spPr>
            <a:xfrm rot="20333944">
              <a:off x="-430342" y="3830411"/>
              <a:ext cx="2390503" cy="4333768"/>
            </a:xfrm>
            <a:prstGeom prst="ellipse">
              <a:avLst/>
            </a:prstGeom>
            <a:solidFill>
              <a:srgbClr val="F2CC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p:cNvSpPr/>
            <p:nvPr/>
          </p:nvSpPr>
          <p:spPr>
            <a:xfrm rot="20333944">
              <a:off x="-1067246" y="4233550"/>
              <a:ext cx="3411647" cy="5486225"/>
            </a:xfrm>
            <a:prstGeom prst="ellipse">
              <a:avLst/>
            </a:prstGeom>
            <a:solidFill>
              <a:srgbClr val="17A6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p:cNvSpPr/>
            <p:nvPr/>
          </p:nvSpPr>
          <p:spPr>
            <a:xfrm rot="20333944">
              <a:off x="-1198390" y="4905310"/>
              <a:ext cx="3811856" cy="4716624"/>
            </a:xfrm>
            <a:prstGeom prst="ellipse">
              <a:avLst/>
            </a:prstGeom>
            <a:solidFill>
              <a:srgbClr val="1584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p:cNvSpPr/>
            <p:nvPr/>
          </p:nvSpPr>
          <p:spPr>
            <a:xfrm rot="13935528">
              <a:off x="9800175" y="3544992"/>
              <a:ext cx="2390503" cy="4465435"/>
            </a:xfrm>
            <a:prstGeom prst="ellipse">
              <a:avLst/>
            </a:prstGeom>
            <a:solidFill>
              <a:srgbClr val="F2CC2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p:cNvSpPr/>
            <p:nvPr/>
          </p:nvSpPr>
          <p:spPr>
            <a:xfrm rot="12874827">
              <a:off x="9128957" y="4592373"/>
              <a:ext cx="3411647" cy="4416764"/>
            </a:xfrm>
            <a:prstGeom prst="ellipse">
              <a:avLst/>
            </a:prstGeom>
            <a:solidFill>
              <a:srgbClr val="17A6A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p:cNvSpPr/>
            <p:nvPr/>
          </p:nvSpPr>
          <p:spPr>
            <a:xfrm rot="12874827">
              <a:off x="9321497" y="5359700"/>
              <a:ext cx="3811856" cy="3657925"/>
            </a:xfrm>
            <a:prstGeom prst="ellipse">
              <a:avLst/>
            </a:prstGeom>
            <a:solidFill>
              <a:srgbClr val="15848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7" name="Text 4"/>
          <p:cNvSpPr/>
          <p:nvPr/>
        </p:nvSpPr>
        <p:spPr>
          <a:xfrm>
            <a:off x="548640" y="1424160"/>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Vì sao chọn đề tài này?</a:t>
            </a:r>
            <a:endParaRPr lang="en-US" sz="2500" dirty="0"/>
          </a:p>
        </p:txBody>
      </p:sp>
      <p:sp>
        <p:nvSpPr>
          <p:cNvPr id="27" name="Shape 22"/>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28" name="Text 23"/>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04</a:t>
            </a:r>
            <a:endParaRPr lang="en-US" sz="1000" dirty="0"/>
          </a:p>
        </p:txBody>
      </p:sp>
      <p:sp>
        <p:nvSpPr>
          <p:cNvPr id="30" name="Shape 2"/>
          <p:cNvSpPr/>
          <p:nvPr/>
        </p:nvSpPr>
        <p:spPr>
          <a:xfrm>
            <a:off x="548640" y="2072266"/>
            <a:ext cx="5257800" cy="4023360"/>
          </a:xfrm>
          <a:prstGeom prst="roundRect">
            <a:avLst>
              <a:gd name="adj" fmla="val 1818"/>
            </a:avLst>
          </a:prstGeom>
          <a:solidFill>
            <a:srgbClr val="FFFFFF"/>
          </a:solidFill>
          <a:ln w="12700">
            <a:solidFill>
              <a:srgbClr val="D9E2EC"/>
            </a:solidFill>
            <a:prstDash val="solid"/>
          </a:ln>
          <a:effectLst>
            <a:outerShdw blurRad="63500" dist="25400" dir="5400000" algn="bl" rotWithShape="0">
              <a:srgbClr val="B9C4D0">
                <a:alpha val="45000"/>
              </a:srgbClr>
            </a:outerShdw>
          </a:effectLst>
        </p:spPr>
      </p:sp>
      <p:sp>
        <p:nvSpPr>
          <p:cNvPr id="31" name="Text 3"/>
          <p:cNvSpPr/>
          <p:nvPr/>
        </p:nvSpPr>
        <p:spPr>
          <a:xfrm>
            <a:off x="804672" y="2236858"/>
            <a:ext cx="4754880" cy="365760"/>
          </a:xfrm>
          <a:prstGeom prst="rect">
            <a:avLst/>
          </a:prstGeom>
          <a:noFill/>
          <a:ln/>
        </p:spPr>
        <p:txBody>
          <a:bodyPr wrap="square" rtlCol="0" anchor="ctr"/>
          <a:lstStyle/>
          <a:p>
            <a:pPr marL="0" indent="0">
              <a:buNone/>
            </a:pPr>
            <a:r>
              <a:rPr lang="en-US" sz="1600" b="1" dirty="0">
                <a:solidFill>
                  <a:srgbClr val="2E6DA4"/>
                </a:solidFill>
                <a:latin typeface="Cambria" pitchFamily="34" charset="0"/>
                <a:ea typeface="Cambria" pitchFamily="34" charset="-122"/>
                <a:cs typeface="Cambria" pitchFamily="34" charset="-120"/>
              </a:rPr>
              <a:t>Vì sao chọn đề tài?</a:t>
            </a:r>
            <a:endParaRPr lang="en-US" sz="1600" dirty="0"/>
          </a:p>
        </p:txBody>
      </p:sp>
      <p:sp>
        <p:nvSpPr>
          <p:cNvPr id="32" name="Text 4"/>
          <p:cNvSpPr/>
          <p:nvPr/>
        </p:nvSpPr>
        <p:spPr>
          <a:xfrm>
            <a:off x="804672" y="2675770"/>
            <a:ext cx="4754880" cy="3291840"/>
          </a:xfrm>
          <a:prstGeom prst="rect">
            <a:avLst/>
          </a:prstGeom>
          <a:noFill/>
          <a:ln/>
        </p:spPr>
        <p:txBody>
          <a:bodyPr wrap="square" rtlCol="0" anchor="t"/>
          <a:lstStyle/>
          <a:p>
            <a:pPr marL="177800" indent="-177800">
              <a:spcAft>
                <a:spcPts val="800"/>
              </a:spcAft>
              <a:buSzPct val="100000"/>
              <a:buChar char="•"/>
            </a:pPr>
            <a:r>
              <a:rPr lang="en-US" sz="1230" dirty="0">
                <a:solidFill>
                  <a:srgbClr val="1F2933"/>
                </a:solidFill>
                <a:latin typeface="Calibri" pitchFamily="34" charset="0"/>
                <a:ea typeface="Calibri" pitchFamily="34" charset="-122"/>
                <a:cs typeface="Calibri" pitchFamily="34" charset="-120"/>
              </a:rPr>
              <a:t>Chẩn đoán u não dựa vào bác sĩ đọc ảnh MRI: tốn thời gian, đòi hỏi chuyên môn cao, tiềm ẩn sai số chủ quan.</a:t>
            </a:r>
            <a:endParaRPr lang="en-US" sz="1230" dirty="0"/>
          </a:p>
          <a:p>
            <a:pPr marL="177800" indent="-177800">
              <a:spcAft>
                <a:spcPts val="800"/>
              </a:spcAft>
              <a:buSzPct val="100000"/>
              <a:buChar char="•"/>
            </a:pPr>
            <a:r>
              <a:rPr lang="en-US" sz="1230" dirty="0">
                <a:solidFill>
                  <a:srgbClr val="1F2933"/>
                </a:solidFill>
                <a:latin typeface="Calibri" pitchFamily="34" charset="0"/>
                <a:ea typeface="Calibri" pitchFamily="34" charset="-122"/>
                <a:cs typeface="Calibri" pitchFamily="34" charset="-120"/>
              </a:rPr>
              <a:t>Deep Learning (CNN) hỗ trợ sàng lọc, phân loại u não với độ chính xác cao.</a:t>
            </a:r>
            <a:endParaRPr lang="en-US" sz="1230" dirty="0"/>
          </a:p>
          <a:p>
            <a:pPr marL="177800" indent="-177800">
              <a:spcAft>
                <a:spcPts val="800"/>
              </a:spcAft>
              <a:buSzPct val="100000"/>
              <a:buChar char="•"/>
            </a:pPr>
            <a:r>
              <a:rPr lang="en-US" sz="1230" dirty="0">
                <a:solidFill>
                  <a:srgbClr val="1F2933"/>
                </a:solidFill>
                <a:latin typeface="Calibri" pitchFamily="34" charset="0"/>
                <a:ea typeface="Calibri" pitchFamily="34" charset="-122"/>
                <a:cs typeface="Calibri" pitchFamily="34" charset="-120"/>
              </a:rPr>
              <a:t>Rào cản lớn nhất trong y tế: tính “hộp đen” — bác sĩ không biết mô hình “nhìn” vào đâu.</a:t>
            </a:r>
            <a:endParaRPr lang="en-US" sz="1230" dirty="0"/>
          </a:p>
          <a:p>
            <a:pPr marL="177800" indent="-177800">
              <a:spcAft>
                <a:spcPts val="800"/>
              </a:spcAft>
              <a:buSzPct val="100000"/>
              <a:buChar char="•"/>
            </a:pPr>
            <a:r>
              <a:rPr lang="en-US" sz="1230" dirty="0">
                <a:solidFill>
                  <a:srgbClr val="1F2933"/>
                </a:solidFill>
                <a:latin typeface="Calibri" pitchFamily="34" charset="0"/>
                <a:ea typeface="Calibri" pitchFamily="34" charset="-122"/>
                <a:cs typeface="Calibri" pitchFamily="34" charset="-120"/>
              </a:rPr>
              <a:t>Grad-CAM (XAI) trực quan hoá vùng ảnh quyết định → tăng độ tin cậy khi triển khai.</a:t>
            </a:r>
            <a:endParaRPr lang="en-US" sz="1230" dirty="0"/>
          </a:p>
        </p:txBody>
      </p:sp>
      <p:sp>
        <p:nvSpPr>
          <p:cNvPr id="33" name="Shape 5"/>
          <p:cNvSpPr/>
          <p:nvPr/>
        </p:nvSpPr>
        <p:spPr>
          <a:xfrm>
            <a:off x="6056376" y="2072266"/>
            <a:ext cx="5586984" cy="4023360"/>
          </a:xfrm>
          <a:prstGeom prst="roundRect">
            <a:avLst>
              <a:gd name="adj" fmla="val 1818"/>
            </a:avLst>
          </a:prstGeom>
          <a:solidFill>
            <a:srgbClr val="F2F6FA"/>
          </a:solidFill>
          <a:ln w="12700">
            <a:solidFill>
              <a:srgbClr val="D9E2EC"/>
            </a:solidFill>
            <a:prstDash val="solid"/>
          </a:ln>
          <a:effectLst>
            <a:outerShdw blurRad="63500" dist="25400" dir="5400000" algn="bl" rotWithShape="0">
              <a:srgbClr val="B9C4D0">
                <a:alpha val="45000"/>
              </a:srgbClr>
            </a:outerShdw>
          </a:effectLst>
        </p:spPr>
      </p:sp>
      <p:sp>
        <p:nvSpPr>
          <p:cNvPr id="34" name="Text 6"/>
          <p:cNvSpPr/>
          <p:nvPr/>
        </p:nvSpPr>
        <p:spPr>
          <a:xfrm>
            <a:off x="6312408" y="2236858"/>
            <a:ext cx="5029200" cy="365760"/>
          </a:xfrm>
          <a:prstGeom prst="rect">
            <a:avLst/>
          </a:prstGeom>
          <a:noFill/>
          <a:ln/>
        </p:spPr>
        <p:txBody>
          <a:bodyPr wrap="square" rtlCol="0" anchor="ctr"/>
          <a:lstStyle/>
          <a:p>
            <a:pPr marL="0" indent="0">
              <a:buNone/>
            </a:pPr>
            <a:r>
              <a:rPr lang="en-US" sz="1600" b="1" dirty="0">
                <a:solidFill>
                  <a:srgbClr val="1E3A5F"/>
                </a:solidFill>
                <a:latin typeface="Cambria" pitchFamily="34" charset="0"/>
                <a:ea typeface="Cambria" pitchFamily="34" charset="-122"/>
                <a:cs typeface="Cambria" pitchFamily="34" charset="-120"/>
              </a:rPr>
              <a:t>Mục tiêu cụ thể</a:t>
            </a:r>
            <a:endParaRPr lang="en-US" sz="1600" dirty="0"/>
          </a:p>
        </p:txBody>
      </p:sp>
      <p:sp>
        <p:nvSpPr>
          <p:cNvPr id="35" name="Shape 7"/>
          <p:cNvSpPr/>
          <p:nvPr/>
        </p:nvSpPr>
        <p:spPr>
          <a:xfrm>
            <a:off x="6312408" y="2712346"/>
            <a:ext cx="365760" cy="365760"/>
          </a:xfrm>
          <a:prstGeom prst="ellipse">
            <a:avLst/>
          </a:prstGeom>
          <a:solidFill>
            <a:srgbClr val="0E9AA7"/>
          </a:solidFill>
          <a:ln/>
        </p:spPr>
      </p:sp>
      <p:sp>
        <p:nvSpPr>
          <p:cNvPr id="36" name="Text 8"/>
          <p:cNvSpPr/>
          <p:nvPr/>
        </p:nvSpPr>
        <p:spPr>
          <a:xfrm>
            <a:off x="6312408" y="2712346"/>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7" name="Text 9"/>
          <p:cNvSpPr/>
          <p:nvPr/>
        </p:nvSpPr>
        <p:spPr>
          <a:xfrm>
            <a:off x="6815328" y="2694058"/>
            <a:ext cx="4617720" cy="603504"/>
          </a:xfrm>
          <a:prstGeom prst="rect">
            <a:avLst/>
          </a:prstGeom>
          <a:noFill/>
          <a:ln/>
        </p:spPr>
        <p:txBody>
          <a:bodyPr wrap="square" rtlCol="0" anchor="ctr"/>
          <a:lstStyle/>
          <a:p>
            <a:pPr marL="0" indent="0">
              <a:buNone/>
            </a:pPr>
            <a:r>
              <a:rPr lang="en-US" sz="1230" dirty="0">
                <a:solidFill>
                  <a:srgbClr val="1F2933"/>
                </a:solidFill>
                <a:latin typeface="Calibri" pitchFamily="34" charset="0"/>
                <a:ea typeface="Calibri" pitchFamily="34" charset="-122"/>
                <a:cs typeface="Calibri" pitchFamily="34" charset="-120"/>
              </a:rPr>
              <a:t>Xây dựng pipeline xử lý &amp; phân tích khám phá dữ liệu (EDA) cho ảnh MRI não.</a:t>
            </a:r>
            <a:endParaRPr lang="en-US" sz="1230" dirty="0"/>
          </a:p>
        </p:txBody>
      </p:sp>
      <p:sp>
        <p:nvSpPr>
          <p:cNvPr id="38" name="Shape 10"/>
          <p:cNvSpPr/>
          <p:nvPr/>
        </p:nvSpPr>
        <p:spPr>
          <a:xfrm>
            <a:off x="6312408" y="3370714"/>
            <a:ext cx="365760" cy="365760"/>
          </a:xfrm>
          <a:prstGeom prst="ellipse">
            <a:avLst/>
          </a:prstGeom>
          <a:solidFill>
            <a:srgbClr val="0E9AA7"/>
          </a:solidFill>
          <a:ln/>
        </p:spPr>
      </p:sp>
      <p:sp>
        <p:nvSpPr>
          <p:cNvPr id="39" name="Text 11"/>
          <p:cNvSpPr/>
          <p:nvPr/>
        </p:nvSpPr>
        <p:spPr>
          <a:xfrm>
            <a:off x="6312408" y="3370714"/>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0" name="Text 12"/>
          <p:cNvSpPr/>
          <p:nvPr/>
        </p:nvSpPr>
        <p:spPr>
          <a:xfrm>
            <a:off x="6815328" y="3352426"/>
            <a:ext cx="4617720" cy="603504"/>
          </a:xfrm>
          <a:prstGeom prst="rect">
            <a:avLst/>
          </a:prstGeom>
          <a:noFill/>
          <a:ln/>
        </p:spPr>
        <p:txBody>
          <a:bodyPr wrap="square" rtlCol="0" anchor="ctr"/>
          <a:lstStyle/>
          <a:p>
            <a:pPr marL="0" indent="0">
              <a:buNone/>
            </a:pPr>
            <a:r>
              <a:rPr lang="en-US" sz="1230" dirty="0">
                <a:solidFill>
                  <a:srgbClr val="1F2933"/>
                </a:solidFill>
                <a:latin typeface="Calibri" pitchFamily="34" charset="0"/>
                <a:ea typeface="Calibri" pitchFamily="34" charset="-122"/>
                <a:cs typeface="Calibri" pitchFamily="34" charset="-120"/>
              </a:rPr>
              <a:t>Huấn luyện, so sánh 2 kiến trúc CNN theo chiến lược 2-phase transfer learning.</a:t>
            </a:r>
            <a:endParaRPr lang="en-US" sz="1230" dirty="0"/>
          </a:p>
        </p:txBody>
      </p:sp>
      <p:sp>
        <p:nvSpPr>
          <p:cNvPr id="41" name="Shape 13"/>
          <p:cNvSpPr/>
          <p:nvPr/>
        </p:nvSpPr>
        <p:spPr>
          <a:xfrm>
            <a:off x="6312408" y="4029082"/>
            <a:ext cx="365760" cy="365760"/>
          </a:xfrm>
          <a:prstGeom prst="ellipse">
            <a:avLst/>
          </a:prstGeom>
          <a:solidFill>
            <a:srgbClr val="0E9AA7"/>
          </a:solidFill>
          <a:ln/>
        </p:spPr>
      </p:sp>
      <p:sp>
        <p:nvSpPr>
          <p:cNvPr id="42" name="Text 14"/>
          <p:cNvSpPr/>
          <p:nvPr/>
        </p:nvSpPr>
        <p:spPr>
          <a:xfrm>
            <a:off x="6312408" y="4029082"/>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3" name="Text 15"/>
          <p:cNvSpPr/>
          <p:nvPr/>
        </p:nvSpPr>
        <p:spPr>
          <a:xfrm>
            <a:off x="6815328" y="4010794"/>
            <a:ext cx="4617720" cy="603504"/>
          </a:xfrm>
          <a:prstGeom prst="rect">
            <a:avLst/>
          </a:prstGeom>
          <a:noFill/>
          <a:ln/>
        </p:spPr>
        <p:txBody>
          <a:bodyPr wrap="square" rtlCol="0" anchor="ctr"/>
          <a:lstStyle/>
          <a:p>
            <a:pPr marL="0" indent="0">
              <a:buNone/>
            </a:pPr>
            <a:r>
              <a:rPr lang="en-US" sz="1230" dirty="0">
                <a:solidFill>
                  <a:srgbClr val="1F2933"/>
                </a:solidFill>
                <a:latin typeface="Calibri" pitchFamily="34" charset="0"/>
                <a:ea typeface="Calibri" pitchFamily="34" charset="-122"/>
                <a:cs typeface="Calibri" pitchFamily="34" charset="-120"/>
              </a:rPr>
              <a:t>Đánh giá bằng Accuracy, Precision, Recall, F1, AUC-ROC trên tập test độc lập.</a:t>
            </a:r>
            <a:endParaRPr lang="en-US" sz="1230" dirty="0"/>
          </a:p>
        </p:txBody>
      </p:sp>
      <p:sp>
        <p:nvSpPr>
          <p:cNvPr id="44" name="Shape 16"/>
          <p:cNvSpPr/>
          <p:nvPr/>
        </p:nvSpPr>
        <p:spPr>
          <a:xfrm>
            <a:off x="6312408" y="4687450"/>
            <a:ext cx="365760" cy="365760"/>
          </a:xfrm>
          <a:prstGeom prst="ellipse">
            <a:avLst/>
          </a:prstGeom>
          <a:solidFill>
            <a:srgbClr val="0E9AA7"/>
          </a:solidFill>
          <a:ln/>
        </p:spPr>
      </p:sp>
      <p:sp>
        <p:nvSpPr>
          <p:cNvPr id="45" name="Text 17"/>
          <p:cNvSpPr/>
          <p:nvPr/>
        </p:nvSpPr>
        <p:spPr>
          <a:xfrm>
            <a:off x="6312408" y="4687450"/>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6" name="Text 18"/>
          <p:cNvSpPr/>
          <p:nvPr/>
        </p:nvSpPr>
        <p:spPr>
          <a:xfrm>
            <a:off x="6815328" y="4669162"/>
            <a:ext cx="4617720" cy="603504"/>
          </a:xfrm>
          <a:prstGeom prst="rect">
            <a:avLst/>
          </a:prstGeom>
          <a:noFill/>
          <a:ln/>
        </p:spPr>
        <p:txBody>
          <a:bodyPr wrap="square" rtlCol="0" anchor="ctr"/>
          <a:lstStyle/>
          <a:p>
            <a:pPr marL="0" indent="0">
              <a:buNone/>
            </a:pPr>
            <a:r>
              <a:rPr lang="en-US" sz="1230" dirty="0">
                <a:solidFill>
                  <a:srgbClr val="1F2933"/>
                </a:solidFill>
                <a:latin typeface="Calibri" pitchFamily="34" charset="0"/>
                <a:ea typeface="Calibri" pitchFamily="34" charset="-122"/>
                <a:cs typeface="Calibri" pitchFamily="34" charset="-120"/>
              </a:rPr>
              <a:t>Tích hợp Grad-CAM để tăng tính minh bạch (Explainability).</a:t>
            </a:r>
            <a:endParaRPr lang="en-US" sz="1230" dirty="0"/>
          </a:p>
        </p:txBody>
      </p:sp>
      <p:sp>
        <p:nvSpPr>
          <p:cNvPr id="47" name="Shape 19"/>
          <p:cNvSpPr/>
          <p:nvPr/>
        </p:nvSpPr>
        <p:spPr>
          <a:xfrm>
            <a:off x="6312408" y="5345818"/>
            <a:ext cx="365760" cy="365760"/>
          </a:xfrm>
          <a:prstGeom prst="ellipse">
            <a:avLst/>
          </a:prstGeom>
          <a:solidFill>
            <a:srgbClr val="0E9AA7"/>
          </a:solidFill>
          <a:ln/>
        </p:spPr>
      </p:sp>
      <p:sp>
        <p:nvSpPr>
          <p:cNvPr id="48" name="Text 20"/>
          <p:cNvSpPr/>
          <p:nvPr/>
        </p:nvSpPr>
        <p:spPr>
          <a:xfrm>
            <a:off x="6312408" y="5345818"/>
            <a:ext cx="365760" cy="36576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9" name="Text 21"/>
          <p:cNvSpPr/>
          <p:nvPr/>
        </p:nvSpPr>
        <p:spPr>
          <a:xfrm>
            <a:off x="6815328" y="5327530"/>
            <a:ext cx="4617720" cy="603504"/>
          </a:xfrm>
          <a:prstGeom prst="rect">
            <a:avLst/>
          </a:prstGeom>
          <a:noFill/>
          <a:ln/>
        </p:spPr>
        <p:txBody>
          <a:bodyPr wrap="square" rtlCol="0" anchor="ctr"/>
          <a:lstStyle/>
          <a:p>
            <a:pPr marL="0" indent="0">
              <a:buNone/>
            </a:pPr>
            <a:r>
              <a:rPr lang="en-US" sz="1230" dirty="0">
                <a:solidFill>
                  <a:srgbClr val="1F2933"/>
                </a:solidFill>
                <a:latin typeface="Calibri" pitchFamily="34" charset="0"/>
                <a:ea typeface="Calibri" pitchFamily="34" charset="-122"/>
                <a:cs typeface="Calibri" pitchFamily="34" charset="-120"/>
              </a:rPr>
              <a:t>Triển khai Backend (FastAPI) + Frontend (Next.js) thành sản phẩm demo.</a:t>
            </a:r>
            <a:endParaRPr lang="en-US" sz="1230" dirty="0"/>
          </a:p>
        </p:txBody>
      </p:sp>
      <p:sp>
        <p:nvSpPr>
          <p:cNvPr id="2" name="Shape 1">
            <a:extLst>
              <a:ext uri="{FF2B5EF4-FFF2-40B4-BE49-F238E27FC236}">
                <a16:creationId xmlns:a16="http://schemas.microsoft.com/office/drawing/2014/main" id="{F8F747A0-178B-75C1-6B42-AC397F0EC3DC}"/>
              </a:ext>
            </a:extLst>
          </p:cNvPr>
          <p:cNvSpPr/>
          <p:nvPr/>
        </p:nvSpPr>
        <p:spPr>
          <a:xfrm>
            <a:off x="502920" y="998462"/>
            <a:ext cx="566928" cy="292608"/>
          </a:xfrm>
          <a:prstGeom prst="roundRect">
            <a:avLst>
              <a:gd name="adj" fmla="val 50000"/>
            </a:avLst>
          </a:prstGeom>
          <a:solidFill>
            <a:srgbClr val="C9960B"/>
          </a:solidFill>
          <a:ln/>
        </p:spPr>
        <p:txBody>
          <a:bodyPr/>
          <a:lstStyle/>
          <a:p>
            <a:endParaRPr lang="en-VN"/>
          </a:p>
        </p:txBody>
      </p:sp>
      <p:sp>
        <p:nvSpPr>
          <p:cNvPr id="8" name="Text 2">
            <a:extLst>
              <a:ext uri="{FF2B5EF4-FFF2-40B4-BE49-F238E27FC236}">
                <a16:creationId xmlns:a16="http://schemas.microsoft.com/office/drawing/2014/main" id="{773F499E-E5B1-FDAF-DF45-AEE20BE78C93}"/>
              </a:ext>
            </a:extLst>
          </p:cNvPr>
          <p:cNvSpPr/>
          <p:nvPr/>
        </p:nvSpPr>
        <p:spPr>
          <a:xfrm>
            <a:off x="502920" y="998462"/>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cs typeface="Times New Roman" pitchFamily="34" charset="-120"/>
              </a:rPr>
              <a:t>MĐ</a:t>
            </a:r>
            <a:endParaRPr lang="en-US" sz="1200" dirty="0"/>
          </a:p>
        </p:txBody>
      </p:sp>
      <p:sp>
        <p:nvSpPr>
          <p:cNvPr id="9" name="Text 3">
            <a:extLst>
              <a:ext uri="{FF2B5EF4-FFF2-40B4-BE49-F238E27FC236}">
                <a16:creationId xmlns:a16="http://schemas.microsoft.com/office/drawing/2014/main" id="{B2EF02E2-35BE-55CB-CDCA-52F4D651FC48}"/>
              </a:ext>
            </a:extLst>
          </p:cNvPr>
          <p:cNvSpPr/>
          <p:nvPr/>
        </p:nvSpPr>
        <p:spPr>
          <a:xfrm>
            <a:off x="1179576" y="998462"/>
            <a:ext cx="9601200" cy="292608"/>
          </a:xfrm>
          <a:prstGeom prst="rect">
            <a:avLst/>
          </a:prstGeom>
          <a:noFill/>
          <a:ln/>
        </p:spPr>
        <p:txBody>
          <a:bodyPr wrap="square" rtlCol="0" anchor="ctr"/>
          <a:lstStyle/>
          <a:p>
            <a:pPr marL="0" indent="0">
              <a:buNone/>
            </a:pPr>
            <a:r>
              <a:rPr lang="en-US" sz="1250" b="1" kern="0" spc="120" dirty="0">
                <a:solidFill>
                  <a:srgbClr val="C9960B"/>
                </a:solidFill>
                <a:latin typeface="Times New Roman" pitchFamily="34" charset="0"/>
                <a:ea typeface="Times New Roman" pitchFamily="34" charset="-122"/>
                <a:cs typeface="Times New Roman" pitchFamily="34" charset="-120"/>
              </a:rPr>
              <a:t>Mở đầu</a:t>
            </a:r>
            <a:endParaRPr lang="en-US" sz="125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5" name="Text 2"/>
          <p:cNvSpPr/>
          <p:nvPr/>
        </p:nvSpPr>
        <p:spPr>
          <a:xfrm>
            <a:off x="502920" y="894804"/>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MĐ</a:t>
            </a:r>
            <a:endParaRPr lang="en-US" sz="1200" dirty="0"/>
          </a:p>
        </p:txBody>
      </p:sp>
      <p:sp>
        <p:nvSpPr>
          <p:cNvPr id="7" name="Text 4"/>
          <p:cNvSpPr/>
          <p:nvPr/>
        </p:nvSpPr>
        <p:spPr>
          <a:xfrm>
            <a:off x="502920" y="1360736"/>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Đối tượng nghiên cứu — 4 lớp phân loại</a:t>
            </a:r>
            <a:endParaRPr lang="en-US" sz="2500" dirty="0"/>
          </a:p>
        </p:txBody>
      </p:sp>
      <p:sp>
        <p:nvSpPr>
          <p:cNvPr id="34" name="Shape 26"/>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35" name="Text 27"/>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05</a:t>
            </a:r>
            <a:endParaRPr lang="en-US" sz="1000" dirty="0"/>
          </a:p>
        </p:txBody>
      </p:sp>
      <p:sp>
        <p:nvSpPr>
          <p:cNvPr id="37" name="Text 2"/>
          <p:cNvSpPr/>
          <p:nvPr/>
        </p:nvSpPr>
        <p:spPr>
          <a:xfrm>
            <a:off x="502920" y="1810362"/>
            <a:ext cx="6648994" cy="365760"/>
          </a:xfrm>
          <a:prstGeom prst="rect">
            <a:avLst/>
          </a:prstGeom>
          <a:noFill/>
          <a:ln/>
        </p:spPr>
        <p:txBody>
          <a:bodyPr wrap="square" rtlCol="0" anchor="ctr"/>
          <a:lstStyle/>
          <a:p>
            <a:pPr marL="0" indent="0">
              <a:buNone/>
            </a:pPr>
            <a:r>
              <a:rPr lang="en-US" sz="1250" i="1" dirty="0">
                <a:solidFill>
                  <a:srgbClr val="5A6B7B"/>
                </a:solidFill>
                <a:latin typeface="Calibri" pitchFamily="34" charset="0"/>
                <a:ea typeface="Calibri" pitchFamily="34" charset="-122"/>
                <a:cs typeface="Calibri" pitchFamily="34" charset="-120"/>
              </a:rPr>
              <a:t>Cho một ảnh MRI não → dự đoán 1 trong 4 lớp, sinh bản đồ Grad-CAM và hiển thị kết quả trên web.</a:t>
            </a:r>
            <a:endParaRPr lang="en-US" sz="1250" dirty="0"/>
          </a:p>
        </p:txBody>
      </p:sp>
      <p:sp>
        <p:nvSpPr>
          <p:cNvPr id="38" name="Shape 3"/>
          <p:cNvSpPr/>
          <p:nvPr/>
        </p:nvSpPr>
        <p:spPr>
          <a:xfrm>
            <a:off x="548640" y="2244702"/>
            <a:ext cx="5349240" cy="786384"/>
          </a:xfrm>
          <a:prstGeom prst="roundRect">
            <a:avLst>
              <a:gd name="adj" fmla="val 9302"/>
            </a:avLst>
          </a:prstGeom>
          <a:solidFill>
            <a:srgbClr val="FFFFFF"/>
          </a:solidFill>
          <a:ln w="12700">
            <a:solidFill>
              <a:srgbClr val="D9E2EC"/>
            </a:solidFill>
            <a:prstDash val="solid"/>
          </a:ln>
          <a:effectLst>
            <a:outerShdw blurRad="63500" dist="25400" dir="5400000" algn="bl" rotWithShape="0">
              <a:srgbClr val="B9C4D0">
                <a:alpha val="45000"/>
              </a:srgbClr>
            </a:outerShdw>
          </a:effectLst>
        </p:spPr>
      </p:sp>
      <p:sp>
        <p:nvSpPr>
          <p:cNvPr id="39" name="Shape 4"/>
          <p:cNvSpPr/>
          <p:nvPr/>
        </p:nvSpPr>
        <p:spPr>
          <a:xfrm>
            <a:off x="713232" y="2409294"/>
            <a:ext cx="457200" cy="457200"/>
          </a:xfrm>
          <a:prstGeom prst="roundRect">
            <a:avLst>
              <a:gd name="adj" fmla="val 20000"/>
            </a:avLst>
          </a:prstGeom>
          <a:solidFill>
            <a:srgbClr val="C0392B"/>
          </a:solidFill>
          <a:ln/>
        </p:spPr>
      </p:sp>
      <p:sp>
        <p:nvSpPr>
          <p:cNvPr id="40" name="Text 5"/>
          <p:cNvSpPr/>
          <p:nvPr/>
        </p:nvSpPr>
        <p:spPr>
          <a:xfrm>
            <a:off x="1325880" y="2372718"/>
            <a:ext cx="4389120" cy="310896"/>
          </a:xfrm>
          <a:prstGeom prst="rect">
            <a:avLst/>
          </a:prstGeom>
          <a:noFill/>
          <a:ln/>
        </p:spPr>
        <p:txBody>
          <a:bodyPr wrap="square" rtlCol="0" anchor="ctr"/>
          <a:lstStyle/>
          <a:p>
            <a:pPr marL="0" indent="0">
              <a:buNone/>
            </a:pPr>
            <a:r>
              <a:rPr lang="en-US" sz="1500" b="1" dirty="0">
                <a:solidFill>
                  <a:srgbClr val="1E3A5F"/>
                </a:solidFill>
                <a:latin typeface="Cambria" pitchFamily="34" charset="0"/>
                <a:ea typeface="Cambria" pitchFamily="34" charset="-122"/>
                <a:cs typeface="Cambria" pitchFamily="34" charset="-120"/>
              </a:rPr>
              <a:t>Glioma</a:t>
            </a:r>
            <a:endParaRPr lang="en-US" sz="1500" dirty="0"/>
          </a:p>
        </p:txBody>
      </p:sp>
      <p:sp>
        <p:nvSpPr>
          <p:cNvPr id="41" name="Text 6"/>
          <p:cNvSpPr/>
          <p:nvPr/>
        </p:nvSpPr>
        <p:spPr>
          <a:xfrm>
            <a:off x="1325880" y="2674470"/>
            <a:ext cx="4434840" cy="274320"/>
          </a:xfrm>
          <a:prstGeom prst="rect">
            <a:avLst/>
          </a:prstGeom>
          <a:noFill/>
          <a:ln/>
        </p:spPr>
        <p:txBody>
          <a:bodyPr wrap="square" rtlCol="0" anchor="ctr"/>
          <a:lstStyle/>
          <a:p>
            <a:pPr marL="0" indent="0">
              <a:buNone/>
            </a:pPr>
            <a:r>
              <a:rPr lang="en-US" sz="1130" dirty="0">
                <a:solidFill>
                  <a:srgbClr val="5A6B7B"/>
                </a:solidFill>
                <a:latin typeface="Calibri" pitchFamily="34" charset="0"/>
                <a:ea typeface="Calibri" pitchFamily="34" charset="-122"/>
                <a:cs typeface="Calibri" pitchFamily="34" charset="-120"/>
              </a:rPr>
              <a:t>U thần kinh đệm — có thể ác tính cao</a:t>
            </a:r>
            <a:endParaRPr lang="en-US" sz="1130" dirty="0"/>
          </a:p>
        </p:txBody>
      </p:sp>
      <p:sp>
        <p:nvSpPr>
          <p:cNvPr id="42" name="Shape 7"/>
          <p:cNvSpPr/>
          <p:nvPr/>
        </p:nvSpPr>
        <p:spPr>
          <a:xfrm>
            <a:off x="548640" y="3140814"/>
            <a:ext cx="5349240" cy="786384"/>
          </a:xfrm>
          <a:prstGeom prst="roundRect">
            <a:avLst>
              <a:gd name="adj" fmla="val 9302"/>
            </a:avLst>
          </a:prstGeom>
          <a:solidFill>
            <a:srgbClr val="FFFFFF"/>
          </a:solidFill>
          <a:ln w="12700">
            <a:solidFill>
              <a:srgbClr val="D9E2EC"/>
            </a:solidFill>
            <a:prstDash val="solid"/>
          </a:ln>
          <a:effectLst>
            <a:outerShdw blurRad="63500" dist="25400" dir="5400000" algn="bl" rotWithShape="0">
              <a:srgbClr val="B9C4D0">
                <a:alpha val="45000"/>
              </a:srgbClr>
            </a:outerShdw>
          </a:effectLst>
        </p:spPr>
      </p:sp>
      <p:sp>
        <p:nvSpPr>
          <p:cNvPr id="43" name="Shape 8"/>
          <p:cNvSpPr/>
          <p:nvPr/>
        </p:nvSpPr>
        <p:spPr>
          <a:xfrm>
            <a:off x="713232" y="3305406"/>
            <a:ext cx="457200" cy="457200"/>
          </a:xfrm>
          <a:prstGeom prst="roundRect">
            <a:avLst>
              <a:gd name="adj" fmla="val 20000"/>
            </a:avLst>
          </a:prstGeom>
          <a:solidFill>
            <a:srgbClr val="E08E45"/>
          </a:solidFill>
          <a:ln/>
        </p:spPr>
      </p:sp>
      <p:sp>
        <p:nvSpPr>
          <p:cNvPr id="44" name="Text 9"/>
          <p:cNvSpPr/>
          <p:nvPr/>
        </p:nvSpPr>
        <p:spPr>
          <a:xfrm>
            <a:off x="1325880" y="3268830"/>
            <a:ext cx="4389120" cy="310896"/>
          </a:xfrm>
          <a:prstGeom prst="rect">
            <a:avLst/>
          </a:prstGeom>
          <a:noFill/>
          <a:ln/>
        </p:spPr>
        <p:txBody>
          <a:bodyPr wrap="square" rtlCol="0" anchor="ctr"/>
          <a:lstStyle/>
          <a:p>
            <a:pPr marL="0" indent="0">
              <a:buNone/>
            </a:pPr>
            <a:r>
              <a:rPr lang="en-US" sz="1500" b="1" dirty="0">
                <a:solidFill>
                  <a:srgbClr val="1E3A5F"/>
                </a:solidFill>
                <a:latin typeface="Cambria" pitchFamily="34" charset="0"/>
                <a:ea typeface="Cambria" pitchFamily="34" charset="-122"/>
                <a:cs typeface="Cambria" pitchFamily="34" charset="-120"/>
              </a:rPr>
              <a:t>Meningioma</a:t>
            </a:r>
            <a:endParaRPr lang="en-US" sz="1500" dirty="0"/>
          </a:p>
        </p:txBody>
      </p:sp>
      <p:sp>
        <p:nvSpPr>
          <p:cNvPr id="45" name="Text 10"/>
          <p:cNvSpPr/>
          <p:nvPr/>
        </p:nvSpPr>
        <p:spPr>
          <a:xfrm>
            <a:off x="1325880" y="3570582"/>
            <a:ext cx="4434840" cy="274320"/>
          </a:xfrm>
          <a:prstGeom prst="rect">
            <a:avLst/>
          </a:prstGeom>
          <a:noFill/>
          <a:ln/>
        </p:spPr>
        <p:txBody>
          <a:bodyPr wrap="square" rtlCol="0" anchor="ctr"/>
          <a:lstStyle/>
          <a:p>
            <a:pPr marL="0" indent="0">
              <a:buNone/>
            </a:pPr>
            <a:r>
              <a:rPr lang="en-US" sz="1130" dirty="0">
                <a:solidFill>
                  <a:srgbClr val="5A6B7B"/>
                </a:solidFill>
                <a:latin typeface="Calibri" pitchFamily="34" charset="0"/>
                <a:ea typeface="Calibri" pitchFamily="34" charset="-122"/>
                <a:cs typeface="Calibri" pitchFamily="34" charset="-120"/>
              </a:rPr>
              <a:t>U màng não — thường lành tính, chậm</a:t>
            </a:r>
            <a:endParaRPr lang="en-US" sz="1130" dirty="0"/>
          </a:p>
        </p:txBody>
      </p:sp>
      <p:sp>
        <p:nvSpPr>
          <p:cNvPr id="46" name="Shape 11"/>
          <p:cNvSpPr/>
          <p:nvPr/>
        </p:nvSpPr>
        <p:spPr>
          <a:xfrm>
            <a:off x="548640" y="4036926"/>
            <a:ext cx="5349240" cy="786384"/>
          </a:xfrm>
          <a:prstGeom prst="roundRect">
            <a:avLst>
              <a:gd name="adj" fmla="val 9302"/>
            </a:avLst>
          </a:prstGeom>
          <a:solidFill>
            <a:srgbClr val="FFFFFF"/>
          </a:solidFill>
          <a:ln w="12700">
            <a:solidFill>
              <a:srgbClr val="D9E2EC"/>
            </a:solidFill>
            <a:prstDash val="solid"/>
          </a:ln>
          <a:effectLst>
            <a:outerShdw blurRad="63500" dist="25400" dir="5400000" algn="bl" rotWithShape="0">
              <a:srgbClr val="B9C4D0">
                <a:alpha val="45000"/>
              </a:srgbClr>
            </a:outerShdw>
          </a:effectLst>
        </p:spPr>
      </p:sp>
      <p:sp>
        <p:nvSpPr>
          <p:cNvPr id="47" name="Shape 12"/>
          <p:cNvSpPr/>
          <p:nvPr/>
        </p:nvSpPr>
        <p:spPr>
          <a:xfrm>
            <a:off x="713232" y="4201518"/>
            <a:ext cx="457200" cy="457200"/>
          </a:xfrm>
          <a:prstGeom prst="roundRect">
            <a:avLst>
              <a:gd name="adj" fmla="val 20000"/>
            </a:avLst>
          </a:prstGeom>
          <a:solidFill>
            <a:srgbClr val="2E6DA4"/>
          </a:solidFill>
          <a:ln/>
        </p:spPr>
      </p:sp>
      <p:sp>
        <p:nvSpPr>
          <p:cNvPr id="48" name="Text 13"/>
          <p:cNvSpPr/>
          <p:nvPr/>
        </p:nvSpPr>
        <p:spPr>
          <a:xfrm>
            <a:off x="1325880" y="4164942"/>
            <a:ext cx="4389120" cy="310896"/>
          </a:xfrm>
          <a:prstGeom prst="rect">
            <a:avLst/>
          </a:prstGeom>
          <a:noFill/>
          <a:ln/>
        </p:spPr>
        <p:txBody>
          <a:bodyPr wrap="square" rtlCol="0" anchor="ctr"/>
          <a:lstStyle/>
          <a:p>
            <a:pPr marL="0" indent="0">
              <a:buNone/>
            </a:pPr>
            <a:r>
              <a:rPr lang="en-US" sz="1500" b="1" dirty="0">
                <a:solidFill>
                  <a:srgbClr val="1E3A5F"/>
                </a:solidFill>
                <a:latin typeface="Cambria" pitchFamily="34" charset="0"/>
                <a:ea typeface="Cambria" pitchFamily="34" charset="-122"/>
                <a:cs typeface="Cambria" pitchFamily="34" charset="-120"/>
              </a:rPr>
              <a:t>Pituitary</a:t>
            </a:r>
            <a:endParaRPr lang="en-US" sz="1500" dirty="0"/>
          </a:p>
        </p:txBody>
      </p:sp>
      <p:sp>
        <p:nvSpPr>
          <p:cNvPr id="49" name="Text 14"/>
          <p:cNvSpPr/>
          <p:nvPr/>
        </p:nvSpPr>
        <p:spPr>
          <a:xfrm>
            <a:off x="1325880" y="4466694"/>
            <a:ext cx="4434840" cy="274320"/>
          </a:xfrm>
          <a:prstGeom prst="rect">
            <a:avLst/>
          </a:prstGeom>
          <a:noFill/>
          <a:ln/>
        </p:spPr>
        <p:txBody>
          <a:bodyPr wrap="square" rtlCol="0" anchor="ctr"/>
          <a:lstStyle/>
          <a:p>
            <a:pPr marL="0" indent="0">
              <a:buNone/>
            </a:pPr>
            <a:r>
              <a:rPr lang="en-US" sz="1130" dirty="0">
                <a:solidFill>
                  <a:srgbClr val="5A6B7B"/>
                </a:solidFill>
                <a:latin typeface="Calibri" pitchFamily="34" charset="0"/>
                <a:ea typeface="Calibri" pitchFamily="34" charset="-122"/>
                <a:cs typeface="Calibri" pitchFamily="34" charset="-120"/>
              </a:rPr>
              <a:t>U tuyến yên — gây rối loạn nội tiết</a:t>
            </a:r>
            <a:endParaRPr lang="en-US" sz="1130" dirty="0"/>
          </a:p>
        </p:txBody>
      </p:sp>
      <p:sp>
        <p:nvSpPr>
          <p:cNvPr id="50" name="Shape 15"/>
          <p:cNvSpPr/>
          <p:nvPr/>
        </p:nvSpPr>
        <p:spPr>
          <a:xfrm>
            <a:off x="548640" y="4933038"/>
            <a:ext cx="5349240" cy="786384"/>
          </a:xfrm>
          <a:prstGeom prst="roundRect">
            <a:avLst>
              <a:gd name="adj" fmla="val 9302"/>
            </a:avLst>
          </a:prstGeom>
          <a:solidFill>
            <a:srgbClr val="FFFFFF"/>
          </a:solidFill>
          <a:ln w="12700">
            <a:solidFill>
              <a:srgbClr val="D9E2EC"/>
            </a:solidFill>
            <a:prstDash val="solid"/>
          </a:ln>
          <a:effectLst>
            <a:outerShdw blurRad="63500" dist="25400" dir="5400000" algn="bl" rotWithShape="0">
              <a:srgbClr val="B9C4D0">
                <a:alpha val="45000"/>
              </a:srgbClr>
            </a:outerShdw>
          </a:effectLst>
        </p:spPr>
      </p:sp>
      <p:sp>
        <p:nvSpPr>
          <p:cNvPr id="51" name="Shape 16"/>
          <p:cNvSpPr/>
          <p:nvPr/>
        </p:nvSpPr>
        <p:spPr>
          <a:xfrm>
            <a:off x="713232" y="5097630"/>
            <a:ext cx="457200" cy="457200"/>
          </a:xfrm>
          <a:prstGeom prst="roundRect">
            <a:avLst>
              <a:gd name="adj" fmla="val 20000"/>
            </a:avLst>
          </a:prstGeom>
          <a:solidFill>
            <a:srgbClr val="27AE60"/>
          </a:solidFill>
          <a:ln/>
        </p:spPr>
      </p:sp>
      <p:sp>
        <p:nvSpPr>
          <p:cNvPr id="52" name="Text 17"/>
          <p:cNvSpPr/>
          <p:nvPr/>
        </p:nvSpPr>
        <p:spPr>
          <a:xfrm>
            <a:off x="1325880" y="5061054"/>
            <a:ext cx="4389120" cy="310896"/>
          </a:xfrm>
          <a:prstGeom prst="rect">
            <a:avLst/>
          </a:prstGeom>
          <a:noFill/>
          <a:ln/>
        </p:spPr>
        <p:txBody>
          <a:bodyPr wrap="square" rtlCol="0" anchor="ctr"/>
          <a:lstStyle/>
          <a:p>
            <a:pPr marL="0" indent="0">
              <a:buNone/>
            </a:pPr>
            <a:r>
              <a:rPr lang="en-US" sz="1500" b="1" dirty="0">
                <a:solidFill>
                  <a:srgbClr val="1E3A5F"/>
                </a:solidFill>
                <a:latin typeface="Cambria" pitchFamily="34" charset="0"/>
                <a:ea typeface="Cambria" pitchFamily="34" charset="-122"/>
                <a:cs typeface="Cambria" pitchFamily="34" charset="-120"/>
              </a:rPr>
              <a:t>No Tumor</a:t>
            </a:r>
            <a:endParaRPr lang="en-US" sz="1500" dirty="0"/>
          </a:p>
        </p:txBody>
      </p:sp>
      <p:sp>
        <p:nvSpPr>
          <p:cNvPr id="53" name="Text 18"/>
          <p:cNvSpPr/>
          <p:nvPr/>
        </p:nvSpPr>
        <p:spPr>
          <a:xfrm>
            <a:off x="1325880" y="5362806"/>
            <a:ext cx="4434840" cy="274320"/>
          </a:xfrm>
          <a:prstGeom prst="rect">
            <a:avLst/>
          </a:prstGeom>
          <a:noFill/>
          <a:ln/>
        </p:spPr>
        <p:txBody>
          <a:bodyPr wrap="square" rtlCol="0" anchor="ctr"/>
          <a:lstStyle/>
          <a:p>
            <a:pPr marL="0" indent="0">
              <a:buNone/>
            </a:pPr>
            <a:r>
              <a:rPr lang="en-US" sz="1130" dirty="0">
                <a:solidFill>
                  <a:srgbClr val="5A6B7B"/>
                </a:solidFill>
                <a:latin typeface="Calibri" pitchFamily="34" charset="0"/>
                <a:ea typeface="Calibri" pitchFamily="34" charset="-122"/>
                <a:cs typeface="Calibri" pitchFamily="34" charset="-120"/>
              </a:rPr>
              <a:t>Không có khối u — đối chứng âm tính</a:t>
            </a:r>
            <a:endParaRPr lang="en-US" sz="1130" dirty="0"/>
          </a:p>
        </p:txBody>
      </p:sp>
      <p:sp>
        <p:nvSpPr>
          <p:cNvPr id="54" name="Shape 19"/>
          <p:cNvSpPr/>
          <p:nvPr/>
        </p:nvSpPr>
        <p:spPr>
          <a:xfrm>
            <a:off x="6737908" y="2350710"/>
            <a:ext cx="4309264" cy="3547872"/>
          </a:xfrm>
          <a:prstGeom prst="roundRect">
            <a:avLst>
              <a:gd name="adj" fmla="val 1289"/>
            </a:avLst>
          </a:prstGeom>
          <a:solidFill>
            <a:srgbClr val="FFFFFF"/>
          </a:solidFill>
          <a:ln w="12700">
            <a:solidFill>
              <a:srgbClr val="D9E2EC"/>
            </a:solidFill>
            <a:prstDash val="solid"/>
          </a:ln>
          <a:effectLst>
            <a:outerShdw blurRad="76200" dist="25400" dir="5400000" algn="bl" rotWithShape="0">
              <a:srgbClr val="AEBECE">
                <a:alpha val="50000"/>
              </a:srgbClr>
            </a:outerShdw>
          </a:effectLst>
        </p:spPr>
      </p:sp>
      <p:pic>
        <p:nvPicPr>
          <p:cNvPr id="55" name="Image 0" descr="crops/f25_samples.jpg"/>
          <p:cNvPicPr>
            <a:picLocks noChangeAspect="1"/>
          </p:cNvPicPr>
          <p:nvPr/>
        </p:nvPicPr>
        <p:blipFill>
          <a:blip r:embed="rId3"/>
          <a:stretch>
            <a:fillRect/>
          </a:stretch>
        </p:blipFill>
        <p:spPr>
          <a:xfrm>
            <a:off x="6820204" y="2433006"/>
            <a:ext cx="4144672" cy="3383280"/>
          </a:xfrm>
          <a:prstGeom prst="rect">
            <a:avLst/>
          </a:prstGeom>
        </p:spPr>
      </p:pic>
      <p:sp>
        <p:nvSpPr>
          <p:cNvPr id="56" name="Text 20"/>
          <p:cNvSpPr/>
          <p:nvPr/>
        </p:nvSpPr>
        <p:spPr>
          <a:xfrm>
            <a:off x="6172200" y="5926014"/>
            <a:ext cx="5440680" cy="274320"/>
          </a:xfrm>
          <a:prstGeom prst="rect">
            <a:avLst/>
          </a:prstGeom>
          <a:noFill/>
          <a:ln/>
        </p:spPr>
        <p:txBody>
          <a:bodyPr wrap="square" rtlCol="0" anchor="ctr"/>
          <a:lstStyle/>
          <a:p>
            <a:pPr marL="0" indent="0" algn="ctr">
              <a:buNone/>
            </a:pPr>
            <a:r>
              <a:rPr lang="en-US" sz="1050" i="1" dirty="0">
                <a:solidFill>
                  <a:srgbClr val="5A6B7B"/>
                </a:solidFill>
                <a:latin typeface="Calibri" pitchFamily="34" charset="0"/>
                <a:ea typeface="Calibri" pitchFamily="34" charset="-122"/>
                <a:cs typeface="Calibri" pitchFamily="34" charset="-120"/>
              </a:rPr>
              <a:t>Hình 2.5 — Ảnh MRI mẫu theo 4 lớp</a:t>
            </a:r>
            <a:endParaRPr lang="en-US" sz="1050" dirty="0"/>
          </a:p>
        </p:txBody>
      </p:sp>
      <p:sp>
        <p:nvSpPr>
          <p:cNvPr id="57" name="Shape 21"/>
          <p:cNvSpPr/>
          <p:nvPr/>
        </p:nvSpPr>
        <p:spPr>
          <a:xfrm>
            <a:off x="548640" y="5829150"/>
            <a:ext cx="5349240" cy="457200"/>
          </a:xfrm>
          <a:prstGeom prst="roundRect">
            <a:avLst>
              <a:gd name="adj" fmla="val 20000"/>
            </a:avLst>
          </a:prstGeom>
          <a:solidFill>
            <a:srgbClr val="EAF1F8"/>
          </a:solidFill>
          <a:ln w="12700">
            <a:solidFill>
              <a:srgbClr val="D9E2EC"/>
            </a:solidFill>
            <a:prstDash val="solid"/>
          </a:ln>
        </p:spPr>
      </p:sp>
      <p:sp>
        <p:nvSpPr>
          <p:cNvPr id="58" name="Text 22"/>
          <p:cNvSpPr/>
          <p:nvPr/>
        </p:nvSpPr>
        <p:spPr>
          <a:xfrm>
            <a:off x="777240" y="5829150"/>
            <a:ext cx="4892040" cy="457200"/>
          </a:xfrm>
          <a:prstGeom prst="rect">
            <a:avLst/>
          </a:prstGeom>
          <a:noFill/>
          <a:ln/>
        </p:spPr>
        <p:txBody>
          <a:bodyPr wrap="square" rtlCol="0" anchor="ctr"/>
          <a:lstStyle/>
          <a:p>
            <a:pPr marL="0" indent="0">
              <a:buNone/>
            </a:pPr>
            <a:r>
              <a:rPr lang="en-US" sz="1150" b="1" dirty="0">
                <a:solidFill>
                  <a:srgbClr val="1E3A5F"/>
                </a:solidFill>
                <a:latin typeface="Calibri" pitchFamily="34" charset="0"/>
                <a:ea typeface="Calibri" pitchFamily="34" charset="-122"/>
                <a:cs typeface="Calibri" pitchFamily="34" charset="-120"/>
              </a:rPr>
              <a:t>Cân bằng:  </a:t>
            </a:r>
            <a:r>
              <a:rPr lang="en-US" sz="1150" dirty="0">
                <a:solidFill>
                  <a:srgbClr val="1F2933"/>
                </a:solidFill>
                <a:latin typeface="Calibri" pitchFamily="34" charset="0"/>
                <a:ea typeface="Calibri" pitchFamily="34" charset="-122"/>
                <a:cs typeface="Calibri" pitchFamily="34" charset="-120"/>
              </a:rPr>
              <a:t>1.400 ảnh/lớp · nguồn Kaggle Brain Tumor MRI</a:t>
            </a:r>
            <a:endParaRPr lang="en-US" sz="1150" dirty="0"/>
          </a:p>
        </p:txBody>
      </p:sp>
      <p:sp>
        <p:nvSpPr>
          <p:cNvPr id="9" name="Shape 1">
            <a:extLst>
              <a:ext uri="{FF2B5EF4-FFF2-40B4-BE49-F238E27FC236}">
                <a16:creationId xmlns:a16="http://schemas.microsoft.com/office/drawing/2014/main" id="{17965AB1-785E-12F8-4D76-8919CB51D35F}"/>
              </a:ext>
            </a:extLst>
          </p:cNvPr>
          <p:cNvSpPr/>
          <p:nvPr/>
        </p:nvSpPr>
        <p:spPr>
          <a:xfrm>
            <a:off x="502920" y="998462"/>
            <a:ext cx="566928" cy="292608"/>
          </a:xfrm>
          <a:prstGeom prst="roundRect">
            <a:avLst>
              <a:gd name="adj" fmla="val 50000"/>
            </a:avLst>
          </a:prstGeom>
          <a:solidFill>
            <a:srgbClr val="C9960B"/>
          </a:solidFill>
          <a:ln/>
        </p:spPr>
        <p:txBody>
          <a:bodyPr/>
          <a:lstStyle/>
          <a:p>
            <a:endParaRPr lang="en-VN"/>
          </a:p>
        </p:txBody>
      </p:sp>
      <p:sp>
        <p:nvSpPr>
          <p:cNvPr id="10" name="Text 2">
            <a:extLst>
              <a:ext uri="{FF2B5EF4-FFF2-40B4-BE49-F238E27FC236}">
                <a16:creationId xmlns:a16="http://schemas.microsoft.com/office/drawing/2014/main" id="{2ADB715E-CC90-7340-81C9-7A3C217920ED}"/>
              </a:ext>
            </a:extLst>
          </p:cNvPr>
          <p:cNvSpPr/>
          <p:nvPr/>
        </p:nvSpPr>
        <p:spPr>
          <a:xfrm>
            <a:off x="502920" y="998462"/>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cs typeface="Times New Roman" pitchFamily="34" charset="-120"/>
              </a:rPr>
              <a:t>MĐ</a:t>
            </a:r>
            <a:endParaRPr lang="en-US" sz="1200" dirty="0"/>
          </a:p>
        </p:txBody>
      </p:sp>
      <p:sp>
        <p:nvSpPr>
          <p:cNvPr id="11" name="Text 3">
            <a:extLst>
              <a:ext uri="{FF2B5EF4-FFF2-40B4-BE49-F238E27FC236}">
                <a16:creationId xmlns:a16="http://schemas.microsoft.com/office/drawing/2014/main" id="{E1D4BDB2-DD04-92CF-92D7-611ECEFB4A17}"/>
              </a:ext>
            </a:extLst>
          </p:cNvPr>
          <p:cNvSpPr/>
          <p:nvPr/>
        </p:nvSpPr>
        <p:spPr>
          <a:xfrm>
            <a:off x="1179576" y="998462"/>
            <a:ext cx="9601200" cy="292608"/>
          </a:xfrm>
          <a:prstGeom prst="rect">
            <a:avLst/>
          </a:prstGeom>
          <a:noFill/>
          <a:ln/>
        </p:spPr>
        <p:txBody>
          <a:bodyPr wrap="square" rtlCol="0" anchor="ctr"/>
          <a:lstStyle/>
          <a:p>
            <a:pPr marL="0" indent="0">
              <a:buNone/>
            </a:pPr>
            <a:r>
              <a:rPr lang="en-US" sz="1250" b="1" kern="0" spc="120" dirty="0">
                <a:solidFill>
                  <a:srgbClr val="C9960B"/>
                </a:solidFill>
                <a:latin typeface="Times New Roman" pitchFamily="34" charset="0"/>
                <a:ea typeface="Times New Roman" pitchFamily="34" charset="-122"/>
                <a:cs typeface="Times New Roman" pitchFamily="34" charset="-120"/>
              </a:rPr>
              <a:t>Mở đầu</a:t>
            </a:r>
            <a:endParaRPr lang="en-US" sz="12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92124"/>
            <a:ext cx="566928" cy="292608"/>
          </a:xfrm>
          <a:prstGeom prst="roundRect">
            <a:avLst>
              <a:gd name="adj" fmla="val 50000"/>
            </a:avLst>
          </a:prstGeom>
          <a:solidFill>
            <a:srgbClr val="5B4B93"/>
          </a:solidFill>
          <a:ln/>
        </p:spPr>
      </p:sp>
      <p:sp>
        <p:nvSpPr>
          <p:cNvPr id="5" name="Text 2"/>
          <p:cNvSpPr/>
          <p:nvPr/>
        </p:nvSpPr>
        <p:spPr>
          <a:xfrm>
            <a:off x="502920" y="992124"/>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01</a:t>
            </a:r>
            <a:endParaRPr lang="en-US" sz="1200" dirty="0"/>
          </a:p>
        </p:txBody>
      </p:sp>
      <p:sp>
        <p:nvSpPr>
          <p:cNvPr id="6" name="Text 3"/>
          <p:cNvSpPr/>
          <p:nvPr/>
        </p:nvSpPr>
        <p:spPr>
          <a:xfrm>
            <a:off x="1188720" y="992124"/>
            <a:ext cx="9601200" cy="292608"/>
          </a:xfrm>
          <a:prstGeom prst="rect">
            <a:avLst/>
          </a:prstGeom>
          <a:noFill/>
          <a:ln/>
        </p:spPr>
        <p:txBody>
          <a:bodyPr wrap="square" rtlCol="0" anchor="ctr"/>
          <a:lstStyle/>
          <a:p>
            <a:pPr marL="0" indent="0">
              <a:buNone/>
            </a:pPr>
            <a:r>
              <a:rPr lang="en-US" sz="1250" b="1" kern="0" spc="120" dirty="0">
                <a:solidFill>
                  <a:srgbClr val="5B4B93"/>
                </a:solidFill>
                <a:latin typeface="Times New Roman" pitchFamily="34" charset="0"/>
                <a:ea typeface="Times New Roman" pitchFamily="34" charset="-122"/>
                <a:cs typeface="Times New Roman" pitchFamily="34" charset="-120"/>
              </a:rPr>
              <a:t>CƠ SỞ LÝ THUYẾT</a:t>
            </a:r>
            <a:endParaRPr lang="en-US" sz="1250" dirty="0"/>
          </a:p>
        </p:txBody>
      </p:sp>
      <p:sp>
        <p:nvSpPr>
          <p:cNvPr id="7" name="Text 4"/>
          <p:cNvSpPr/>
          <p:nvPr/>
        </p:nvSpPr>
        <p:spPr>
          <a:xfrm>
            <a:off x="502920" y="1320292"/>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CNN &amp; Học chuyển giao (Transfer Learning)</a:t>
            </a:r>
            <a:endParaRPr lang="en-US" sz="2500" dirty="0"/>
          </a:p>
        </p:txBody>
      </p:sp>
      <p:sp>
        <p:nvSpPr>
          <p:cNvPr id="8" name="Shape 5"/>
          <p:cNvSpPr/>
          <p:nvPr/>
        </p:nvSpPr>
        <p:spPr>
          <a:xfrm>
            <a:off x="502920" y="2060956"/>
            <a:ext cx="11183112" cy="1234440"/>
          </a:xfrm>
          <a:prstGeom prst="roundRect">
            <a:avLst>
              <a:gd name="adj" fmla="val 7407"/>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9" name="Shape 6"/>
          <p:cNvSpPr/>
          <p:nvPr/>
        </p:nvSpPr>
        <p:spPr>
          <a:xfrm>
            <a:off x="777240" y="2353564"/>
            <a:ext cx="640080" cy="640080"/>
          </a:xfrm>
          <a:prstGeom prst="ellipse">
            <a:avLst/>
          </a:prstGeom>
          <a:solidFill>
            <a:srgbClr val="5B4B93"/>
          </a:solidFill>
          <a:ln/>
          <a:effectLst>
            <a:outerShdw blurRad="76200" dist="25400" dir="5400000" algn="bl" rotWithShape="0">
              <a:srgbClr val="1B3760">
                <a:alpha val="18000"/>
              </a:srgbClr>
            </a:outerShdw>
          </a:effectLst>
        </p:spPr>
      </p:sp>
      <p:pic>
        <p:nvPicPr>
          <p:cNvPr id="10" name="Image 1" descr="/home/claude/work/build/layers_white.png"/>
          <p:cNvPicPr>
            <a:picLocks noChangeAspect="1"/>
          </p:cNvPicPr>
          <p:nvPr/>
        </p:nvPicPr>
        <p:blipFill>
          <a:blip r:embed="rId3"/>
          <a:stretch>
            <a:fillRect/>
          </a:stretch>
        </p:blipFill>
        <p:spPr>
          <a:xfrm>
            <a:off x="932688" y="2509012"/>
            <a:ext cx="329184" cy="329184"/>
          </a:xfrm>
          <a:prstGeom prst="rect">
            <a:avLst/>
          </a:prstGeom>
        </p:spPr>
      </p:pic>
      <p:sp>
        <p:nvSpPr>
          <p:cNvPr id="11" name="Text 7"/>
          <p:cNvSpPr/>
          <p:nvPr/>
        </p:nvSpPr>
        <p:spPr>
          <a:xfrm>
            <a:off x="1600200" y="2225548"/>
            <a:ext cx="9921240" cy="960120"/>
          </a:xfrm>
          <a:prstGeom prst="rect">
            <a:avLst/>
          </a:prstGeom>
          <a:noFill/>
          <a:ln/>
        </p:spPr>
        <p:txBody>
          <a:bodyPr wrap="square" rtlCol="0" anchor="ctr"/>
          <a:lstStyle/>
          <a:p>
            <a:pPr marL="0" indent="0">
              <a:lnSpc>
                <a:spcPct val="120000"/>
              </a:lnSpc>
              <a:buNone/>
            </a:pPr>
            <a:r>
              <a:rPr lang="en-US" sz="1300" dirty="0">
                <a:solidFill>
                  <a:srgbClr val="1C2430"/>
                </a:solidFill>
                <a:latin typeface="Times New Roman" pitchFamily="34" charset="0"/>
                <a:ea typeface="Times New Roman" pitchFamily="34" charset="-122"/>
                <a:cs typeface="Times New Roman" pitchFamily="34" charset="-120"/>
              </a:rPr>
              <a:t>CNN (Convolutional Neural Network) trích xuất đặc trưng ảnh qua các lớp tích chập &amp; pooling — nền tảng cho hầu hết bài toán thị giác máy tính, kể cả ảnh y tế. Transfer Learning tận dụng một mô hình đã pretrained trên ImageNet (1 triệu+ ảnh) làm điểm khởi đầu, giúp rút ngắn thời gian huấn luyện và giảm overfitting khi dữ liệu MRI có hạn.</a:t>
            </a:r>
            <a:endParaRPr lang="en-US" sz="1300" dirty="0"/>
          </a:p>
        </p:txBody>
      </p:sp>
      <p:sp>
        <p:nvSpPr>
          <p:cNvPr id="12" name="Text 8"/>
          <p:cNvSpPr/>
          <p:nvPr/>
        </p:nvSpPr>
        <p:spPr>
          <a:xfrm>
            <a:off x="502920" y="3379216"/>
            <a:ext cx="11155680" cy="365760"/>
          </a:xfrm>
          <a:prstGeom prst="rect">
            <a:avLst/>
          </a:prstGeom>
          <a:noFill/>
          <a:ln/>
        </p:spPr>
        <p:txBody>
          <a:bodyPr wrap="square" rtlCol="0" anchor="ctr"/>
          <a:lstStyle/>
          <a:p>
            <a:pPr marL="0" indent="0">
              <a:buNone/>
            </a:pPr>
            <a:r>
              <a:rPr lang="en-US" sz="1500" b="1" dirty="0">
                <a:solidFill>
                  <a:srgbClr val="0B1E3D"/>
                </a:solidFill>
                <a:latin typeface="Times New Roman" pitchFamily="34" charset="0"/>
                <a:ea typeface="Times New Roman" pitchFamily="34" charset="-122"/>
                <a:cs typeface="Times New Roman" pitchFamily="34" charset="-120"/>
              </a:rPr>
              <a:t>Chiến lược Transfer Learning theo 2 giai đoạn (2-phase fine-tuning)</a:t>
            </a:r>
            <a:endParaRPr lang="en-US" sz="1500" dirty="0"/>
          </a:p>
        </p:txBody>
      </p:sp>
      <p:sp>
        <p:nvSpPr>
          <p:cNvPr id="13" name="Shape 9"/>
          <p:cNvSpPr/>
          <p:nvPr/>
        </p:nvSpPr>
        <p:spPr>
          <a:xfrm>
            <a:off x="845820" y="3877056"/>
            <a:ext cx="4892040" cy="2331720"/>
          </a:xfrm>
          <a:prstGeom prst="roundRect">
            <a:avLst>
              <a:gd name="adj" fmla="val 3922"/>
            </a:avLst>
          </a:prstGeom>
          <a:solidFill>
            <a:srgbClr val="E4F3F3"/>
          </a:solidFill>
          <a:ln w="12700">
            <a:solidFill>
              <a:srgbClr val="158C94"/>
            </a:solidFill>
            <a:prstDash val="solid"/>
          </a:ln>
          <a:effectLst>
            <a:outerShdw blurRad="101600" dist="25400" dir="5400000" algn="bl" rotWithShape="0">
              <a:srgbClr val="1B3760">
                <a:alpha val="10000"/>
              </a:srgbClr>
            </a:outerShdw>
          </a:effectLst>
        </p:spPr>
      </p:sp>
      <p:sp>
        <p:nvSpPr>
          <p:cNvPr id="14" name="Shape 10"/>
          <p:cNvSpPr/>
          <p:nvPr/>
        </p:nvSpPr>
        <p:spPr>
          <a:xfrm>
            <a:off x="1120140" y="4151376"/>
            <a:ext cx="548640" cy="548640"/>
          </a:xfrm>
          <a:prstGeom prst="ellipse">
            <a:avLst/>
          </a:prstGeom>
          <a:solidFill>
            <a:srgbClr val="158C94"/>
          </a:solidFill>
          <a:ln/>
          <a:effectLst>
            <a:outerShdw blurRad="76200" dist="25400" dir="5400000" algn="bl" rotWithShape="0">
              <a:srgbClr val="1B3760">
                <a:alpha val="18000"/>
              </a:srgbClr>
            </a:outerShdw>
          </a:effectLst>
        </p:spPr>
      </p:sp>
      <p:pic>
        <p:nvPicPr>
          <p:cNvPr id="15" name="Image 2" descr="/home/claude/work/build/code_white.png"/>
          <p:cNvPicPr>
            <a:picLocks noChangeAspect="1"/>
          </p:cNvPicPr>
          <p:nvPr/>
        </p:nvPicPr>
        <p:blipFill>
          <a:blip r:embed="rId4"/>
          <a:stretch>
            <a:fillRect/>
          </a:stretch>
        </p:blipFill>
        <p:spPr>
          <a:xfrm>
            <a:off x="1257300" y="4288536"/>
            <a:ext cx="274320" cy="274320"/>
          </a:xfrm>
          <a:prstGeom prst="rect">
            <a:avLst/>
          </a:prstGeom>
        </p:spPr>
      </p:pic>
      <p:sp>
        <p:nvSpPr>
          <p:cNvPr id="16" name="Text 11"/>
          <p:cNvSpPr/>
          <p:nvPr/>
        </p:nvSpPr>
        <p:spPr>
          <a:xfrm>
            <a:off x="1805940" y="4151376"/>
            <a:ext cx="3154680" cy="548640"/>
          </a:xfrm>
          <a:prstGeom prst="rect">
            <a:avLst/>
          </a:prstGeom>
          <a:noFill/>
          <a:ln/>
        </p:spPr>
        <p:txBody>
          <a:bodyPr wrap="square" rtlCol="0" anchor="ctr"/>
          <a:lstStyle/>
          <a:p>
            <a:pPr marL="0" indent="0">
              <a:buNone/>
            </a:pPr>
            <a:r>
              <a:rPr lang="en-US" sz="1450" b="1" dirty="0">
                <a:solidFill>
                  <a:srgbClr val="0B1E3D"/>
                </a:solidFill>
                <a:latin typeface="Times New Roman" pitchFamily="34" charset="0"/>
                <a:ea typeface="Times New Roman" pitchFamily="34" charset="-122"/>
                <a:cs typeface="Times New Roman" pitchFamily="34" charset="-120"/>
              </a:rPr>
              <a:t>PHASE 1 — Warm-up</a:t>
            </a:r>
            <a:endParaRPr lang="en-US" sz="1450" dirty="0"/>
          </a:p>
        </p:txBody>
      </p:sp>
      <p:sp>
        <p:nvSpPr>
          <p:cNvPr id="17" name="Text 12"/>
          <p:cNvSpPr/>
          <p:nvPr/>
        </p:nvSpPr>
        <p:spPr>
          <a:xfrm>
            <a:off x="1120140" y="4837176"/>
            <a:ext cx="3977640" cy="1143000"/>
          </a:xfrm>
          <a:prstGeom prst="rect">
            <a:avLst/>
          </a:prstGeom>
          <a:noFill/>
          <a:ln/>
        </p:spPr>
        <p:txBody>
          <a:bodyPr wrap="square" rtlCol="0" anchor="ctr"/>
          <a:lstStyle/>
          <a:p>
            <a:pPr marL="342900" indent="-342900">
              <a:lnSpc>
                <a:spcPct val="135000"/>
              </a:lnSpc>
              <a:buSzPct val="100000"/>
              <a:buChar char="•"/>
            </a:pPr>
            <a:r>
              <a:rPr lang="en-US" sz="1250" dirty="0">
                <a:solidFill>
                  <a:srgbClr val="1C2430"/>
                </a:solidFill>
                <a:latin typeface="Times New Roman" pitchFamily="34" charset="0"/>
                <a:ea typeface="Times New Roman" pitchFamily="34" charset="-122"/>
                <a:cs typeface="Times New Roman" pitchFamily="34" charset="-120"/>
              </a:rPr>
              <a:t>Đóng băng (freeze) toàn bộ backbone đã pretrained.</a:t>
            </a:r>
            <a:endParaRPr lang="en-US" sz="1250" dirty="0"/>
          </a:p>
          <a:p>
            <a:pPr marL="342900" indent="-342900">
              <a:lnSpc>
                <a:spcPct val="135000"/>
              </a:lnSpc>
              <a:buSzPct val="100000"/>
              <a:buChar char="•"/>
            </a:pPr>
            <a:r>
              <a:rPr lang="en-US" sz="1250" dirty="0">
                <a:solidFill>
                  <a:srgbClr val="1C2430"/>
                </a:solidFill>
                <a:latin typeface="Times New Roman" pitchFamily="34" charset="0"/>
                <a:ea typeface="Times New Roman" pitchFamily="34" charset="-122"/>
                <a:cs typeface="Times New Roman" pitchFamily="34" charset="-120"/>
              </a:rPr>
              <a:t>Chỉ huấn luyện lớp phân loại (classifier head) mới.</a:t>
            </a:r>
            <a:endParaRPr lang="en-US" sz="1250" dirty="0"/>
          </a:p>
          <a:p>
            <a:pPr marL="342900" indent="-342900">
              <a:lnSpc>
                <a:spcPct val="135000"/>
              </a:lnSpc>
              <a:buSzPct val="100000"/>
              <a:buChar char="•"/>
            </a:pPr>
            <a:r>
              <a:rPr lang="en-US" sz="1250" dirty="0">
                <a:solidFill>
                  <a:srgbClr val="1C2430"/>
                </a:solidFill>
                <a:latin typeface="Times New Roman" pitchFamily="34" charset="0"/>
                <a:ea typeface="Times New Roman" pitchFamily="34" charset="-122"/>
                <a:cs typeface="Times New Roman" pitchFamily="34" charset="-120"/>
              </a:rPr>
              <a:t>Learning rate cao: 1e-3, trong vài epoch ngắn.</a:t>
            </a:r>
            <a:endParaRPr lang="en-US" sz="1250" dirty="0"/>
          </a:p>
        </p:txBody>
      </p:sp>
      <p:sp>
        <p:nvSpPr>
          <p:cNvPr id="18" name="Shape 13"/>
          <p:cNvSpPr/>
          <p:nvPr/>
        </p:nvSpPr>
        <p:spPr>
          <a:xfrm>
            <a:off x="5856732" y="4841748"/>
            <a:ext cx="548640" cy="402336"/>
          </a:xfrm>
          <a:prstGeom prst="rightArrow">
            <a:avLst/>
          </a:prstGeom>
          <a:solidFill>
            <a:srgbClr val="0B1E3D"/>
          </a:solidFill>
          <a:ln/>
        </p:spPr>
      </p:sp>
      <p:sp>
        <p:nvSpPr>
          <p:cNvPr id="19" name="Shape 14"/>
          <p:cNvSpPr/>
          <p:nvPr/>
        </p:nvSpPr>
        <p:spPr>
          <a:xfrm>
            <a:off x="6597396" y="3877056"/>
            <a:ext cx="4892040" cy="2331720"/>
          </a:xfrm>
          <a:prstGeom prst="roundRect">
            <a:avLst>
              <a:gd name="adj" fmla="val 3922"/>
            </a:avLst>
          </a:prstGeom>
          <a:solidFill>
            <a:srgbClr val="FBEAE7"/>
          </a:solidFill>
          <a:ln w="12700">
            <a:solidFill>
              <a:srgbClr val="D8432E"/>
            </a:solidFill>
            <a:prstDash val="solid"/>
          </a:ln>
          <a:effectLst>
            <a:outerShdw blurRad="101600" dist="25400" dir="5400000" algn="bl" rotWithShape="0">
              <a:srgbClr val="1B3760">
                <a:alpha val="10000"/>
              </a:srgbClr>
            </a:outerShdw>
          </a:effectLst>
        </p:spPr>
      </p:sp>
      <p:sp>
        <p:nvSpPr>
          <p:cNvPr id="20" name="Shape 15"/>
          <p:cNvSpPr/>
          <p:nvPr/>
        </p:nvSpPr>
        <p:spPr>
          <a:xfrm>
            <a:off x="6871716" y="4151376"/>
            <a:ext cx="548640" cy="548640"/>
          </a:xfrm>
          <a:prstGeom prst="ellipse">
            <a:avLst/>
          </a:prstGeom>
          <a:solidFill>
            <a:srgbClr val="D8432E"/>
          </a:solidFill>
          <a:ln/>
          <a:effectLst>
            <a:outerShdw blurRad="76200" dist="25400" dir="5400000" algn="bl" rotWithShape="0">
              <a:srgbClr val="1B3760">
                <a:alpha val="18000"/>
              </a:srgbClr>
            </a:outerShdw>
          </a:effectLst>
        </p:spPr>
      </p:sp>
      <p:pic>
        <p:nvPicPr>
          <p:cNvPr id="21" name="Image 3" descr="/home/claude/work/build/random_white.png"/>
          <p:cNvPicPr>
            <a:picLocks noChangeAspect="1"/>
          </p:cNvPicPr>
          <p:nvPr/>
        </p:nvPicPr>
        <p:blipFill>
          <a:blip r:embed="rId5"/>
          <a:stretch>
            <a:fillRect/>
          </a:stretch>
        </p:blipFill>
        <p:spPr>
          <a:xfrm>
            <a:off x="7008876" y="4288536"/>
            <a:ext cx="274320" cy="274320"/>
          </a:xfrm>
          <a:prstGeom prst="rect">
            <a:avLst/>
          </a:prstGeom>
        </p:spPr>
      </p:pic>
      <p:sp>
        <p:nvSpPr>
          <p:cNvPr id="22" name="Text 16"/>
          <p:cNvSpPr/>
          <p:nvPr/>
        </p:nvSpPr>
        <p:spPr>
          <a:xfrm>
            <a:off x="7557516" y="4151376"/>
            <a:ext cx="3154680" cy="548640"/>
          </a:xfrm>
          <a:prstGeom prst="rect">
            <a:avLst/>
          </a:prstGeom>
          <a:noFill/>
          <a:ln/>
        </p:spPr>
        <p:txBody>
          <a:bodyPr wrap="square" rtlCol="0" anchor="ctr"/>
          <a:lstStyle/>
          <a:p>
            <a:pPr marL="0" indent="0">
              <a:buNone/>
            </a:pPr>
            <a:r>
              <a:rPr lang="en-US" sz="1450" b="1" dirty="0">
                <a:solidFill>
                  <a:srgbClr val="0B1E3D"/>
                </a:solidFill>
                <a:latin typeface="Times New Roman" pitchFamily="34" charset="0"/>
                <a:ea typeface="Times New Roman" pitchFamily="34" charset="-122"/>
                <a:cs typeface="Times New Roman" pitchFamily="34" charset="-120"/>
              </a:rPr>
              <a:t>PHASE 2 — Fine-tuning</a:t>
            </a:r>
            <a:endParaRPr lang="en-US" sz="1450" dirty="0"/>
          </a:p>
        </p:txBody>
      </p:sp>
      <p:sp>
        <p:nvSpPr>
          <p:cNvPr id="23" name="Text 17"/>
          <p:cNvSpPr/>
          <p:nvPr/>
        </p:nvSpPr>
        <p:spPr>
          <a:xfrm>
            <a:off x="6871716" y="4837176"/>
            <a:ext cx="3977640" cy="1143000"/>
          </a:xfrm>
          <a:prstGeom prst="rect">
            <a:avLst/>
          </a:prstGeom>
          <a:noFill/>
          <a:ln/>
        </p:spPr>
        <p:txBody>
          <a:bodyPr wrap="square" rtlCol="0" anchor="ctr"/>
          <a:lstStyle/>
          <a:p>
            <a:pPr marL="342900" indent="-342900">
              <a:lnSpc>
                <a:spcPct val="135000"/>
              </a:lnSpc>
              <a:buSzPct val="100000"/>
              <a:buChar char="•"/>
            </a:pPr>
            <a:r>
              <a:rPr lang="en-US" sz="1250" dirty="0">
                <a:solidFill>
                  <a:srgbClr val="1C2430"/>
                </a:solidFill>
                <a:latin typeface="Times New Roman" pitchFamily="34" charset="0"/>
                <a:ea typeface="Times New Roman" pitchFamily="34" charset="-122"/>
                <a:cs typeface="Times New Roman" pitchFamily="34" charset="-120"/>
              </a:rPr>
              <a:t>Mở băng (unfreeze) toàn bộ mạng.</a:t>
            </a:r>
            <a:endParaRPr lang="en-US" sz="1250" dirty="0"/>
          </a:p>
          <a:p>
            <a:pPr marL="342900" indent="-342900">
              <a:lnSpc>
                <a:spcPct val="135000"/>
              </a:lnSpc>
              <a:buSzPct val="100000"/>
              <a:buChar char="•"/>
            </a:pPr>
            <a:r>
              <a:rPr lang="en-US" sz="1250" dirty="0">
                <a:solidFill>
                  <a:srgbClr val="1C2430"/>
                </a:solidFill>
                <a:latin typeface="Times New Roman" pitchFamily="34" charset="0"/>
                <a:ea typeface="Times New Roman" pitchFamily="34" charset="-122"/>
                <a:cs typeface="Times New Roman" pitchFamily="34" charset="-120"/>
              </a:rPr>
              <a:t>Huấn luyện lại với learning rate rất nhỏ:</a:t>
            </a:r>
            <a:endParaRPr lang="en-US" sz="1250" dirty="0"/>
          </a:p>
          <a:p>
            <a:pPr marL="342900" indent="-342900">
              <a:lnSpc>
                <a:spcPct val="135000"/>
              </a:lnSpc>
              <a:buSzPct val="100000"/>
              <a:buChar char="•"/>
            </a:pPr>
            <a:r>
              <a:rPr lang="en-US" sz="1250" dirty="0">
                <a:solidFill>
                  <a:srgbClr val="1C2430"/>
                </a:solidFill>
                <a:latin typeface="Times New Roman" pitchFamily="34" charset="0"/>
                <a:ea typeface="Times New Roman" pitchFamily="34" charset="-122"/>
                <a:cs typeface="Times New Roman" pitchFamily="34" charset="-120"/>
              </a:rPr>
              <a:t>1e-4 → 5e-5 → 2.5e-5, tối đa 35 epoch.</a:t>
            </a:r>
            <a:endParaRPr lang="en-US" sz="1250" dirty="0"/>
          </a:p>
        </p:txBody>
      </p:sp>
      <p:sp>
        <p:nvSpPr>
          <p:cNvPr id="24" name="Shape 18"/>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25" name="Text 19"/>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06</a:t>
            </a:r>
            <a:endParaRPr lang="en-US" sz="10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7" name="Text 4"/>
          <p:cNvSpPr/>
          <p:nvPr/>
        </p:nvSpPr>
        <p:spPr>
          <a:xfrm>
            <a:off x="502920" y="1368552"/>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Hai kiến trúc CNN được so sánh</a:t>
            </a:r>
            <a:endParaRPr lang="en-US" sz="2500" dirty="0"/>
          </a:p>
        </p:txBody>
      </p:sp>
      <p:sp>
        <p:nvSpPr>
          <p:cNvPr id="8" name="Shape 5"/>
          <p:cNvSpPr/>
          <p:nvPr/>
        </p:nvSpPr>
        <p:spPr>
          <a:xfrm>
            <a:off x="502920" y="1997456"/>
            <a:ext cx="5349240" cy="3196481"/>
          </a:xfrm>
          <a:prstGeom prst="roundRect">
            <a:avLst>
              <a:gd name="adj" fmla="val 1923"/>
            </a:avLst>
          </a:prstGeom>
          <a:solidFill>
            <a:srgbClr val="FFFFFF"/>
          </a:solidFill>
          <a:ln w="19050">
            <a:solidFill>
              <a:srgbClr val="158C94"/>
            </a:solidFill>
            <a:prstDash val="solid"/>
          </a:ln>
          <a:effectLst>
            <a:outerShdw blurRad="101600" dist="25400" dir="5400000" algn="bl" rotWithShape="0">
              <a:srgbClr val="1B3760">
                <a:alpha val="10000"/>
              </a:srgbClr>
            </a:outerShdw>
          </a:effectLst>
        </p:spPr>
      </p:sp>
      <p:sp>
        <p:nvSpPr>
          <p:cNvPr id="9" name="Shape 6"/>
          <p:cNvSpPr/>
          <p:nvPr/>
        </p:nvSpPr>
        <p:spPr>
          <a:xfrm>
            <a:off x="502920" y="1997456"/>
            <a:ext cx="5349240" cy="777240"/>
          </a:xfrm>
          <a:prstGeom prst="roundRect">
            <a:avLst>
              <a:gd name="adj" fmla="val 11765"/>
            </a:avLst>
          </a:prstGeom>
          <a:solidFill>
            <a:srgbClr val="158C94"/>
          </a:solidFill>
          <a:ln/>
        </p:spPr>
      </p:sp>
      <p:sp>
        <p:nvSpPr>
          <p:cNvPr id="10" name="Shape 7"/>
          <p:cNvSpPr/>
          <p:nvPr/>
        </p:nvSpPr>
        <p:spPr>
          <a:xfrm>
            <a:off x="777240" y="2116328"/>
            <a:ext cx="548640" cy="548640"/>
          </a:xfrm>
          <a:prstGeom prst="ellipse">
            <a:avLst/>
          </a:prstGeom>
          <a:solidFill>
            <a:srgbClr val="132A4E"/>
          </a:solidFill>
          <a:ln/>
          <a:effectLst>
            <a:outerShdw blurRad="76200" dist="25400" dir="5400000" algn="bl" rotWithShape="0">
              <a:srgbClr val="1B3760">
                <a:alpha val="18000"/>
              </a:srgbClr>
            </a:outerShdw>
          </a:effectLst>
        </p:spPr>
      </p:sp>
      <p:pic>
        <p:nvPicPr>
          <p:cNvPr id="11" name="Image 1" descr="/home/claude/work/build/microchip_white.png"/>
          <p:cNvPicPr>
            <a:picLocks noChangeAspect="1"/>
          </p:cNvPicPr>
          <p:nvPr/>
        </p:nvPicPr>
        <p:blipFill>
          <a:blip r:embed="rId3"/>
          <a:stretch>
            <a:fillRect/>
          </a:stretch>
        </p:blipFill>
        <p:spPr>
          <a:xfrm>
            <a:off x="905256" y="2244344"/>
            <a:ext cx="292608" cy="292608"/>
          </a:xfrm>
          <a:prstGeom prst="rect">
            <a:avLst/>
          </a:prstGeom>
        </p:spPr>
      </p:pic>
      <p:sp>
        <p:nvSpPr>
          <p:cNvPr id="12" name="Text 8"/>
          <p:cNvSpPr/>
          <p:nvPr/>
        </p:nvSpPr>
        <p:spPr>
          <a:xfrm>
            <a:off x="1463040" y="2116328"/>
            <a:ext cx="3611880" cy="548640"/>
          </a:xfrm>
          <a:prstGeom prst="rect">
            <a:avLst/>
          </a:prstGeom>
          <a:noFill/>
          <a:ln/>
        </p:spPr>
        <p:txBody>
          <a:bodyPr wrap="square" rtlCol="0" anchor="ctr"/>
          <a:lstStyle/>
          <a:p>
            <a:pPr marL="0" indent="0">
              <a:buNone/>
            </a:pPr>
            <a:r>
              <a:rPr lang="en-US" sz="1800" b="1" dirty="0">
                <a:solidFill>
                  <a:srgbClr val="FFFFFF"/>
                </a:solidFill>
                <a:latin typeface="Times New Roman" pitchFamily="34" charset="0"/>
                <a:ea typeface="Times New Roman" pitchFamily="34" charset="-122"/>
                <a:cs typeface="Times New Roman" pitchFamily="34" charset="-120"/>
              </a:rPr>
              <a:t>EfficientNetB0</a:t>
            </a:r>
            <a:endParaRPr lang="en-US" sz="1800" dirty="0"/>
          </a:p>
        </p:txBody>
      </p:sp>
      <p:sp>
        <p:nvSpPr>
          <p:cNvPr id="13" name="Text 9"/>
          <p:cNvSpPr/>
          <p:nvPr/>
        </p:nvSpPr>
        <p:spPr>
          <a:xfrm>
            <a:off x="777240" y="2911856"/>
            <a:ext cx="4800600" cy="274320"/>
          </a:xfrm>
          <a:prstGeom prst="rect">
            <a:avLst/>
          </a:prstGeom>
          <a:noFill/>
          <a:ln/>
        </p:spPr>
        <p:txBody>
          <a:bodyPr wrap="square" rtlCol="0" anchor="ctr"/>
          <a:lstStyle/>
          <a:p>
            <a:pPr marL="0" indent="0">
              <a:buNone/>
            </a:pPr>
            <a:r>
              <a:rPr lang="en-US" sz="1100" i="1" dirty="0">
                <a:solidFill>
                  <a:srgbClr val="5B6472"/>
                </a:solidFill>
                <a:latin typeface="Times New Roman" pitchFamily="34" charset="0"/>
                <a:ea typeface="Times New Roman" pitchFamily="34" charset="-122"/>
                <a:cs typeface="Times New Roman" pitchFamily="34" charset="-120"/>
              </a:rPr>
              <a:t>Tan &amp; Le, 2019</a:t>
            </a:r>
            <a:endParaRPr lang="en-US" sz="1100" dirty="0"/>
          </a:p>
        </p:txBody>
      </p:sp>
      <p:sp>
        <p:nvSpPr>
          <p:cNvPr id="14" name="Text 10"/>
          <p:cNvSpPr/>
          <p:nvPr/>
        </p:nvSpPr>
        <p:spPr>
          <a:xfrm>
            <a:off x="777240" y="3277616"/>
            <a:ext cx="4800600" cy="2468880"/>
          </a:xfrm>
          <a:prstGeom prst="rect">
            <a:avLst/>
          </a:prstGeom>
          <a:noFill/>
          <a:ln/>
        </p:spPr>
        <p:txBody>
          <a:bodyPr wrap="square" rtlCol="0" anchor="t"/>
          <a:lstStyle/>
          <a:p>
            <a:pPr marL="0" indent="0">
              <a:lnSpc>
                <a:spcPct val="128000"/>
              </a:lnSpc>
              <a:buNone/>
            </a:pPr>
            <a:r>
              <a:rPr lang="en-US" sz="1300" dirty="0">
                <a:solidFill>
                  <a:srgbClr val="1C2430"/>
                </a:solidFill>
                <a:latin typeface="Times New Roman" pitchFamily="34" charset="0"/>
                <a:ea typeface="Times New Roman" pitchFamily="34" charset="-122"/>
                <a:cs typeface="Times New Roman" pitchFamily="34" charset="-120"/>
              </a:rPr>
              <a:t>Sử dụng compound scaling — mở rộng đồng thời và cân đối ba chiều: độ sâu (depth), độ rộng (width) và độ phân giải ảnh đầu vào (resolution), thay vì chỉ tăng riêng một chiều.</a:t>
            </a:r>
            <a:endParaRPr lang="en-US" sz="1300" dirty="0"/>
          </a:p>
          <a:p>
            <a:pPr marL="0" indent="0">
              <a:lnSpc>
                <a:spcPct val="128000"/>
              </a:lnSpc>
              <a:buNone/>
            </a:pPr>
            <a:endParaRPr lang="en-US" sz="1300" dirty="0"/>
          </a:p>
          <a:p>
            <a:pPr marL="0" indent="0">
              <a:lnSpc>
                <a:spcPct val="128000"/>
              </a:lnSpc>
              <a:buNone/>
            </a:pPr>
            <a:r>
              <a:rPr lang="en-US" sz="1300" dirty="0">
                <a:solidFill>
                  <a:srgbClr val="1C2430"/>
                </a:solidFill>
                <a:latin typeface="Times New Roman" pitchFamily="34" charset="0"/>
                <a:ea typeface="Times New Roman" pitchFamily="34" charset="-122"/>
                <a:cs typeface="Times New Roman" pitchFamily="34" charset="-120"/>
              </a:rPr>
              <a:t>Là phiên bản nhỏ nhất họ EfficientNet (~5MB) nhưng vẫn đạt độ chính xác cạnh tranh, phù hợp triển khai production nhờ tốc độ suy luận nhanh.</a:t>
            </a:r>
            <a:endParaRPr lang="en-US" sz="1300" dirty="0"/>
          </a:p>
        </p:txBody>
      </p:sp>
      <p:sp>
        <p:nvSpPr>
          <p:cNvPr id="15" name="Shape 11"/>
          <p:cNvSpPr/>
          <p:nvPr/>
        </p:nvSpPr>
        <p:spPr>
          <a:xfrm>
            <a:off x="777240" y="5400329"/>
            <a:ext cx="4800600" cy="640080"/>
          </a:xfrm>
          <a:prstGeom prst="roundRect">
            <a:avLst>
              <a:gd name="adj" fmla="val 14286"/>
            </a:avLst>
          </a:prstGeom>
          <a:solidFill>
            <a:srgbClr val="E4F3F3"/>
          </a:solidFill>
          <a:ln/>
          <a:effectLst>
            <a:outerShdw blurRad="101600" dist="25400" dir="5400000" algn="bl" rotWithShape="0">
              <a:srgbClr val="1B3760">
                <a:alpha val="10000"/>
              </a:srgbClr>
            </a:outerShdw>
          </a:effectLst>
        </p:spPr>
      </p:sp>
      <p:sp>
        <p:nvSpPr>
          <p:cNvPr id="16" name="Text 12"/>
          <p:cNvSpPr/>
          <p:nvPr/>
        </p:nvSpPr>
        <p:spPr>
          <a:xfrm>
            <a:off x="960120" y="5491769"/>
            <a:ext cx="4434840" cy="457200"/>
          </a:xfrm>
          <a:prstGeom prst="rect">
            <a:avLst/>
          </a:prstGeom>
          <a:noFill/>
          <a:ln/>
        </p:spPr>
        <p:txBody>
          <a:bodyPr wrap="square" rtlCol="0" anchor="ctr"/>
          <a:lstStyle/>
          <a:p>
            <a:pPr marL="0" indent="0">
              <a:buNone/>
            </a:pPr>
            <a:r>
              <a:rPr lang="en-US" sz="1200" b="1" dirty="0">
                <a:solidFill>
                  <a:srgbClr val="158C94"/>
                </a:solidFill>
                <a:latin typeface="Times New Roman" pitchFamily="34" charset="0"/>
                <a:ea typeface="Times New Roman" pitchFamily="34" charset="-122"/>
                <a:cs typeface="Times New Roman" pitchFamily="34" charset="-120"/>
              </a:rPr>
              <a:t>Ưu thế:  </a:t>
            </a:r>
            <a:r>
              <a:rPr lang="en-US" sz="1200" dirty="0">
                <a:solidFill>
                  <a:srgbClr val="1C2430"/>
                </a:solidFill>
                <a:latin typeface="Times New Roman" pitchFamily="34" charset="0"/>
                <a:ea typeface="Times New Roman" pitchFamily="34" charset="-122"/>
                <a:cs typeface="Times New Roman" pitchFamily="34" charset="-120"/>
              </a:rPr>
              <a:t>tốc độ suy luận nhanh hơn 9.4 lần</a:t>
            </a:r>
            <a:endParaRPr lang="en-US" sz="1200" dirty="0"/>
          </a:p>
        </p:txBody>
      </p:sp>
      <p:sp>
        <p:nvSpPr>
          <p:cNvPr id="26" name="Shape 21"/>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27" name="Text 22"/>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07</a:t>
            </a:r>
            <a:endParaRPr lang="en-US" sz="1000" dirty="0"/>
          </a:p>
        </p:txBody>
      </p:sp>
      <p:sp>
        <p:nvSpPr>
          <p:cNvPr id="2" name="Shape 1">
            <a:extLst>
              <a:ext uri="{FF2B5EF4-FFF2-40B4-BE49-F238E27FC236}">
                <a16:creationId xmlns:a16="http://schemas.microsoft.com/office/drawing/2014/main" id="{208853FF-9748-9DD8-C5D5-CBB86EF4D7AA}"/>
              </a:ext>
            </a:extLst>
          </p:cNvPr>
          <p:cNvSpPr/>
          <p:nvPr/>
        </p:nvSpPr>
        <p:spPr>
          <a:xfrm>
            <a:off x="502920" y="992124"/>
            <a:ext cx="566928" cy="292608"/>
          </a:xfrm>
          <a:prstGeom prst="roundRect">
            <a:avLst>
              <a:gd name="adj" fmla="val 50000"/>
            </a:avLst>
          </a:prstGeom>
          <a:solidFill>
            <a:srgbClr val="5B4B93"/>
          </a:solidFill>
          <a:ln/>
        </p:spPr>
      </p:sp>
      <p:sp>
        <p:nvSpPr>
          <p:cNvPr id="28" name="Text 2">
            <a:extLst>
              <a:ext uri="{FF2B5EF4-FFF2-40B4-BE49-F238E27FC236}">
                <a16:creationId xmlns:a16="http://schemas.microsoft.com/office/drawing/2014/main" id="{9E1FD911-B08D-C1F5-106B-64DFE732F1EF}"/>
              </a:ext>
            </a:extLst>
          </p:cNvPr>
          <p:cNvSpPr/>
          <p:nvPr/>
        </p:nvSpPr>
        <p:spPr>
          <a:xfrm>
            <a:off x="502920" y="992124"/>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01</a:t>
            </a:r>
            <a:endParaRPr lang="en-US" sz="1200" dirty="0"/>
          </a:p>
        </p:txBody>
      </p:sp>
      <p:sp>
        <p:nvSpPr>
          <p:cNvPr id="29" name="Text 3">
            <a:extLst>
              <a:ext uri="{FF2B5EF4-FFF2-40B4-BE49-F238E27FC236}">
                <a16:creationId xmlns:a16="http://schemas.microsoft.com/office/drawing/2014/main" id="{4C42FAAE-3442-050A-7D7E-FAC343B48F6D}"/>
              </a:ext>
            </a:extLst>
          </p:cNvPr>
          <p:cNvSpPr/>
          <p:nvPr/>
        </p:nvSpPr>
        <p:spPr>
          <a:xfrm>
            <a:off x="1188720" y="992124"/>
            <a:ext cx="9601200" cy="292608"/>
          </a:xfrm>
          <a:prstGeom prst="rect">
            <a:avLst/>
          </a:prstGeom>
          <a:noFill/>
          <a:ln/>
        </p:spPr>
        <p:txBody>
          <a:bodyPr wrap="square" rtlCol="0" anchor="ctr"/>
          <a:lstStyle/>
          <a:p>
            <a:pPr marL="0" indent="0">
              <a:buNone/>
            </a:pPr>
            <a:r>
              <a:rPr lang="en-US" sz="1250" b="1" kern="0" spc="120" dirty="0">
                <a:solidFill>
                  <a:srgbClr val="5B4B93"/>
                </a:solidFill>
                <a:latin typeface="Times New Roman" pitchFamily="34" charset="0"/>
                <a:ea typeface="Times New Roman" pitchFamily="34" charset="-122"/>
                <a:cs typeface="Times New Roman" pitchFamily="34" charset="-120"/>
              </a:rPr>
              <a:t>CƠ SỞ LÝ THUYẾT</a:t>
            </a:r>
            <a:endParaRPr lang="en-US" sz="1250" dirty="0"/>
          </a:p>
        </p:txBody>
      </p:sp>
      <p:pic>
        <p:nvPicPr>
          <p:cNvPr id="1026" name="Picture 2" descr="EfficientNet [model architectur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5219040" y="2353051"/>
            <a:ext cx="5990229" cy="2800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347407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7" name="Text 4"/>
          <p:cNvSpPr/>
          <p:nvPr/>
        </p:nvSpPr>
        <p:spPr>
          <a:xfrm>
            <a:off x="502920" y="1368552"/>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Hai kiến trúc CNN được so sánh</a:t>
            </a:r>
            <a:endParaRPr lang="en-US" sz="2500" dirty="0"/>
          </a:p>
        </p:txBody>
      </p:sp>
      <p:sp>
        <p:nvSpPr>
          <p:cNvPr id="9" name="Shape 6"/>
          <p:cNvSpPr/>
          <p:nvPr/>
        </p:nvSpPr>
        <p:spPr>
          <a:xfrm>
            <a:off x="502920" y="1997456"/>
            <a:ext cx="5349240" cy="777240"/>
          </a:xfrm>
          <a:prstGeom prst="roundRect">
            <a:avLst>
              <a:gd name="adj" fmla="val 11765"/>
            </a:avLst>
          </a:prstGeom>
          <a:solidFill>
            <a:srgbClr val="158C94"/>
          </a:solidFill>
          <a:ln/>
        </p:spPr>
      </p:sp>
      <p:sp>
        <p:nvSpPr>
          <p:cNvPr id="10" name="Shape 7"/>
          <p:cNvSpPr/>
          <p:nvPr/>
        </p:nvSpPr>
        <p:spPr>
          <a:xfrm>
            <a:off x="777240" y="2116328"/>
            <a:ext cx="548640" cy="548640"/>
          </a:xfrm>
          <a:prstGeom prst="ellipse">
            <a:avLst/>
          </a:prstGeom>
          <a:solidFill>
            <a:srgbClr val="132A4E"/>
          </a:solidFill>
          <a:ln/>
          <a:effectLst>
            <a:outerShdw blurRad="76200" dist="25400" dir="5400000" algn="bl" rotWithShape="0">
              <a:srgbClr val="1B3760">
                <a:alpha val="18000"/>
              </a:srgbClr>
            </a:outerShdw>
          </a:effectLst>
        </p:spPr>
      </p:sp>
      <p:pic>
        <p:nvPicPr>
          <p:cNvPr id="11" name="Image 1" descr="/home/claude/work/build/microchip_white.png"/>
          <p:cNvPicPr>
            <a:picLocks noChangeAspect="1"/>
          </p:cNvPicPr>
          <p:nvPr/>
        </p:nvPicPr>
        <p:blipFill>
          <a:blip r:embed="rId3"/>
          <a:stretch>
            <a:fillRect/>
          </a:stretch>
        </p:blipFill>
        <p:spPr>
          <a:xfrm>
            <a:off x="905256" y="2244344"/>
            <a:ext cx="292608" cy="292608"/>
          </a:xfrm>
          <a:prstGeom prst="rect">
            <a:avLst/>
          </a:prstGeom>
        </p:spPr>
      </p:pic>
      <p:sp>
        <p:nvSpPr>
          <p:cNvPr id="12" name="Text 8"/>
          <p:cNvSpPr/>
          <p:nvPr/>
        </p:nvSpPr>
        <p:spPr>
          <a:xfrm>
            <a:off x="1463040" y="2116328"/>
            <a:ext cx="3611880" cy="548640"/>
          </a:xfrm>
          <a:prstGeom prst="rect">
            <a:avLst/>
          </a:prstGeom>
          <a:noFill/>
          <a:ln/>
        </p:spPr>
        <p:txBody>
          <a:bodyPr wrap="square" rtlCol="0" anchor="ctr"/>
          <a:lstStyle/>
          <a:p>
            <a:pPr marL="0" indent="0">
              <a:buNone/>
            </a:pPr>
            <a:r>
              <a:rPr lang="en-US" sz="1800" b="1" dirty="0">
                <a:solidFill>
                  <a:srgbClr val="FFFFFF"/>
                </a:solidFill>
                <a:latin typeface="Times New Roman" pitchFamily="34" charset="0"/>
                <a:ea typeface="Times New Roman" pitchFamily="34" charset="-122"/>
                <a:cs typeface="Times New Roman" pitchFamily="34" charset="-120"/>
              </a:rPr>
              <a:t>EfficientNetB0</a:t>
            </a:r>
            <a:endParaRPr lang="en-US" sz="1800" dirty="0"/>
          </a:p>
        </p:txBody>
      </p:sp>
      <p:sp>
        <p:nvSpPr>
          <p:cNvPr id="26" name="Shape 21"/>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27" name="Text 22"/>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07</a:t>
            </a:r>
            <a:endParaRPr lang="en-US" sz="1000" dirty="0"/>
          </a:p>
        </p:txBody>
      </p:sp>
      <p:sp>
        <p:nvSpPr>
          <p:cNvPr id="2" name="Shape 1">
            <a:extLst>
              <a:ext uri="{FF2B5EF4-FFF2-40B4-BE49-F238E27FC236}">
                <a16:creationId xmlns:a16="http://schemas.microsoft.com/office/drawing/2014/main" id="{208853FF-9748-9DD8-C5D5-CBB86EF4D7AA}"/>
              </a:ext>
            </a:extLst>
          </p:cNvPr>
          <p:cNvSpPr/>
          <p:nvPr/>
        </p:nvSpPr>
        <p:spPr>
          <a:xfrm>
            <a:off x="502920" y="992124"/>
            <a:ext cx="566928" cy="292608"/>
          </a:xfrm>
          <a:prstGeom prst="roundRect">
            <a:avLst>
              <a:gd name="adj" fmla="val 50000"/>
            </a:avLst>
          </a:prstGeom>
          <a:solidFill>
            <a:srgbClr val="5B4B93"/>
          </a:solidFill>
          <a:ln/>
        </p:spPr>
      </p:sp>
      <p:sp>
        <p:nvSpPr>
          <p:cNvPr id="28" name="Text 2">
            <a:extLst>
              <a:ext uri="{FF2B5EF4-FFF2-40B4-BE49-F238E27FC236}">
                <a16:creationId xmlns:a16="http://schemas.microsoft.com/office/drawing/2014/main" id="{9E1FD911-B08D-C1F5-106B-64DFE732F1EF}"/>
              </a:ext>
            </a:extLst>
          </p:cNvPr>
          <p:cNvSpPr/>
          <p:nvPr/>
        </p:nvSpPr>
        <p:spPr>
          <a:xfrm>
            <a:off x="502920" y="992124"/>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01</a:t>
            </a:r>
            <a:endParaRPr lang="en-US" sz="1200" dirty="0"/>
          </a:p>
        </p:txBody>
      </p:sp>
      <p:sp>
        <p:nvSpPr>
          <p:cNvPr id="29" name="Text 3">
            <a:extLst>
              <a:ext uri="{FF2B5EF4-FFF2-40B4-BE49-F238E27FC236}">
                <a16:creationId xmlns:a16="http://schemas.microsoft.com/office/drawing/2014/main" id="{4C42FAAE-3442-050A-7D7E-FAC343B48F6D}"/>
              </a:ext>
            </a:extLst>
          </p:cNvPr>
          <p:cNvSpPr/>
          <p:nvPr/>
        </p:nvSpPr>
        <p:spPr>
          <a:xfrm>
            <a:off x="1188720" y="992124"/>
            <a:ext cx="9601200" cy="292608"/>
          </a:xfrm>
          <a:prstGeom prst="rect">
            <a:avLst/>
          </a:prstGeom>
          <a:noFill/>
          <a:ln/>
        </p:spPr>
        <p:txBody>
          <a:bodyPr wrap="square" rtlCol="0" anchor="ctr"/>
          <a:lstStyle/>
          <a:p>
            <a:pPr marL="0" indent="0">
              <a:buNone/>
            </a:pPr>
            <a:r>
              <a:rPr lang="en-US" sz="1250" b="1" kern="0" spc="120" dirty="0">
                <a:solidFill>
                  <a:srgbClr val="5B4B93"/>
                </a:solidFill>
                <a:latin typeface="Times New Roman" pitchFamily="34" charset="0"/>
                <a:ea typeface="Times New Roman" pitchFamily="34" charset="-122"/>
                <a:cs typeface="Times New Roman" pitchFamily="34" charset="-120"/>
              </a:rPr>
              <a:t>CƠ SỞ LÝ THUYẾT</a:t>
            </a:r>
            <a:endParaRPr lang="en-US" sz="1250" dirty="0"/>
          </a:p>
        </p:txBody>
      </p:sp>
      <p:sp>
        <p:nvSpPr>
          <p:cNvPr id="4" name="Rectangle 3"/>
          <p:cNvSpPr/>
          <p:nvPr/>
        </p:nvSpPr>
        <p:spPr>
          <a:xfrm>
            <a:off x="7343283" y="2213473"/>
            <a:ext cx="2582758" cy="369332"/>
          </a:xfrm>
          <a:prstGeom prst="rect">
            <a:avLst/>
          </a:prstGeom>
        </p:spPr>
        <p:txBody>
          <a:bodyPr wrap="none">
            <a:spAutoFit/>
          </a:bodyPr>
          <a:lstStyle/>
          <a:p>
            <a:r>
              <a:rPr lang="vi-VN" dirty="0">
                <a:latin typeface="+mj-lt"/>
              </a:rPr>
              <a:t>Sơ đồ kiến trúc theo stage</a:t>
            </a:r>
            <a:endParaRPr lang="en-US" dirty="0">
              <a:latin typeface="+mj-lt"/>
            </a:endParaRPr>
          </a:p>
        </p:txBody>
      </p:sp>
      <p:graphicFrame>
        <p:nvGraphicFramePr>
          <p:cNvPr id="5" name="Table 4"/>
          <p:cNvGraphicFramePr>
            <a:graphicFrameLocks noGrp="1"/>
          </p:cNvGraphicFramePr>
          <p:nvPr>
            <p:extLst>
              <p:ext uri="{D42A27DB-BD31-4B8C-83A1-F6EECF244321}">
                <p14:modId xmlns:p14="http://schemas.microsoft.com/office/powerpoint/2010/main" val="1880601250"/>
              </p:ext>
            </p:extLst>
          </p:nvPr>
        </p:nvGraphicFramePr>
        <p:xfrm>
          <a:off x="957724" y="2766278"/>
          <a:ext cx="10276552" cy="4059240"/>
        </p:xfrm>
        <a:graphic>
          <a:graphicData uri="http://schemas.openxmlformats.org/drawingml/2006/table">
            <a:tbl>
              <a:tblPr/>
              <a:tblGrid>
                <a:gridCol w="1284569">
                  <a:extLst>
                    <a:ext uri="{9D8B030D-6E8A-4147-A177-3AD203B41FA5}">
                      <a16:colId xmlns:a16="http://schemas.microsoft.com/office/drawing/2014/main" val="3052603627"/>
                    </a:ext>
                  </a:extLst>
                </a:gridCol>
                <a:gridCol w="1284569">
                  <a:extLst>
                    <a:ext uri="{9D8B030D-6E8A-4147-A177-3AD203B41FA5}">
                      <a16:colId xmlns:a16="http://schemas.microsoft.com/office/drawing/2014/main" val="2886957623"/>
                    </a:ext>
                  </a:extLst>
                </a:gridCol>
                <a:gridCol w="1284569">
                  <a:extLst>
                    <a:ext uri="{9D8B030D-6E8A-4147-A177-3AD203B41FA5}">
                      <a16:colId xmlns:a16="http://schemas.microsoft.com/office/drawing/2014/main" val="2567036563"/>
                    </a:ext>
                  </a:extLst>
                </a:gridCol>
                <a:gridCol w="1284569">
                  <a:extLst>
                    <a:ext uri="{9D8B030D-6E8A-4147-A177-3AD203B41FA5}">
                      <a16:colId xmlns:a16="http://schemas.microsoft.com/office/drawing/2014/main" val="2217544777"/>
                    </a:ext>
                  </a:extLst>
                </a:gridCol>
                <a:gridCol w="1284569">
                  <a:extLst>
                    <a:ext uri="{9D8B030D-6E8A-4147-A177-3AD203B41FA5}">
                      <a16:colId xmlns:a16="http://schemas.microsoft.com/office/drawing/2014/main" val="969083996"/>
                    </a:ext>
                  </a:extLst>
                </a:gridCol>
                <a:gridCol w="1284569">
                  <a:extLst>
                    <a:ext uri="{9D8B030D-6E8A-4147-A177-3AD203B41FA5}">
                      <a16:colId xmlns:a16="http://schemas.microsoft.com/office/drawing/2014/main" val="3092176890"/>
                    </a:ext>
                  </a:extLst>
                </a:gridCol>
                <a:gridCol w="1284569">
                  <a:extLst>
                    <a:ext uri="{9D8B030D-6E8A-4147-A177-3AD203B41FA5}">
                      <a16:colId xmlns:a16="http://schemas.microsoft.com/office/drawing/2014/main" val="1557338487"/>
                    </a:ext>
                  </a:extLst>
                </a:gridCol>
                <a:gridCol w="1284569">
                  <a:extLst>
                    <a:ext uri="{9D8B030D-6E8A-4147-A177-3AD203B41FA5}">
                      <a16:colId xmlns:a16="http://schemas.microsoft.com/office/drawing/2014/main" val="461925088"/>
                    </a:ext>
                  </a:extLst>
                </a:gridCol>
              </a:tblGrid>
              <a:tr h="499436">
                <a:tc>
                  <a:txBody>
                    <a:bodyPr/>
                    <a:lstStyle/>
                    <a:p>
                      <a:pPr algn="ctr"/>
                      <a:r>
                        <a:rPr lang="en-US" sz="1800" dirty="0">
                          <a:solidFill>
                            <a:schemeClr val="bg1"/>
                          </a:solidFill>
                          <a:effectLst/>
                          <a:latin typeface="Times New Roman" panose="02020603050405020304" pitchFamily="18" charset="0"/>
                          <a:cs typeface="Times New Roman" panose="02020603050405020304" pitchFamily="18" charset="0"/>
                        </a:rPr>
                        <a:t>Stage</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58C94"/>
                    </a:solidFill>
                  </a:tcPr>
                </a:tc>
                <a:tc>
                  <a:txBody>
                    <a:bodyPr/>
                    <a:lstStyle/>
                    <a:p>
                      <a:pPr algn="ctr"/>
                      <a:r>
                        <a:rPr lang="en-US" sz="1800" dirty="0">
                          <a:solidFill>
                            <a:schemeClr val="bg1"/>
                          </a:solidFill>
                          <a:effectLst/>
                          <a:latin typeface="Times New Roman" panose="02020603050405020304" pitchFamily="18" charset="0"/>
                          <a:cs typeface="Times New Roman" panose="02020603050405020304" pitchFamily="18" charset="0"/>
                        </a:rPr>
                        <a:t>Operator</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58C94"/>
                    </a:solidFill>
                  </a:tcPr>
                </a:tc>
                <a:tc>
                  <a:txBody>
                    <a:bodyPr/>
                    <a:lstStyle/>
                    <a:p>
                      <a:pPr algn="ctr"/>
                      <a:r>
                        <a:rPr lang="en-US" sz="1800" dirty="0">
                          <a:solidFill>
                            <a:schemeClr val="bg1"/>
                          </a:solidFill>
                          <a:effectLst/>
                          <a:latin typeface="Times New Roman" panose="02020603050405020304" pitchFamily="18" charset="0"/>
                          <a:cs typeface="Times New Roman" panose="02020603050405020304" pitchFamily="18" charset="0"/>
                        </a:rPr>
                        <a:t>Repeats</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58C94"/>
                    </a:solidFill>
                  </a:tcPr>
                </a:tc>
                <a:tc>
                  <a:txBody>
                    <a:bodyPr/>
                    <a:lstStyle/>
                    <a:p>
                      <a:pPr algn="ctr"/>
                      <a:r>
                        <a:rPr lang="en-US" sz="1800" dirty="0">
                          <a:solidFill>
                            <a:schemeClr val="bg1"/>
                          </a:solidFill>
                          <a:effectLst/>
                          <a:latin typeface="Times New Roman" panose="02020603050405020304" pitchFamily="18" charset="0"/>
                          <a:cs typeface="Times New Roman" panose="02020603050405020304" pitchFamily="18" charset="0"/>
                        </a:rPr>
                        <a:t>Kernel</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58C94"/>
                    </a:solidFill>
                  </a:tcPr>
                </a:tc>
                <a:tc>
                  <a:txBody>
                    <a:bodyPr/>
                    <a:lstStyle/>
                    <a:p>
                      <a:pPr algn="ctr"/>
                      <a:r>
                        <a:rPr lang="en-US" sz="1800" dirty="0">
                          <a:solidFill>
                            <a:schemeClr val="bg1"/>
                          </a:solidFill>
                          <a:effectLst/>
                          <a:latin typeface="Times New Roman" panose="02020603050405020304" pitchFamily="18" charset="0"/>
                          <a:cs typeface="Times New Roman" panose="02020603050405020304" pitchFamily="18" charset="0"/>
                        </a:rPr>
                        <a:t>Stride</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58C94"/>
                    </a:solidFill>
                  </a:tcPr>
                </a:tc>
                <a:tc>
                  <a:txBody>
                    <a:bodyPr/>
                    <a:lstStyle/>
                    <a:p>
                      <a:pPr algn="ctr"/>
                      <a:r>
                        <a:rPr lang="en-US" sz="1800" dirty="0">
                          <a:solidFill>
                            <a:schemeClr val="bg1"/>
                          </a:solidFill>
                          <a:effectLst/>
                          <a:latin typeface="Times New Roman" panose="02020603050405020304" pitchFamily="18" charset="0"/>
                          <a:cs typeface="Times New Roman" panose="02020603050405020304" pitchFamily="18" charset="0"/>
                        </a:rPr>
                        <a:t>In channels</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58C94"/>
                    </a:solidFill>
                  </a:tcPr>
                </a:tc>
                <a:tc>
                  <a:txBody>
                    <a:bodyPr/>
                    <a:lstStyle/>
                    <a:p>
                      <a:pPr algn="ctr"/>
                      <a:r>
                        <a:rPr lang="en-US" sz="1800" dirty="0">
                          <a:solidFill>
                            <a:schemeClr val="bg1"/>
                          </a:solidFill>
                          <a:effectLst/>
                          <a:latin typeface="Times New Roman" panose="02020603050405020304" pitchFamily="18" charset="0"/>
                          <a:cs typeface="Times New Roman" panose="02020603050405020304" pitchFamily="18" charset="0"/>
                        </a:rPr>
                        <a:t>Out channels</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58C94"/>
                    </a:solidFill>
                  </a:tcPr>
                </a:tc>
                <a:tc>
                  <a:txBody>
                    <a:bodyPr/>
                    <a:lstStyle/>
                    <a:p>
                      <a:pPr algn="ctr"/>
                      <a:r>
                        <a:rPr lang="en-US" sz="1800" dirty="0">
                          <a:solidFill>
                            <a:schemeClr val="bg1"/>
                          </a:solidFill>
                          <a:effectLst/>
                          <a:latin typeface="Times New Roman" panose="02020603050405020304" pitchFamily="18" charset="0"/>
                          <a:cs typeface="Times New Roman" panose="02020603050405020304" pitchFamily="18" charset="0"/>
                        </a:rPr>
                        <a:t>Expansion</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158C94"/>
                    </a:solidFill>
                  </a:tcPr>
                </a:tc>
                <a:extLst>
                  <a:ext uri="{0D108BD9-81ED-4DB2-BD59-A6C34878D82A}">
                    <a16:rowId xmlns:a16="http://schemas.microsoft.com/office/drawing/2014/main" val="1296601570"/>
                  </a:ext>
                </a:extLst>
              </a:tr>
              <a:tr h="336780">
                <a:tc>
                  <a:txBody>
                    <a:bodyPr/>
                    <a:lstStyle/>
                    <a:p>
                      <a:pPr algn="ctr"/>
                      <a:r>
                        <a:rPr lang="en-US" sz="1400">
                          <a:effectLst/>
                          <a:latin typeface="Times New Roman" panose="02020603050405020304" pitchFamily="18" charset="0"/>
                          <a:cs typeface="Times New Roman" panose="02020603050405020304" pitchFamily="18" charset="0"/>
                        </a:rPr>
                        <a:t>Stem</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Conv2D</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400" dirty="0">
                          <a:effectLst/>
                          <a:latin typeface="Times New Roman" panose="02020603050405020304" pitchFamily="18" charset="0"/>
                          <a:cs typeface="Times New Roman" panose="02020603050405020304" pitchFamily="18" charset="0"/>
                        </a:rPr>
                        <a:t>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dirty="0">
                          <a:effectLst/>
                          <a:latin typeface="Times New Roman" panose="02020603050405020304" pitchFamily="18" charset="0"/>
                          <a:cs typeface="Times New Roman" panose="02020603050405020304" pitchFamily="18" charset="0"/>
                        </a:rPr>
                        <a:t>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dirty="0">
                          <a:effectLst/>
                          <a:latin typeface="Times New Roman" panose="02020603050405020304" pitchFamily="18" charset="0"/>
                          <a:cs typeface="Times New Roman" panose="02020603050405020304" pitchFamily="18" charset="0"/>
                        </a:rPr>
                        <a:t>32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dirty="0">
                          <a:effectLst/>
                          <a:latin typeface="Times New Roman" panose="02020603050405020304" pitchFamily="18" charset="0"/>
                          <a:cs typeface="Times New Roman" panose="02020603050405020304" pitchFamily="18" charset="0"/>
                        </a:rPr>
                        <a:t>-</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973598281"/>
                  </a:ext>
                </a:extLst>
              </a:tr>
              <a:tr h="336780">
                <a:tc>
                  <a:txBody>
                    <a:bodyPr/>
                    <a:lstStyle/>
                    <a:p>
                      <a:pPr algn="ctr"/>
                      <a:r>
                        <a:rPr lang="en-US" sz="140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MBConv1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40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887206281"/>
                  </a:ext>
                </a:extLst>
              </a:tr>
              <a:tr h="336780">
                <a:tc>
                  <a:txBody>
                    <a:bodyPr/>
                    <a:lstStyle/>
                    <a:p>
                      <a:pPr algn="ctr"/>
                      <a:r>
                        <a:rPr lang="en-US" sz="1400">
                          <a:effectLst/>
                          <a:latin typeface="Times New Roman" panose="02020603050405020304" pitchFamily="18" charset="0"/>
                          <a:cs typeface="Times New Roman" panose="02020603050405020304" pitchFamily="18" charset="0"/>
                        </a:rPr>
                        <a:t>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MBConv6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400" dirty="0">
                          <a:effectLst/>
                          <a:latin typeface="Times New Roman" panose="02020603050405020304" pitchFamily="18" charset="0"/>
                          <a:cs typeface="Times New Roman" panose="02020603050405020304" pitchFamily="18" charset="0"/>
                        </a:rPr>
                        <a:t>2 → 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24</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701788366"/>
                  </a:ext>
                </a:extLst>
              </a:tr>
              <a:tr h="336780">
                <a:tc>
                  <a:txBody>
                    <a:bodyPr/>
                    <a:lstStyle/>
                    <a:p>
                      <a:pPr algn="ctr"/>
                      <a:r>
                        <a:rPr lang="en-US" sz="1400">
                          <a:effectLst/>
                          <a:latin typeface="Times New Roman" panose="02020603050405020304" pitchFamily="18" charset="0"/>
                          <a:cs typeface="Times New Roman" panose="02020603050405020304" pitchFamily="18" charset="0"/>
                        </a:rPr>
                        <a:t>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MBConv6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5×5</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400" dirty="0">
                          <a:effectLst/>
                          <a:latin typeface="Times New Roman" panose="02020603050405020304" pitchFamily="18" charset="0"/>
                          <a:cs typeface="Times New Roman" panose="02020603050405020304" pitchFamily="18" charset="0"/>
                        </a:rPr>
                        <a:t>2 → 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24</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40</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4179234196"/>
                  </a:ext>
                </a:extLst>
              </a:tr>
              <a:tr h="336780">
                <a:tc>
                  <a:txBody>
                    <a:bodyPr/>
                    <a:lstStyle/>
                    <a:p>
                      <a:pPr algn="ctr"/>
                      <a:r>
                        <a:rPr lang="en-US" sz="1400">
                          <a:effectLst/>
                          <a:latin typeface="Times New Roman" panose="02020603050405020304" pitchFamily="18" charset="0"/>
                          <a:cs typeface="Times New Roman" panose="02020603050405020304" pitchFamily="18" charset="0"/>
                        </a:rPr>
                        <a:t>4</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MBConv6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400" dirty="0">
                          <a:effectLst/>
                          <a:latin typeface="Times New Roman" panose="02020603050405020304" pitchFamily="18" charset="0"/>
                          <a:cs typeface="Times New Roman" panose="02020603050405020304" pitchFamily="18" charset="0"/>
                        </a:rPr>
                        <a:t>2 → 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40</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80</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65819169"/>
                  </a:ext>
                </a:extLst>
              </a:tr>
              <a:tr h="336780">
                <a:tc>
                  <a:txBody>
                    <a:bodyPr/>
                    <a:lstStyle/>
                    <a:p>
                      <a:pPr algn="ctr"/>
                      <a:r>
                        <a:rPr lang="en-US" sz="1400">
                          <a:effectLst/>
                          <a:latin typeface="Times New Roman" panose="02020603050405020304" pitchFamily="18" charset="0"/>
                          <a:cs typeface="Times New Roman" panose="02020603050405020304" pitchFamily="18" charset="0"/>
                        </a:rPr>
                        <a:t>5</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MBConv6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5×5</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400" dirty="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80</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112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2566092686"/>
                  </a:ext>
                </a:extLst>
              </a:tr>
              <a:tr h="336780">
                <a:tc>
                  <a:txBody>
                    <a:bodyPr/>
                    <a:lstStyle/>
                    <a:p>
                      <a:pPr algn="ctr"/>
                      <a:r>
                        <a:rPr lang="en-US" sz="1400">
                          <a:effectLst/>
                          <a:latin typeface="Times New Roman" panose="02020603050405020304" pitchFamily="18" charset="0"/>
                          <a:cs typeface="Times New Roman" panose="02020603050405020304" pitchFamily="18" charset="0"/>
                        </a:rPr>
                        <a:t>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MBConv6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4</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5×5</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400" dirty="0">
                          <a:effectLst/>
                          <a:latin typeface="Times New Roman" panose="02020603050405020304" pitchFamily="18" charset="0"/>
                          <a:cs typeface="Times New Roman" panose="02020603050405020304" pitchFamily="18" charset="0"/>
                        </a:rPr>
                        <a:t>2 → 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112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192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1158317951"/>
                  </a:ext>
                </a:extLst>
              </a:tr>
              <a:tr h="336780">
                <a:tc>
                  <a:txBody>
                    <a:bodyPr/>
                    <a:lstStyle/>
                    <a:p>
                      <a:pPr algn="ctr"/>
                      <a:r>
                        <a:rPr lang="en-US" sz="1400">
                          <a:effectLst/>
                          <a:latin typeface="Times New Roman" panose="02020603050405020304" pitchFamily="18" charset="0"/>
                          <a:cs typeface="Times New Roman" panose="02020603050405020304" pitchFamily="18" charset="0"/>
                        </a:rPr>
                        <a:t>7</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MBConv6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3×3</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r>
                        <a:rPr lang="en-US" sz="1400" dirty="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192</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320</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6</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264810207"/>
                  </a:ext>
                </a:extLst>
              </a:tr>
              <a:tr h="552015">
                <a:tc>
                  <a:txBody>
                    <a:bodyPr/>
                    <a:lstStyle/>
                    <a:p>
                      <a:pPr algn="ctr"/>
                      <a:r>
                        <a:rPr lang="en-US" sz="1400">
                          <a:effectLst/>
                          <a:latin typeface="Times New Roman" panose="02020603050405020304" pitchFamily="18" charset="0"/>
                          <a:cs typeface="Times New Roman" panose="02020603050405020304" pitchFamily="18" charset="0"/>
                        </a:rPr>
                        <a:t>Head</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Conv1×1 + Pool + FC</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1×1</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l"/>
                      <a:endParaRPr lang="en-US" sz="1400" dirty="0">
                        <a:effectLst/>
                        <a:latin typeface="Times New Roman" panose="02020603050405020304" pitchFamily="18" charset="0"/>
                        <a:cs typeface="Times New Roman" panose="02020603050405020304" pitchFamily="18" charset="0"/>
                      </a:endParaRP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320</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a:effectLst/>
                          <a:latin typeface="Times New Roman" panose="02020603050405020304" pitchFamily="18" charset="0"/>
                          <a:cs typeface="Times New Roman" panose="02020603050405020304" pitchFamily="18" charset="0"/>
                        </a:rPr>
                        <a:t>1280</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tc>
                  <a:txBody>
                    <a:bodyPr/>
                    <a:lstStyle/>
                    <a:p>
                      <a:pPr algn="ctr"/>
                      <a:r>
                        <a:rPr lang="en-US" sz="1400" dirty="0">
                          <a:effectLst/>
                          <a:latin typeface="Times New Roman" panose="02020603050405020304" pitchFamily="18" charset="0"/>
                          <a:cs typeface="Times New Roman" panose="02020603050405020304" pitchFamily="18" charset="0"/>
                        </a:rPr>
                        <a:t>-</a:t>
                      </a:r>
                    </a:p>
                  </a:txBody>
                  <a:tcPr marL="68850" marR="68850" marT="68850" marB="68850"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tcPr>
                </a:tc>
                <a:extLst>
                  <a:ext uri="{0D108BD9-81ED-4DB2-BD59-A6C34878D82A}">
                    <a16:rowId xmlns:a16="http://schemas.microsoft.com/office/drawing/2014/main" val="3651956943"/>
                  </a:ext>
                </a:extLst>
              </a:tr>
            </a:tbl>
          </a:graphicData>
        </a:graphic>
      </p:graphicFrame>
    </p:spTree>
    <p:extLst>
      <p:ext uri="{BB962C8B-B14F-4D97-AF65-F5344CB8AC3E}">
        <p14:creationId xmlns:p14="http://schemas.microsoft.com/office/powerpoint/2010/main" val="22504854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7" name="Text 4"/>
          <p:cNvSpPr/>
          <p:nvPr/>
        </p:nvSpPr>
        <p:spPr>
          <a:xfrm>
            <a:off x="502920" y="1368552"/>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Hai kiến trúc CNN được so sánh</a:t>
            </a:r>
            <a:endParaRPr lang="en-US" sz="2500" dirty="0"/>
          </a:p>
        </p:txBody>
      </p:sp>
      <p:sp>
        <p:nvSpPr>
          <p:cNvPr id="17" name="Shape 13"/>
          <p:cNvSpPr/>
          <p:nvPr/>
        </p:nvSpPr>
        <p:spPr>
          <a:xfrm>
            <a:off x="6309360" y="1997456"/>
            <a:ext cx="5349240" cy="3196481"/>
          </a:xfrm>
          <a:prstGeom prst="roundRect">
            <a:avLst>
              <a:gd name="adj" fmla="val 1923"/>
            </a:avLst>
          </a:prstGeom>
          <a:solidFill>
            <a:srgbClr val="FFFFFF"/>
          </a:solidFill>
          <a:ln w="19050">
            <a:solidFill>
              <a:srgbClr val="D8432E"/>
            </a:solidFill>
            <a:prstDash val="solid"/>
          </a:ln>
          <a:effectLst>
            <a:outerShdw blurRad="101600" dist="25400" dir="5400000" algn="bl" rotWithShape="0">
              <a:srgbClr val="1B3760">
                <a:alpha val="10000"/>
              </a:srgbClr>
            </a:outerShdw>
          </a:effectLst>
        </p:spPr>
      </p:sp>
      <p:sp>
        <p:nvSpPr>
          <p:cNvPr id="18" name="Shape 14"/>
          <p:cNvSpPr/>
          <p:nvPr/>
        </p:nvSpPr>
        <p:spPr>
          <a:xfrm>
            <a:off x="6309360" y="1997456"/>
            <a:ext cx="5349240" cy="777240"/>
          </a:xfrm>
          <a:prstGeom prst="roundRect">
            <a:avLst>
              <a:gd name="adj" fmla="val 11765"/>
            </a:avLst>
          </a:prstGeom>
          <a:solidFill>
            <a:srgbClr val="D8432E"/>
          </a:solidFill>
          <a:ln/>
        </p:spPr>
      </p:sp>
      <p:sp>
        <p:nvSpPr>
          <p:cNvPr id="19" name="Shape 15"/>
          <p:cNvSpPr/>
          <p:nvPr/>
        </p:nvSpPr>
        <p:spPr>
          <a:xfrm>
            <a:off x="6583680" y="2116328"/>
            <a:ext cx="548640" cy="548640"/>
          </a:xfrm>
          <a:prstGeom prst="ellipse">
            <a:avLst/>
          </a:prstGeom>
          <a:solidFill>
            <a:srgbClr val="132A4E"/>
          </a:solidFill>
          <a:ln/>
          <a:effectLst>
            <a:outerShdw blurRad="76200" dist="25400" dir="5400000" algn="bl" rotWithShape="0">
              <a:srgbClr val="1B3760">
                <a:alpha val="18000"/>
              </a:srgbClr>
            </a:outerShdw>
          </a:effectLst>
        </p:spPr>
      </p:sp>
      <p:pic>
        <p:nvPicPr>
          <p:cNvPr id="20" name="Image 2" descr="/home/claude/work/build/network_white.png"/>
          <p:cNvPicPr>
            <a:picLocks noChangeAspect="1"/>
          </p:cNvPicPr>
          <p:nvPr/>
        </p:nvPicPr>
        <p:blipFill>
          <a:blip r:embed="rId3"/>
          <a:stretch>
            <a:fillRect/>
          </a:stretch>
        </p:blipFill>
        <p:spPr>
          <a:xfrm>
            <a:off x="6711696" y="2244344"/>
            <a:ext cx="292608" cy="292608"/>
          </a:xfrm>
          <a:prstGeom prst="rect">
            <a:avLst/>
          </a:prstGeom>
        </p:spPr>
      </p:pic>
      <p:sp>
        <p:nvSpPr>
          <p:cNvPr id="21" name="Text 16"/>
          <p:cNvSpPr/>
          <p:nvPr/>
        </p:nvSpPr>
        <p:spPr>
          <a:xfrm>
            <a:off x="7269480" y="2116328"/>
            <a:ext cx="3611880" cy="548640"/>
          </a:xfrm>
          <a:prstGeom prst="rect">
            <a:avLst/>
          </a:prstGeom>
          <a:noFill/>
          <a:ln/>
        </p:spPr>
        <p:txBody>
          <a:bodyPr wrap="square" rtlCol="0" anchor="ctr"/>
          <a:lstStyle/>
          <a:p>
            <a:pPr marL="0" indent="0">
              <a:buNone/>
            </a:pPr>
            <a:r>
              <a:rPr lang="en-US" sz="1800" b="1" dirty="0">
                <a:solidFill>
                  <a:srgbClr val="FFFFFF"/>
                </a:solidFill>
                <a:latin typeface="Times New Roman" pitchFamily="34" charset="0"/>
                <a:ea typeface="Times New Roman" pitchFamily="34" charset="-122"/>
                <a:cs typeface="Times New Roman" pitchFamily="34" charset="-120"/>
              </a:rPr>
              <a:t>DenseNet121</a:t>
            </a:r>
            <a:endParaRPr lang="en-US" sz="1800" dirty="0"/>
          </a:p>
        </p:txBody>
      </p:sp>
      <p:sp>
        <p:nvSpPr>
          <p:cNvPr id="22" name="Text 17"/>
          <p:cNvSpPr/>
          <p:nvPr/>
        </p:nvSpPr>
        <p:spPr>
          <a:xfrm>
            <a:off x="6583680" y="2911856"/>
            <a:ext cx="4800600" cy="274320"/>
          </a:xfrm>
          <a:prstGeom prst="rect">
            <a:avLst/>
          </a:prstGeom>
          <a:noFill/>
          <a:ln/>
        </p:spPr>
        <p:txBody>
          <a:bodyPr wrap="square" rtlCol="0" anchor="ctr"/>
          <a:lstStyle/>
          <a:p>
            <a:pPr marL="0" indent="0">
              <a:buNone/>
            </a:pPr>
            <a:r>
              <a:rPr lang="en-US" sz="1100" i="1" dirty="0">
                <a:solidFill>
                  <a:srgbClr val="5B6472"/>
                </a:solidFill>
                <a:latin typeface="Times New Roman" pitchFamily="34" charset="0"/>
                <a:ea typeface="Times New Roman" pitchFamily="34" charset="-122"/>
                <a:cs typeface="Times New Roman" pitchFamily="34" charset="-120"/>
              </a:rPr>
              <a:t>Huang et al., 2017</a:t>
            </a:r>
            <a:endParaRPr lang="en-US" sz="1100" dirty="0"/>
          </a:p>
        </p:txBody>
      </p:sp>
      <p:sp>
        <p:nvSpPr>
          <p:cNvPr id="23" name="Text 18"/>
          <p:cNvSpPr/>
          <p:nvPr/>
        </p:nvSpPr>
        <p:spPr>
          <a:xfrm>
            <a:off x="6583680" y="3277616"/>
            <a:ext cx="4800600" cy="2468880"/>
          </a:xfrm>
          <a:prstGeom prst="rect">
            <a:avLst/>
          </a:prstGeom>
          <a:noFill/>
          <a:ln/>
        </p:spPr>
        <p:txBody>
          <a:bodyPr wrap="square" rtlCol="0" anchor="t"/>
          <a:lstStyle/>
          <a:p>
            <a:pPr marL="0" indent="0">
              <a:lnSpc>
                <a:spcPct val="128000"/>
              </a:lnSpc>
              <a:buNone/>
            </a:pPr>
            <a:r>
              <a:rPr lang="en-US" sz="1300" dirty="0">
                <a:solidFill>
                  <a:srgbClr val="1C2430"/>
                </a:solidFill>
                <a:latin typeface="Times New Roman" pitchFamily="34" charset="0"/>
                <a:ea typeface="Times New Roman" pitchFamily="34" charset="-122"/>
                <a:cs typeface="Times New Roman" pitchFamily="34" charset="-120"/>
              </a:rPr>
              <a:t>Mỗi lớp được kết nối trực tiếp với tất cả các lớp phía sau (dense connectivity) theo kiểu feed-forward dày đặc, tăng cường lan truyền đặc trưng và giảm vanishing gradient.</a:t>
            </a:r>
            <a:endParaRPr lang="en-US" sz="1300" dirty="0"/>
          </a:p>
          <a:p>
            <a:pPr marL="0" indent="0">
              <a:lnSpc>
                <a:spcPct val="128000"/>
              </a:lnSpc>
              <a:buNone/>
            </a:pPr>
            <a:endParaRPr lang="en-US" sz="1300" dirty="0"/>
          </a:p>
          <a:p>
            <a:pPr marL="0" indent="0">
              <a:lnSpc>
                <a:spcPct val="128000"/>
              </a:lnSpc>
              <a:buNone/>
            </a:pPr>
            <a:r>
              <a:rPr lang="en-US" sz="1300" dirty="0">
                <a:solidFill>
                  <a:srgbClr val="1C2430"/>
                </a:solidFill>
                <a:latin typeface="Times New Roman" pitchFamily="34" charset="0"/>
                <a:ea typeface="Times New Roman" pitchFamily="34" charset="-122"/>
                <a:cs typeface="Times New Roman" pitchFamily="34" charset="-120"/>
              </a:rPr>
              <a:t>Dùng làm mô hình đối chiếu (benchmark), được đánh giá cao trong ảnh y tế nhờ khả năng trích xuất đặc trưng chi tiết.</a:t>
            </a:r>
            <a:endParaRPr lang="en-US" sz="1300" dirty="0"/>
          </a:p>
        </p:txBody>
      </p:sp>
      <p:sp>
        <p:nvSpPr>
          <p:cNvPr id="24" name="Shape 19"/>
          <p:cNvSpPr/>
          <p:nvPr/>
        </p:nvSpPr>
        <p:spPr>
          <a:xfrm>
            <a:off x="6583680" y="5400329"/>
            <a:ext cx="4800600" cy="640080"/>
          </a:xfrm>
          <a:prstGeom prst="roundRect">
            <a:avLst>
              <a:gd name="adj" fmla="val 14286"/>
            </a:avLst>
          </a:prstGeom>
          <a:solidFill>
            <a:srgbClr val="FBEAE7"/>
          </a:solidFill>
          <a:ln/>
          <a:effectLst>
            <a:outerShdw blurRad="101600" dist="25400" dir="5400000" algn="bl" rotWithShape="0">
              <a:srgbClr val="1B3760">
                <a:alpha val="10000"/>
              </a:srgbClr>
            </a:outerShdw>
          </a:effectLst>
        </p:spPr>
      </p:sp>
      <p:sp>
        <p:nvSpPr>
          <p:cNvPr id="25" name="Text 20"/>
          <p:cNvSpPr/>
          <p:nvPr/>
        </p:nvSpPr>
        <p:spPr>
          <a:xfrm>
            <a:off x="6766560" y="5491769"/>
            <a:ext cx="4434840" cy="457200"/>
          </a:xfrm>
          <a:prstGeom prst="rect">
            <a:avLst/>
          </a:prstGeom>
          <a:noFill/>
          <a:ln/>
        </p:spPr>
        <p:txBody>
          <a:bodyPr wrap="square" rtlCol="0" anchor="ctr"/>
          <a:lstStyle/>
          <a:p>
            <a:pPr marL="0" indent="0">
              <a:buNone/>
            </a:pPr>
            <a:r>
              <a:rPr lang="en-US" sz="1200" b="1" dirty="0">
                <a:solidFill>
                  <a:srgbClr val="D8432E"/>
                </a:solidFill>
                <a:latin typeface="Times New Roman" pitchFamily="34" charset="0"/>
                <a:ea typeface="Times New Roman" pitchFamily="34" charset="-122"/>
                <a:cs typeface="Times New Roman" pitchFamily="34" charset="-120"/>
              </a:rPr>
              <a:t>Ưu thế:  </a:t>
            </a:r>
            <a:r>
              <a:rPr lang="en-US" sz="1200" dirty="0">
                <a:solidFill>
                  <a:srgbClr val="1C2430"/>
                </a:solidFill>
                <a:latin typeface="Times New Roman" pitchFamily="34" charset="0"/>
                <a:ea typeface="Times New Roman" pitchFamily="34" charset="-122"/>
                <a:cs typeface="Times New Roman" pitchFamily="34" charset="-120"/>
              </a:rPr>
              <a:t>an toàn lâm sàng cao hơn (ít bỏ sót ca bệnh)</a:t>
            </a:r>
            <a:endParaRPr lang="en-US" sz="1200" dirty="0"/>
          </a:p>
        </p:txBody>
      </p:sp>
      <p:sp>
        <p:nvSpPr>
          <p:cNvPr id="26" name="Shape 21"/>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27" name="Text 22"/>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07</a:t>
            </a:r>
            <a:endParaRPr lang="en-US" sz="1000" dirty="0"/>
          </a:p>
        </p:txBody>
      </p:sp>
      <p:sp>
        <p:nvSpPr>
          <p:cNvPr id="2" name="Shape 1">
            <a:extLst>
              <a:ext uri="{FF2B5EF4-FFF2-40B4-BE49-F238E27FC236}">
                <a16:creationId xmlns:a16="http://schemas.microsoft.com/office/drawing/2014/main" id="{208853FF-9748-9DD8-C5D5-CBB86EF4D7AA}"/>
              </a:ext>
            </a:extLst>
          </p:cNvPr>
          <p:cNvSpPr/>
          <p:nvPr/>
        </p:nvSpPr>
        <p:spPr>
          <a:xfrm>
            <a:off x="502920" y="992124"/>
            <a:ext cx="566928" cy="292608"/>
          </a:xfrm>
          <a:prstGeom prst="roundRect">
            <a:avLst>
              <a:gd name="adj" fmla="val 50000"/>
            </a:avLst>
          </a:prstGeom>
          <a:solidFill>
            <a:srgbClr val="5B4B93"/>
          </a:solidFill>
          <a:ln/>
        </p:spPr>
      </p:sp>
      <p:sp>
        <p:nvSpPr>
          <p:cNvPr id="28" name="Text 2">
            <a:extLst>
              <a:ext uri="{FF2B5EF4-FFF2-40B4-BE49-F238E27FC236}">
                <a16:creationId xmlns:a16="http://schemas.microsoft.com/office/drawing/2014/main" id="{9E1FD911-B08D-C1F5-106B-64DFE732F1EF}"/>
              </a:ext>
            </a:extLst>
          </p:cNvPr>
          <p:cNvSpPr/>
          <p:nvPr/>
        </p:nvSpPr>
        <p:spPr>
          <a:xfrm>
            <a:off x="502920" y="992124"/>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01</a:t>
            </a:r>
            <a:endParaRPr lang="en-US" sz="1200" dirty="0"/>
          </a:p>
        </p:txBody>
      </p:sp>
      <p:sp>
        <p:nvSpPr>
          <p:cNvPr id="29" name="Text 3">
            <a:extLst>
              <a:ext uri="{FF2B5EF4-FFF2-40B4-BE49-F238E27FC236}">
                <a16:creationId xmlns:a16="http://schemas.microsoft.com/office/drawing/2014/main" id="{4C42FAAE-3442-050A-7D7E-FAC343B48F6D}"/>
              </a:ext>
            </a:extLst>
          </p:cNvPr>
          <p:cNvSpPr/>
          <p:nvPr/>
        </p:nvSpPr>
        <p:spPr>
          <a:xfrm>
            <a:off x="1188720" y="992124"/>
            <a:ext cx="9601200" cy="292608"/>
          </a:xfrm>
          <a:prstGeom prst="rect">
            <a:avLst/>
          </a:prstGeom>
          <a:noFill/>
          <a:ln/>
        </p:spPr>
        <p:txBody>
          <a:bodyPr wrap="square" rtlCol="0" anchor="ctr"/>
          <a:lstStyle/>
          <a:p>
            <a:pPr marL="0" indent="0">
              <a:buNone/>
            </a:pPr>
            <a:r>
              <a:rPr lang="en-US" sz="1250" b="1" kern="0" spc="120" dirty="0">
                <a:solidFill>
                  <a:srgbClr val="5B4B93"/>
                </a:solidFill>
                <a:latin typeface="Times New Roman" pitchFamily="34" charset="0"/>
                <a:ea typeface="Times New Roman" pitchFamily="34" charset="-122"/>
                <a:cs typeface="Times New Roman" pitchFamily="34" charset="-120"/>
              </a:rPr>
              <a:t>CƠ SỞ LÝ THUYẾT</a:t>
            </a:r>
            <a:endParaRPr lang="en-US" sz="1250" dirty="0"/>
          </a:p>
        </p:txBody>
      </p:sp>
      <p:sp>
        <p:nvSpPr>
          <p:cNvPr id="30" name="AutoShape 4" descr="DenseNet121 Architecture | Download Scientific Diagram"/>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2" name="Picture 31"/>
          <p:cNvPicPr>
            <a:picLocks noChangeAspect="1"/>
          </p:cNvPicPr>
          <p:nvPr/>
        </p:nvPicPr>
        <p:blipFill>
          <a:blip r:embed="rId4"/>
          <a:stretch>
            <a:fillRect/>
          </a:stretch>
        </p:blipFill>
        <p:spPr>
          <a:xfrm rot="5400000">
            <a:off x="2858136" y="3354393"/>
            <a:ext cx="4816246" cy="1811881"/>
          </a:xfrm>
          <a:prstGeom prst="rect">
            <a:avLst/>
          </a:prstGeom>
        </p:spPr>
      </p:pic>
      <p:pic>
        <p:nvPicPr>
          <p:cNvPr id="33" name="Picture 32"/>
          <p:cNvPicPr>
            <a:picLocks noChangeAspect="1"/>
          </p:cNvPicPr>
          <p:nvPr/>
        </p:nvPicPr>
        <p:blipFill>
          <a:blip r:embed="rId5"/>
          <a:stretch>
            <a:fillRect/>
          </a:stretch>
        </p:blipFill>
        <p:spPr>
          <a:xfrm>
            <a:off x="73645" y="1848206"/>
            <a:ext cx="4195233" cy="453683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7" name="Text 4"/>
          <p:cNvSpPr/>
          <p:nvPr/>
        </p:nvSpPr>
        <p:spPr>
          <a:xfrm>
            <a:off x="502920" y="1367028"/>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Grad-CAM — Nhìn thấy điều mô hình “nhìn thấy”</a:t>
            </a:r>
            <a:endParaRPr lang="en-US" sz="2500" dirty="0"/>
          </a:p>
        </p:txBody>
      </p:sp>
      <p:sp>
        <p:nvSpPr>
          <p:cNvPr id="8" name="Shape 5"/>
          <p:cNvSpPr/>
          <p:nvPr/>
        </p:nvSpPr>
        <p:spPr>
          <a:xfrm>
            <a:off x="502920" y="2035276"/>
            <a:ext cx="5120640" cy="4493539"/>
          </a:xfrm>
          <a:prstGeom prst="roundRect">
            <a:avLst>
              <a:gd name="adj" fmla="val 1942"/>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9" name="Shape 6"/>
          <p:cNvSpPr/>
          <p:nvPr/>
        </p:nvSpPr>
        <p:spPr>
          <a:xfrm>
            <a:off x="777240" y="2348234"/>
            <a:ext cx="566928" cy="566928"/>
          </a:xfrm>
          <a:prstGeom prst="ellipse">
            <a:avLst/>
          </a:prstGeom>
          <a:solidFill>
            <a:srgbClr val="5B4B93"/>
          </a:solidFill>
          <a:ln/>
          <a:effectLst>
            <a:outerShdw blurRad="76200" dist="25400" dir="5400000" algn="bl" rotWithShape="0">
              <a:srgbClr val="1B3760">
                <a:alpha val="18000"/>
              </a:srgbClr>
            </a:outerShdw>
          </a:effectLst>
        </p:spPr>
      </p:sp>
      <p:pic>
        <p:nvPicPr>
          <p:cNvPr id="10" name="Image 1" descr="/home/claude/work/build/eye_white.png"/>
          <p:cNvPicPr>
            <a:picLocks noChangeAspect="1"/>
          </p:cNvPicPr>
          <p:nvPr/>
        </p:nvPicPr>
        <p:blipFill>
          <a:blip r:embed="rId3"/>
          <a:stretch>
            <a:fillRect/>
          </a:stretch>
        </p:blipFill>
        <p:spPr>
          <a:xfrm>
            <a:off x="914400" y="2485394"/>
            <a:ext cx="292608" cy="292608"/>
          </a:xfrm>
          <a:prstGeom prst="rect">
            <a:avLst/>
          </a:prstGeom>
        </p:spPr>
      </p:pic>
      <p:sp>
        <p:nvSpPr>
          <p:cNvPr id="11" name="Text 7"/>
          <p:cNvSpPr/>
          <p:nvPr/>
        </p:nvSpPr>
        <p:spPr>
          <a:xfrm>
            <a:off x="1463040" y="2348234"/>
            <a:ext cx="4023360" cy="457200"/>
          </a:xfrm>
          <a:prstGeom prst="rect">
            <a:avLst/>
          </a:prstGeom>
          <a:noFill/>
          <a:ln/>
        </p:spPr>
        <p:txBody>
          <a:bodyPr wrap="square" rtlCol="0" anchor="ctr"/>
          <a:lstStyle/>
          <a:p>
            <a:pPr marL="0" indent="0">
              <a:buNone/>
            </a:pPr>
            <a:r>
              <a:rPr lang="en-US" sz="1550" b="1" dirty="0">
                <a:solidFill>
                  <a:srgbClr val="0B1E3D"/>
                </a:solidFill>
                <a:latin typeface="Times New Roman" pitchFamily="34" charset="0"/>
                <a:ea typeface="Times New Roman" pitchFamily="34" charset="-122"/>
                <a:cs typeface="Times New Roman" pitchFamily="34" charset="-120"/>
              </a:rPr>
              <a:t>Explainable AI (XAI)</a:t>
            </a:r>
            <a:endParaRPr lang="en-US" sz="1550" dirty="0"/>
          </a:p>
        </p:txBody>
      </p:sp>
      <p:sp>
        <p:nvSpPr>
          <p:cNvPr id="12" name="Text 8"/>
          <p:cNvSpPr/>
          <p:nvPr/>
        </p:nvSpPr>
        <p:spPr>
          <a:xfrm>
            <a:off x="777240" y="3061466"/>
            <a:ext cx="4572000" cy="1463040"/>
          </a:xfrm>
          <a:prstGeom prst="rect">
            <a:avLst/>
          </a:prstGeom>
          <a:noFill/>
          <a:ln/>
        </p:spPr>
        <p:txBody>
          <a:bodyPr wrap="square" rtlCol="0" anchor="t"/>
          <a:lstStyle/>
          <a:p>
            <a:pPr marL="0" indent="0">
              <a:lnSpc>
                <a:spcPct val="130000"/>
              </a:lnSpc>
              <a:buNone/>
            </a:pPr>
            <a:r>
              <a:rPr lang="en-US" sz="1300" dirty="0">
                <a:solidFill>
                  <a:srgbClr val="1C2430"/>
                </a:solidFill>
                <a:latin typeface="Times New Roman" pitchFamily="34" charset="0"/>
                <a:ea typeface="Times New Roman" pitchFamily="34" charset="-122"/>
                <a:cs typeface="Times New Roman" pitchFamily="34" charset="-120"/>
              </a:rPr>
              <a:t>Grad-CAM (Selvaraju và cộng sự, 2017) sử dụng gradient của lớp dự đoán mục tiêu, lan truyền ngược đến lớp tích chập cuối cùng, để tạo bản đồ nhiệt (heatmap) thể hiện mức độ quan trọng của từng vùng ảnh đối với quyết định phân loại.</a:t>
            </a:r>
            <a:endParaRPr lang="en-US" sz="1300" dirty="0"/>
          </a:p>
        </p:txBody>
      </p:sp>
      <p:sp>
        <p:nvSpPr>
          <p:cNvPr id="13" name="Shape 9"/>
          <p:cNvSpPr/>
          <p:nvPr/>
        </p:nvSpPr>
        <p:spPr>
          <a:xfrm>
            <a:off x="777240" y="4425696"/>
            <a:ext cx="4572000" cy="1965960"/>
          </a:xfrm>
          <a:prstGeom prst="roundRect">
            <a:avLst>
              <a:gd name="adj" fmla="val 4651"/>
            </a:avLst>
          </a:prstGeom>
          <a:solidFill>
            <a:srgbClr val="0B1E3D"/>
          </a:solidFill>
          <a:ln w="12700">
            <a:solidFill>
              <a:srgbClr val="E2E6EC"/>
            </a:solidFill>
            <a:prstDash val="solid"/>
          </a:ln>
          <a:effectLst>
            <a:outerShdw blurRad="101600" dist="25400" dir="5400000" algn="bl" rotWithShape="0">
              <a:srgbClr val="1B3760">
                <a:alpha val="10000"/>
              </a:srgbClr>
            </a:outerShdw>
          </a:effectLst>
        </p:spPr>
      </p:sp>
      <p:sp>
        <p:nvSpPr>
          <p:cNvPr id="14" name="Shape 10"/>
          <p:cNvSpPr/>
          <p:nvPr/>
        </p:nvSpPr>
        <p:spPr>
          <a:xfrm>
            <a:off x="987552" y="4636008"/>
            <a:ext cx="457200" cy="457200"/>
          </a:xfrm>
          <a:prstGeom prst="ellipse">
            <a:avLst/>
          </a:prstGeom>
          <a:solidFill>
            <a:srgbClr val="C9960B"/>
          </a:solidFill>
          <a:ln/>
          <a:effectLst>
            <a:outerShdw blurRad="76200" dist="25400" dir="5400000" algn="bl" rotWithShape="0">
              <a:srgbClr val="1B3760">
                <a:alpha val="18000"/>
              </a:srgbClr>
            </a:outerShdw>
          </a:effectLst>
        </p:spPr>
      </p:sp>
      <p:pic>
        <p:nvPicPr>
          <p:cNvPr id="15" name="Image 2" descr="/home/claude/work/build/shield_white.png"/>
          <p:cNvPicPr>
            <a:picLocks noChangeAspect="1"/>
          </p:cNvPicPr>
          <p:nvPr/>
        </p:nvPicPr>
        <p:blipFill>
          <a:blip r:embed="rId4"/>
          <a:stretch>
            <a:fillRect/>
          </a:stretch>
        </p:blipFill>
        <p:spPr>
          <a:xfrm>
            <a:off x="1097280" y="4745736"/>
            <a:ext cx="237744" cy="237744"/>
          </a:xfrm>
          <a:prstGeom prst="rect">
            <a:avLst/>
          </a:prstGeom>
        </p:spPr>
      </p:pic>
      <p:sp>
        <p:nvSpPr>
          <p:cNvPr id="16" name="Text 11"/>
          <p:cNvSpPr/>
          <p:nvPr/>
        </p:nvSpPr>
        <p:spPr>
          <a:xfrm>
            <a:off x="1572768" y="4636008"/>
            <a:ext cx="3566160" cy="457200"/>
          </a:xfrm>
          <a:prstGeom prst="rect">
            <a:avLst/>
          </a:prstGeom>
          <a:noFill/>
          <a:ln/>
        </p:spPr>
        <p:txBody>
          <a:bodyPr wrap="square" rtlCol="0" anchor="ctr"/>
          <a:lstStyle/>
          <a:p>
            <a:pPr marL="0" indent="0">
              <a:buNone/>
            </a:pPr>
            <a:r>
              <a:rPr lang="en-US" sz="1350" b="1" dirty="0">
                <a:solidFill>
                  <a:srgbClr val="C9960B"/>
                </a:solidFill>
                <a:latin typeface="Times New Roman" pitchFamily="34" charset="0"/>
                <a:ea typeface="Times New Roman" pitchFamily="34" charset="-122"/>
                <a:cs typeface="Times New Roman" pitchFamily="34" charset="-120"/>
              </a:rPr>
              <a:t>Ý nghĩa lâm sàng</a:t>
            </a:r>
            <a:endParaRPr lang="en-US" sz="1350" dirty="0"/>
          </a:p>
        </p:txBody>
      </p:sp>
      <p:sp>
        <p:nvSpPr>
          <p:cNvPr id="17" name="Text 12"/>
          <p:cNvSpPr/>
          <p:nvPr/>
        </p:nvSpPr>
        <p:spPr>
          <a:xfrm>
            <a:off x="987552" y="5157216"/>
            <a:ext cx="4160520" cy="1188720"/>
          </a:xfrm>
          <a:prstGeom prst="rect">
            <a:avLst/>
          </a:prstGeom>
          <a:noFill/>
          <a:ln/>
        </p:spPr>
        <p:txBody>
          <a:bodyPr wrap="square" rtlCol="0" anchor="t"/>
          <a:lstStyle/>
          <a:p>
            <a:pPr marL="0" indent="0">
              <a:lnSpc>
                <a:spcPct val="128000"/>
              </a:lnSpc>
              <a:buNone/>
            </a:pPr>
            <a:r>
              <a:rPr lang="en-US" sz="1180" dirty="0">
                <a:solidFill>
                  <a:srgbClr val="D7E1F2"/>
                </a:solidFill>
                <a:latin typeface="Times New Roman" pitchFamily="34" charset="0"/>
                <a:ea typeface="Times New Roman" pitchFamily="34" charset="-122"/>
                <a:cs typeface="Times New Roman" pitchFamily="34" charset="-120"/>
              </a:rPr>
              <a:t>Giúp bác sĩ kiểm chứng trực quan liệu mô hình có thực sự tập trung vào vùng tổn thương hay đang “học vẹt” theo đặc trưng nhiễu — qua đó tăng độ tin cậy khi ứng dụng AI hỗ trợ chẩn đoán.</a:t>
            </a:r>
            <a:endParaRPr lang="en-US" sz="1180" dirty="0"/>
          </a:p>
        </p:txBody>
      </p:sp>
      <p:sp>
        <p:nvSpPr>
          <p:cNvPr id="18" name="Shape 13"/>
          <p:cNvSpPr/>
          <p:nvPr/>
        </p:nvSpPr>
        <p:spPr>
          <a:xfrm>
            <a:off x="6095847" y="2542032"/>
            <a:ext cx="2907792" cy="2290572"/>
          </a:xfrm>
          <a:prstGeom prst="roundRect">
            <a:avLst>
              <a:gd name="adj" fmla="val 2794"/>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sp>
        <p:nvSpPr>
          <p:cNvPr id="20" name="Text 14"/>
          <p:cNvSpPr/>
          <p:nvPr/>
        </p:nvSpPr>
        <p:spPr>
          <a:xfrm>
            <a:off x="6095847" y="4869180"/>
            <a:ext cx="290779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Ví dụ 1 — U thần kinh đệm (100%)</a:t>
            </a:r>
            <a:endParaRPr lang="en-US" sz="1050" dirty="0"/>
          </a:p>
        </p:txBody>
      </p:sp>
      <p:sp>
        <p:nvSpPr>
          <p:cNvPr id="21" name="Shape 15"/>
          <p:cNvSpPr/>
          <p:nvPr/>
        </p:nvSpPr>
        <p:spPr>
          <a:xfrm>
            <a:off x="9113367" y="2542032"/>
            <a:ext cx="2907792" cy="2343588"/>
          </a:xfrm>
          <a:prstGeom prst="roundRect">
            <a:avLst>
              <a:gd name="adj" fmla="val 2731"/>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sp>
        <p:nvSpPr>
          <p:cNvPr id="23" name="Text 16"/>
          <p:cNvSpPr/>
          <p:nvPr/>
        </p:nvSpPr>
        <p:spPr>
          <a:xfrm>
            <a:off x="9113367" y="4922196"/>
            <a:ext cx="290779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Ví dụ 2 — Bản đồ Grad-CAM</a:t>
            </a:r>
            <a:endParaRPr lang="en-US" sz="1050" dirty="0"/>
          </a:p>
        </p:txBody>
      </p:sp>
      <p:sp>
        <p:nvSpPr>
          <p:cNvPr id="24" name="Text 17"/>
          <p:cNvSpPr/>
          <p:nvPr/>
        </p:nvSpPr>
        <p:spPr>
          <a:xfrm>
            <a:off x="6178143" y="5253228"/>
            <a:ext cx="5760720" cy="457200"/>
          </a:xfrm>
          <a:prstGeom prst="rect">
            <a:avLst/>
          </a:prstGeom>
          <a:noFill/>
          <a:ln/>
        </p:spPr>
        <p:txBody>
          <a:bodyPr wrap="square" rtlCol="0" anchor="ctr"/>
          <a:lstStyle/>
          <a:p>
            <a:pPr marL="0" indent="0" algn="ctr">
              <a:buNone/>
            </a:pPr>
            <a:r>
              <a:rPr lang="en-US" sz="1050" i="1" dirty="0">
                <a:solidFill>
                  <a:srgbClr val="8992A0"/>
                </a:solidFill>
                <a:latin typeface="Times New Roman" pitchFamily="34" charset="0"/>
                <a:ea typeface="Times New Roman" pitchFamily="34" charset="-122"/>
                <a:cs typeface="Times New Roman" pitchFamily="34" charset="-120"/>
              </a:rPr>
              <a:t>Hình 1.1 — Heatmap Grad-CAM thực tế trên ảnh MRI (trích từ giao diện demo hệ thống)</a:t>
            </a:r>
            <a:endParaRPr lang="en-US" sz="1050" dirty="0"/>
          </a:p>
        </p:txBody>
      </p:sp>
      <p:sp>
        <p:nvSpPr>
          <p:cNvPr id="25" name="Shape 18"/>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26" name="Text 19"/>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08</a:t>
            </a:r>
            <a:endParaRPr lang="en-US" sz="1000" dirty="0"/>
          </a:p>
        </p:txBody>
      </p:sp>
      <p:sp>
        <p:nvSpPr>
          <p:cNvPr id="2" name="Shape 1">
            <a:extLst>
              <a:ext uri="{FF2B5EF4-FFF2-40B4-BE49-F238E27FC236}">
                <a16:creationId xmlns:a16="http://schemas.microsoft.com/office/drawing/2014/main" id="{E9B80865-D212-CB31-28B5-D77164DBFD11}"/>
              </a:ext>
            </a:extLst>
          </p:cNvPr>
          <p:cNvSpPr/>
          <p:nvPr/>
        </p:nvSpPr>
        <p:spPr>
          <a:xfrm>
            <a:off x="502920" y="992124"/>
            <a:ext cx="566928" cy="292608"/>
          </a:xfrm>
          <a:prstGeom prst="roundRect">
            <a:avLst>
              <a:gd name="adj" fmla="val 50000"/>
            </a:avLst>
          </a:prstGeom>
          <a:solidFill>
            <a:srgbClr val="5B4B93"/>
          </a:solidFill>
          <a:ln/>
        </p:spPr>
      </p:sp>
      <p:sp>
        <p:nvSpPr>
          <p:cNvPr id="27" name="Text 2">
            <a:extLst>
              <a:ext uri="{FF2B5EF4-FFF2-40B4-BE49-F238E27FC236}">
                <a16:creationId xmlns:a16="http://schemas.microsoft.com/office/drawing/2014/main" id="{B50EBE11-5D9A-EBE4-D246-80CA9606BDCA}"/>
              </a:ext>
            </a:extLst>
          </p:cNvPr>
          <p:cNvSpPr/>
          <p:nvPr/>
        </p:nvSpPr>
        <p:spPr>
          <a:xfrm>
            <a:off x="502920" y="992124"/>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01</a:t>
            </a:r>
            <a:endParaRPr lang="en-US" sz="1200" dirty="0"/>
          </a:p>
        </p:txBody>
      </p:sp>
      <p:sp>
        <p:nvSpPr>
          <p:cNvPr id="28" name="Text 3">
            <a:extLst>
              <a:ext uri="{FF2B5EF4-FFF2-40B4-BE49-F238E27FC236}">
                <a16:creationId xmlns:a16="http://schemas.microsoft.com/office/drawing/2014/main" id="{56AB9090-DD13-F148-7DD2-E46006D10FD9}"/>
              </a:ext>
            </a:extLst>
          </p:cNvPr>
          <p:cNvSpPr/>
          <p:nvPr/>
        </p:nvSpPr>
        <p:spPr>
          <a:xfrm>
            <a:off x="1188720" y="992124"/>
            <a:ext cx="9601200" cy="292608"/>
          </a:xfrm>
          <a:prstGeom prst="rect">
            <a:avLst/>
          </a:prstGeom>
          <a:noFill/>
          <a:ln/>
        </p:spPr>
        <p:txBody>
          <a:bodyPr wrap="square" rtlCol="0" anchor="ctr"/>
          <a:lstStyle/>
          <a:p>
            <a:pPr marL="0" indent="0">
              <a:buNone/>
            </a:pPr>
            <a:r>
              <a:rPr lang="en-US" sz="1250" b="1" kern="0" spc="120" dirty="0">
                <a:solidFill>
                  <a:srgbClr val="5B4B93"/>
                </a:solidFill>
                <a:latin typeface="Times New Roman" pitchFamily="34" charset="0"/>
                <a:ea typeface="Times New Roman" pitchFamily="34" charset="-122"/>
                <a:cs typeface="Times New Roman" pitchFamily="34" charset="-120"/>
              </a:rPr>
              <a:t>CƠ SỞ LÝ THUYẾT</a:t>
            </a:r>
            <a:endParaRPr lang="en-US" sz="1250" dirty="0"/>
          </a:p>
        </p:txBody>
      </p:sp>
      <p:pic>
        <p:nvPicPr>
          <p:cNvPr id="4" name="Picture 3"/>
          <p:cNvPicPr>
            <a:picLocks noChangeAspect="1"/>
          </p:cNvPicPr>
          <p:nvPr/>
        </p:nvPicPr>
        <p:blipFill>
          <a:blip r:embed="rId5"/>
          <a:stretch>
            <a:fillRect/>
          </a:stretch>
        </p:blipFill>
        <p:spPr>
          <a:xfrm>
            <a:off x="6029809" y="2534080"/>
            <a:ext cx="3039868" cy="2288842"/>
          </a:xfrm>
          <a:prstGeom prst="rect">
            <a:avLst/>
          </a:prstGeom>
        </p:spPr>
      </p:pic>
      <p:pic>
        <p:nvPicPr>
          <p:cNvPr id="5" name="Picture 4"/>
          <p:cNvPicPr>
            <a:picLocks noChangeAspect="1"/>
          </p:cNvPicPr>
          <p:nvPr/>
        </p:nvPicPr>
        <p:blipFill>
          <a:blip r:embed="rId6"/>
          <a:stretch>
            <a:fillRect/>
          </a:stretch>
        </p:blipFill>
        <p:spPr>
          <a:xfrm>
            <a:off x="9199123" y="2631698"/>
            <a:ext cx="2739740" cy="2061050"/>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09974"/>
            <a:ext cx="566928" cy="292608"/>
          </a:xfrm>
          <a:prstGeom prst="roundRect">
            <a:avLst>
              <a:gd name="adj" fmla="val 50000"/>
            </a:avLst>
          </a:prstGeom>
          <a:solidFill>
            <a:srgbClr val="158C94"/>
          </a:solidFill>
          <a:ln/>
        </p:spPr>
      </p:sp>
      <p:sp>
        <p:nvSpPr>
          <p:cNvPr id="5" name="Text 2"/>
          <p:cNvSpPr/>
          <p:nvPr/>
        </p:nvSpPr>
        <p:spPr>
          <a:xfrm>
            <a:off x="502920" y="909974"/>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02</a:t>
            </a:r>
            <a:endParaRPr lang="en-US" sz="1200" dirty="0"/>
          </a:p>
        </p:txBody>
      </p:sp>
      <p:sp>
        <p:nvSpPr>
          <p:cNvPr id="6" name="Text 3"/>
          <p:cNvSpPr/>
          <p:nvPr/>
        </p:nvSpPr>
        <p:spPr>
          <a:xfrm>
            <a:off x="1179576" y="909974"/>
            <a:ext cx="9601200" cy="292608"/>
          </a:xfrm>
          <a:prstGeom prst="rect">
            <a:avLst/>
          </a:prstGeom>
          <a:noFill/>
          <a:ln/>
        </p:spPr>
        <p:txBody>
          <a:bodyPr wrap="square" rtlCol="0" anchor="ctr"/>
          <a:lstStyle/>
          <a:p>
            <a:pPr marL="0" indent="0">
              <a:buNone/>
            </a:pPr>
            <a:r>
              <a:rPr lang="en-US" sz="1250" b="1" kern="0" spc="120" dirty="0">
                <a:solidFill>
                  <a:srgbClr val="158C94"/>
                </a:solidFill>
                <a:latin typeface="Times New Roman" pitchFamily="34" charset="0"/>
                <a:ea typeface="Times New Roman" pitchFamily="34" charset="-122"/>
                <a:cs typeface="Times New Roman" pitchFamily="34" charset="-120"/>
              </a:rPr>
              <a:t>PHÂN TÍCH &amp; THIẾT KẾ HỆ THỐNG</a:t>
            </a:r>
            <a:endParaRPr lang="en-US" sz="1250" dirty="0"/>
          </a:p>
        </p:txBody>
      </p:sp>
      <p:sp>
        <p:nvSpPr>
          <p:cNvPr id="7" name="Text 4"/>
          <p:cNvSpPr/>
          <p:nvPr/>
        </p:nvSpPr>
        <p:spPr>
          <a:xfrm>
            <a:off x="502920" y="1290481"/>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Phát biểu bài toán &amp; yêu cầu hệ thống</a:t>
            </a:r>
            <a:endParaRPr lang="en-US" sz="2500" dirty="0"/>
          </a:p>
        </p:txBody>
      </p:sp>
      <p:sp>
        <p:nvSpPr>
          <p:cNvPr id="8" name="Shape 5"/>
          <p:cNvSpPr/>
          <p:nvPr/>
        </p:nvSpPr>
        <p:spPr>
          <a:xfrm>
            <a:off x="502920" y="1819656"/>
            <a:ext cx="11183112" cy="1097280"/>
          </a:xfrm>
          <a:prstGeom prst="roundRect">
            <a:avLst>
              <a:gd name="adj" fmla="val 8333"/>
            </a:avLst>
          </a:prstGeom>
          <a:solidFill>
            <a:srgbClr val="0B1E3D"/>
          </a:solidFill>
          <a:ln w="12700">
            <a:solidFill>
              <a:srgbClr val="E2E6EC"/>
            </a:solidFill>
            <a:prstDash val="solid"/>
          </a:ln>
          <a:effectLst>
            <a:outerShdw blurRad="101600" dist="25400" dir="5400000" algn="bl" rotWithShape="0">
              <a:srgbClr val="1B3760">
                <a:alpha val="10000"/>
              </a:srgbClr>
            </a:outerShdw>
          </a:effectLst>
        </p:spPr>
      </p:sp>
      <p:sp>
        <p:nvSpPr>
          <p:cNvPr id="9" name="Shape 6"/>
          <p:cNvSpPr/>
          <p:nvPr/>
        </p:nvSpPr>
        <p:spPr>
          <a:xfrm>
            <a:off x="731520" y="2075688"/>
            <a:ext cx="548640" cy="548640"/>
          </a:xfrm>
          <a:prstGeom prst="ellipse">
            <a:avLst/>
          </a:prstGeom>
          <a:solidFill>
            <a:srgbClr val="158C94"/>
          </a:solidFill>
          <a:ln/>
          <a:effectLst>
            <a:outerShdw blurRad="76200" dist="25400" dir="5400000" algn="bl" rotWithShape="0">
              <a:srgbClr val="1B3760">
                <a:alpha val="18000"/>
              </a:srgbClr>
            </a:outerShdw>
          </a:effectLst>
        </p:spPr>
      </p:sp>
      <p:pic>
        <p:nvPicPr>
          <p:cNvPr id="10" name="Image 1" descr="/home/claude/work/build/target_white.png"/>
          <p:cNvPicPr>
            <a:picLocks noChangeAspect="1"/>
          </p:cNvPicPr>
          <p:nvPr/>
        </p:nvPicPr>
        <p:blipFill>
          <a:blip r:embed="rId3"/>
          <a:stretch>
            <a:fillRect/>
          </a:stretch>
        </p:blipFill>
        <p:spPr>
          <a:xfrm>
            <a:off x="868680" y="2212848"/>
            <a:ext cx="274320" cy="274320"/>
          </a:xfrm>
          <a:prstGeom prst="rect">
            <a:avLst/>
          </a:prstGeom>
        </p:spPr>
      </p:pic>
      <p:sp>
        <p:nvSpPr>
          <p:cNvPr id="11" name="Text 7"/>
          <p:cNvSpPr/>
          <p:nvPr/>
        </p:nvSpPr>
        <p:spPr>
          <a:xfrm>
            <a:off x="1463040" y="1929384"/>
            <a:ext cx="9966960" cy="877824"/>
          </a:xfrm>
          <a:prstGeom prst="rect">
            <a:avLst/>
          </a:prstGeom>
          <a:noFill/>
          <a:ln/>
        </p:spPr>
        <p:txBody>
          <a:bodyPr wrap="square" rtlCol="0" anchor="ctr"/>
          <a:lstStyle/>
          <a:p>
            <a:pPr marL="0" indent="0">
              <a:lnSpc>
                <a:spcPct val="122000"/>
              </a:lnSpc>
              <a:buNone/>
            </a:pPr>
            <a:r>
              <a:rPr lang="en-US" sz="1250" dirty="0">
                <a:solidFill>
                  <a:srgbClr val="FFFFFF"/>
                </a:solidFill>
                <a:latin typeface="Times New Roman" pitchFamily="34" charset="0"/>
                <a:ea typeface="Times New Roman" pitchFamily="34" charset="-122"/>
                <a:cs typeface="Times New Roman" pitchFamily="34" charset="-120"/>
              </a:rPr>
              <a:t>Cho một ảnh MRI não đầu vào, hệ thống cần dự đoán ảnh thuộc 1 trong 4 lớp (glioma, meningioma, pituitary, notumor), đồng thời sinh bản đồ Grad-CAM minh hoạ vùng ảnh mô hình dựa vào để quyết định, và hiển thị toàn bộ kết quả trên giao diện web.</a:t>
            </a:r>
            <a:endParaRPr lang="en-US" sz="1250" dirty="0"/>
          </a:p>
        </p:txBody>
      </p:sp>
      <p:sp>
        <p:nvSpPr>
          <p:cNvPr id="12" name="Text 8"/>
          <p:cNvSpPr/>
          <p:nvPr/>
        </p:nvSpPr>
        <p:spPr>
          <a:xfrm>
            <a:off x="502920" y="3145536"/>
            <a:ext cx="5486400" cy="292608"/>
          </a:xfrm>
          <a:prstGeom prst="rect">
            <a:avLst/>
          </a:prstGeom>
          <a:noFill/>
          <a:ln/>
        </p:spPr>
        <p:txBody>
          <a:bodyPr wrap="square" rtlCol="0" anchor="ctr"/>
          <a:lstStyle/>
          <a:p>
            <a:pPr marL="0" indent="0">
              <a:buNone/>
            </a:pPr>
            <a:r>
              <a:rPr lang="en-US" sz="1350" b="1" dirty="0">
                <a:solidFill>
                  <a:srgbClr val="158C94"/>
                </a:solidFill>
                <a:latin typeface="Times New Roman" pitchFamily="34" charset="0"/>
                <a:ea typeface="Times New Roman" pitchFamily="34" charset="-122"/>
                <a:cs typeface="Times New Roman" pitchFamily="34" charset="-120"/>
              </a:rPr>
              <a:t>Yêu cầu chức năng (FR)</a:t>
            </a:r>
            <a:endParaRPr lang="en-US" sz="1350" dirty="0"/>
          </a:p>
        </p:txBody>
      </p:sp>
      <p:sp>
        <p:nvSpPr>
          <p:cNvPr id="13" name="Shape 9"/>
          <p:cNvSpPr/>
          <p:nvPr/>
        </p:nvSpPr>
        <p:spPr>
          <a:xfrm>
            <a:off x="502920" y="3493008"/>
            <a:ext cx="5440680" cy="475488"/>
          </a:xfrm>
          <a:prstGeom prst="roundRect">
            <a:avLst>
              <a:gd name="adj" fmla="val 1538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4" name="Text 10"/>
          <p:cNvSpPr/>
          <p:nvPr/>
        </p:nvSpPr>
        <p:spPr>
          <a:xfrm>
            <a:off x="685800" y="3493008"/>
            <a:ext cx="777240" cy="475488"/>
          </a:xfrm>
          <a:prstGeom prst="rect">
            <a:avLst/>
          </a:prstGeom>
          <a:noFill/>
          <a:ln/>
        </p:spPr>
        <p:txBody>
          <a:bodyPr wrap="square" rtlCol="0" anchor="ctr"/>
          <a:lstStyle/>
          <a:p>
            <a:pPr marL="0" indent="0">
              <a:buNone/>
            </a:pPr>
            <a:r>
              <a:rPr lang="en-US" sz="1050" b="1" dirty="0">
                <a:solidFill>
                  <a:srgbClr val="158C94"/>
                </a:solidFill>
                <a:latin typeface="Times New Roman" pitchFamily="34" charset="0"/>
                <a:ea typeface="Times New Roman" pitchFamily="34" charset="-122"/>
                <a:cs typeface="Times New Roman" pitchFamily="34" charset="-120"/>
              </a:rPr>
              <a:t>FR-01</a:t>
            </a:r>
            <a:endParaRPr lang="en-US" sz="1050" dirty="0"/>
          </a:p>
        </p:txBody>
      </p:sp>
      <p:sp>
        <p:nvSpPr>
          <p:cNvPr id="15" name="Text 11"/>
          <p:cNvSpPr/>
          <p:nvPr/>
        </p:nvSpPr>
        <p:spPr>
          <a:xfrm>
            <a:off x="1463040" y="3493008"/>
            <a:ext cx="1920240" cy="47548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Tải ảnh MRI</a:t>
            </a:r>
            <a:endParaRPr lang="en-US" sz="1100" dirty="0"/>
          </a:p>
        </p:txBody>
      </p:sp>
      <p:sp>
        <p:nvSpPr>
          <p:cNvPr id="16" name="Text 12"/>
          <p:cNvSpPr/>
          <p:nvPr/>
        </p:nvSpPr>
        <p:spPr>
          <a:xfrm>
            <a:off x="3383280" y="3493008"/>
            <a:ext cx="2468880" cy="47548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Upload &amp; xem trước ảnh</a:t>
            </a:r>
            <a:endParaRPr lang="en-US" sz="1000" dirty="0"/>
          </a:p>
        </p:txBody>
      </p:sp>
      <p:sp>
        <p:nvSpPr>
          <p:cNvPr id="17" name="Shape 13"/>
          <p:cNvSpPr/>
          <p:nvPr/>
        </p:nvSpPr>
        <p:spPr>
          <a:xfrm>
            <a:off x="502920" y="4014216"/>
            <a:ext cx="5440680" cy="475488"/>
          </a:xfrm>
          <a:prstGeom prst="roundRect">
            <a:avLst>
              <a:gd name="adj" fmla="val 1538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8" name="Text 14"/>
          <p:cNvSpPr/>
          <p:nvPr/>
        </p:nvSpPr>
        <p:spPr>
          <a:xfrm>
            <a:off x="685800" y="4014216"/>
            <a:ext cx="777240" cy="475488"/>
          </a:xfrm>
          <a:prstGeom prst="rect">
            <a:avLst/>
          </a:prstGeom>
          <a:noFill/>
          <a:ln/>
        </p:spPr>
        <p:txBody>
          <a:bodyPr wrap="square" rtlCol="0" anchor="ctr"/>
          <a:lstStyle/>
          <a:p>
            <a:pPr marL="0" indent="0">
              <a:buNone/>
            </a:pPr>
            <a:r>
              <a:rPr lang="en-US" sz="1050" b="1" dirty="0">
                <a:solidFill>
                  <a:srgbClr val="158C94"/>
                </a:solidFill>
                <a:latin typeface="Times New Roman" pitchFamily="34" charset="0"/>
                <a:ea typeface="Times New Roman" pitchFamily="34" charset="-122"/>
                <a:cs typeface="Times New Roman" pitchFamily="34" charset="-120"/>
              </a:rPr>
              <a:t>FR-02</a:t>
            </a:r>
            <a:endParaRPr lang="en-US" sz="1050" dirty="0"/>
          </a:p>
        </p:txBody>
      </p:sp>
      <p:sp>
        <p:nvSpPr>
          <p:cNvPr id="19" name="Text 15"/>
          <p:cNvSpPr/>
          <p:nvPr/>
        </p:nvSpPr>
        <p:spPr>
          <a:xfrm>
            <a:off x="1463040" y="4014216"/>
            <a:ext cx="1920240" cy="47548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Phân loại khối u</a:t>
            </a:r>
            <a:endParaRPr lang="en-US" sz="1100" dirty="0"/>
          </a:p>
        </p:txBody>
      </p:sp>
      <p:sp>
        <p:nvSpPr>
          <p:cNvPr id="20" name="Text 16"/>
          <p:cNvSpPr/>
          <p:nvPr/>
        </p:nvSpPr>
        <p:spPr>
          <a:xfrm>
            <a:off x="3383280" y="4014216"/>
            <a:ext cx="2468880" cy="47548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Dự đoán loại u + xác suất</a:t>
            </a:r>
            <a:endParaRPr lang="en-US" sz="1000" dirty="0"/>
          </a:p>
        </p:txBody>
      </p:sp>
      <p:sp>
        <p:nvSpPr>
          <p:cNvPr id="21" name="Shape 17"/>
          <p:cNvSpPr/>
          <p:nvPr/>
        </p:nvSpPr>
        <p:spPr>
          <a:xfrm>
            <a:off x="502920" y="4535424"/>
            <a:ext cx="5440680" cy="475488"/>
          </a:xfrm>
          <a:prstGeom prst="roundRect">
            <a:avLst>
              <a:gd name="adj" fmla="val 1538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2" name="Text 18"/>
          <p:cNvSpPr/>
          <p:nvPr/>
        </p:nvSpPr>
        <p:spPr>
          <a:xfrm>
            <a:off x="685800" y="4535424"/>
            <a:ext cx="777240" cy="475488"/>
          </a:xfrm>
          <a:prstGeom prst="rect">
            <a:avLst/>
          </a:prstGeom>
          <a:noFill/>
          <a:ln/>
        </p:spPr>
        <p:txBody>
          <a:bodyPr wrap="square" rtlCol="0" anchor="ctr"/>
          <a:lstStyle/>
          <a:p>
            <a:pPr marL="0" indent="0">
              <a:buNone/>
            </a:pPr>
            <a:r>
              <a:rPr lang="en-US" sz="1050" b="1" dirty="0">
                <a:solidFill>
                  <a:srgbClr val="158C94"/>
                </a:solidFill>
                <a:latin typeface="Times New Roman" pitchFamily="34" charset="0"/>
                <a:ea typeface="Times New Roman" pitchFamily="34" charset="-122"/>
                <a:cs typeface="Times New Roman" pitchFamily="34" charset="-120"/>
              </a:rPr>
              <a:t>FR-03</a:t>
            </a:r>
            <a:endParaRPr lang="en-US" sz="1050" dirty="0"/>
          </a:p>
        </p:txBody>
      </p:sp>
      <p:sp>
        <p:nvSpPr>
          <p:cNvPr id="23" name="Text 19"/>
          <p:cNvSpPr/>
          <p:nvPr/>
        </p:nvSpPr>
        <p:spPr>
          <a:xfrm>
            <a:off x="1463040" y="4535424"/>
            <a:ext cx="1920240" cy="47548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Giải thích dự đoán</a:t>
            </a:r>
            <a:endParaRPr lang="en-US" sz="1100" dirty="0"/>
          </a:p>
        </p:txBody>
      </p:sp>
      <p:sp>
        <p:nvSpPr>
          <p:cNvPr id="24" name="Text 20"/>
          <p:cNvSpPr/>
          <p:nvPr/>
        </p:nvSpPr>
        <p:spPr>
          <a:xfrm>
            <a:off x="3383280" y="4535424"/>
            <a:ext cx="2468880" cy="47548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Sinh bản đồ Grad-CAM</a:t>
            </a:r>
            <a:endParaRPr lang="en-US" sz="1000" dirty="0"/>
          </a:p>
        </p:txBody>
      </p:sp>
      <p:sp>
        <p:nvSpPr>
          <p:cNvPr id="25" name="Shape 21"/>
          <p:cNvSpPr/>
          <p:nvPr/>
        </p:nvSpPr>
        <p:spPr>
          <a:xfrm>
            <a:off x="502920" y="5056632"/>
            <a:ext cx="5440680" cy="475488"/>
          </a:xfrm>
          <a:prstGeom prst="roundRect">
            <a:avLst>
              <a:gd name="adj" fmla="val 1538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6" name="Text 22"/>
          <p:cNvSpPr/>
          <p:nvPr/>
        </p:nvSpPr>
        <p:spPr>
          <a:xfrm>
            <a:off x="685800" y="5056632"/>
            <a:ext cx="777240" cy="475488"/>
          </a:xfrm>
          <a:prstGeom prst="rect">
            <a:avLst/>
          </a:prstGeom>
          <a:noFill/>
          <a:ln/>
        </p:spPr>
        <p:txBody>
          <a:bodyPr wrap="square" rtlCol="0" anchor="ctr"/>
          <a:lstStyle/>
          <a:p>
            <a:pPr marL="0" indent="0">
              <a:buNone/>
            </a:pPr>
            <a:r>
              <a:rPr lang="en-US" sz="1050" b="1" dirty="0">
                <a:solidFill>
                  <a:srgbClr val="158C94"/>
                </a:solidFill>
                <a:latin typeface="Times New Roman" pitchFamily="34" charset="0"/>
                <a:ea typeface="Times New Roman" pitchFamily="34" charset="-122"/>
                <a:cs typeface="Times New Roman" pitchFamily="34" charset="-120"/>
              </a:rPr>
              <a:t>FR-04</a:t>
            </a:r>
            <a:endParaRPr lang="en-US" sz="1050" dirty="0"/>
          </a:p>
        </p:txBody>
      </p:sp>
      <p:sp>
        <p:nvSpPr>
          <p:cNvPr id="27" name="Text 23"/>
          <p:cNvSpPr/>
          <p:nvPr/>
        </p:nvSpPr>
        <p:spPr>
          <a:xfrm>
            <a:off x="1463040" y="5056632"/>
            <a:ext cx="1920240" cy="47548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Hiển thị kết quả</a:t>
            </a:r>
            <a:endParaRPr lang="en-US" sz="1100" dirty="0"/>
          </a:p>
        </p:txBody>
      </p:sp>
      <p:sp>
        <p:nvSpPr>
          <p:cNvPr id="28" name="Text 24"/>
          <p:cNvSpPr/>
          <p:nvPr/>
        </p:nvSpPr>
        <p:spPr>
          <a:xfrm>
            <a:off x="3383280" y="5056632"/>
            <a:ext cx="2468880" cy="47548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Ảnh, nhãn, độ tin cậy, heatmap</a:t>
            </a:r>
            <a:endParaRPr lang="en-US" sz="1000" dirty="0"/>
          </a:p>
        </p:txBody>
      </p:sp>
      <p:sp>
        <p:nvSpPr>
          <p:cNvPr id="29" name="Shape 25"/>
          <p:cNvSpPr/>
          <p:nvPr/>
        </p:nvSpPr>
        <p:spPr>
          <a:xfrm>
            <a:off x="502920" y="5577840"/>
            <a:ext cx="5440680" cy="475488"/>
          </a:xfrm>
          <a:prstGeom prst="roundRect">
            <a:avLst>
              <a:gd name="adj" fmla="val 1538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30" name="Text 26"/>
          <p:cNvSpPr/>
          <p:nvPr/>
        </p:nvSpPr>
        <p:spPr>
          <a:xfrm>
            <a:off x="685800" y="5577840"/>
            <a:ext cx="777240" cy="475488"/>
          </a:xfrm>
          <a:prstGeom prst="rect">
            <a:avLst/>
          </a:prstGeom>
          <a:noFill/>
          <a:ln/>
        </p:spPr>
        <p:txBody>
          <a:bodyPr wrap="square" rtlCol="0" anchor="ctr"/>
          <a:lstStyle/>
          <a:p>
            <a:pPr marL="0" indent="0">
              <a:buNone/>
            </a:pPr>
            <a:r>
              <a:rPr lang="en-US" sz="1050" b="1" dirty="0">
                <a:solidFill>
                  <a:srgbClr val="158C94"/>
                </a:solidFill>
                <a:latin typeface="Times New Roman" pitchFamily="34" charset="0"/>
                <a:ea typeface="Times New Roman" pitchFamily="34" charset="-122"/>
                <a:cs typeface="Times New Roman" pitchFamily="34" charset="-120"/>
              </a:rPr>
              <a:t>FR-05</a:t>
            </a:r>
            <a:endParaRPr lang="en-US" sz="1050" dirty="0"/>
          </a:p>
        </p:txBody>
      </p:sp>
      <p:sp>
        <p:nvSpPr>
          <p:cNvPr id="31" name="Text 27"/>
          <p:cNvSpPr/>
          <p:nvPr/>
        </p:nvSpPr>
        <p:spPr>
          <a:xfrm>
            <a:off x="1463040" y="5577840"/>
            <a:ext cx="1920240" cy="47548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Quản lý mô hình</a:t>
            </a:r>
            <a:endParaRPr lang="en-US" sz="1100" dirty="0"/>
          </a:p>
        </p:txBody>
      </p:sp>
      <p:sp>
        <p:nvSpPr>
          <p:cNvPr id="32" name="Text 28"/>
          <p:cNvSpPr/>
          <p:nvPr/>
        </p:nvSpPr>
        <p:spPr>
          <a:xfrm>
            <a:off x="3383280" y="5577840"/>
            <a:ext cx="2468880" cy="47548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Lưu &amp; nạp lại trọng số</a:t>
            </a:r>
            <a:endParaRPr lang="en-US" sz="1000" dirty="0"/>
          </a:p>
        </p:txBody>
      </p:sp>
      <p:sp>
        <p:nvSpPr>
          <p:cNvPr id="33" name="Text 29"/>
          <p:cNvSpPr/>
          <p:nvPr/>
        </p:nvSpPr>
        <p:spPr>
          <a:xfrm>
            <a:off x="6245352" y="3145536"/>
            <a:ext cx="5486400" cy="292608"/>
          </a:xfrm>
          <a:prstGeom prst="rect">
            <a:avLst/>
          </a:prstGeom>
          <a:noFill/>
          <a:ln/>
        </p:spPr>
        <p:txBody>
          <a:bodyPr wrap="square" rtlCol="0" anchor="ctr"/>
          <a:lstStyle/>
          <a:p>
            <a:pPr marL="0" indent="0">
              <a:buNone/>
            </a:pPr>
            <a:r>
              <a:rPr lang="en-US" sz="1350" b="1" dirty="0">
                <a:solidFill>
                  <a:srgbClr val="D8432E"/>
                </a:solidFill>
                <a:latin typeface="Times New Roman" pitchFamily="34" charset="0"/>
                <a:ea typeface="Times New Roman" pitchFamily="34" charset="-122"/>
                <a:cs typeface="Times New Roman" pitchFamily="34" charset="-120"/>
              </a:rPr>
              <a:t>Yêu cầu phi chức năng (NFR)</a:t>
            </a:r>
            <a:endParaRPr lang="en-US" sz="1350" dirty="0"/>
          </a:p>
        </p:txBody>
      </p:sp>
      <p:sp>
        <p:nvSpPr>
          <p:cNvPr id="34" name="Shape 30"/>
          <p:cNvSpPr/>
          <p:nvPr/>
        </p:nvSpPr>
        <p:spPr>
          <a:xfrm>
            <a:off x="6245352" y="3493008"/>
            <a:ext cx="5440680" cy="521208"/>
          </a:xfrm>
          <a:prstGeom prst="roundRect">
            <a:avLst>
              <a:gd name="adj" fmla="val 1403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35" name="Text 31"/>
          <p:cNvSpPr/>
          <p:nvPr/>
        </p:nvSpPr>
        <p:spPr>
          <a:xfrm>
            <a:off x="6428232" y="3493008"/>
            <a:ext cx="868680" cy="521208"/>
          </a:xfrm>
          <a:prstGeom prst="rect">
            <a:avLst/>
          </a:prstGeom>
          <a:noFill/>
          <a:ln/>
        </p:spPr>
        <p:txBody>
          <a:bodyPr wrap="square" rtlCol="0" anchor="ctr"/>
          <a:lstStyle/>
          <a:p>
            <a:pPr marL="0" indent="0">
              <a:buNone/>
            </a:pPr>
            <a:r>
              <a:rPr lang="en-US" sz="1050" b="1" dirty="0">
                <a:solidFill>
                  <a:srgbClr val="D8432E"/>
                </a:solidFill>
                <a:latin typeface="Times New Roman" pitchFamily="34" charset="0"/>
                <a:ea typeface="Times New Roman" pitchFamily="34" charset="-122"/>
                <a:cs typeface="Times New Roman" pitchFamily="34" charset="-120"/>
              </a:rPr>
              <a:t>NFR-01</a:t>
            </a:r>
            <a:endParaRPr lang="en-US" sz="1050" dirty="0"/>
          </a:p>
        </p:txBody>
      </p:sp>
      <p:sp>
        <p:nvSpPr>
          <p:cNvPr id="36" name="Text 32"/>
          <p:cNvSpPr/>
          <p:nvPr/>
        </p:nvSpPr>
        <p:spPr>
          <a:xfrm>
            <a:off x="7296912" y="3493008"/>
            <a:ext cx="1920240" cy="52120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Hiệu năng</a:t>
            </a:r>
            <a:endParaRPr lang="en-US" sz="1100" dirty="0"/>
          </a:p>
        </p:txBody>
      </p:sp>
      <p:sp>
        <p:nvSpPr>
          <p:cNvPr id="37" name="Text 33"/>
          <p:cNvSpPr/>
          <p:nvPr/>
        </p:nvSpPr>
        <p:spPr>
          <a:xfrm>
            <a:off x="9217152" y="3493008"/>
            <a:ext cx="2423160" cy="52120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&lt; 5 giây / ảnh</a:t>
            </a:r>
            <a:endParaRPr lang="en-US" sz="1000" dirty="0"/>
          </a:p>
        </p:txBody>
      </p:sp>
      <p:sp>
        <p:nvSpPr>
          <p:cNvPr id="38" name="Shape 34"/>
          <p:cNvSpPr/>
          <p:nvPr/>
        </p:nvSpPr>
        <p:spPr>
          <a:xfrm>
            <a:off x="6245352" y="4114800"/>
            <a:ext cx="5440680" cy="521208"/>
          </a:xfrm>
          <a:prstGeom prst="roundRect">
            <a:avLst>
              <a:gd name="adj" fmla="val 1403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39" name="Text 35"/>
          <p:cNvSpPr/>
          <p:nvPr/>
        </p:nvSpPr>
        <p:spPr>
          <a:xfrm>
            <a:off x="6428232" y="4114800"/>
            <a:ext cx="868680" cy="521208"/>
          </a:xfrm>
          <a:prstGeom prst="rect">
            <a:avLst/>
          </a:prstGeom>
          <a:noFill/>
          <a:ln/>
        </p:spPr>
        <p:txBody>
          <a:bodyPr wrap="square" rtlCol="0" anchor="ctr"/>
          <a:lstStyle/>
          <a:p>
            <a:pPr marL="0" indent="0">
              <a:buNone/>
            </a:pPr>
            <a:r>
              <a:rPr lang="en-US" sz="1050" b="1" dirty="0">
                <a:solidFill>
                  <a:srgbClr val="D8432E"/>
                </a:solidFill>
                <a:latin typeface="Times New Roman" pitchFamily="34" charset="0"/>
                <a:ea typeface="Times New Roman" pitchFamily="34" charset="-122"/>
                <a:cs typeface="Times New Roman" pitchFamily="34" charset="-120"/>
              </a:rPr>
              <a:t>NFR-02</a:t>
            </a:r>
            <a:endParaRPr lang="en-US" sz="1050" dirty="0"/>
          </a:p>
        </p:txBody>
      </p:sp>
      <p:sp>
        <p:nvSpPr>
          <p:cNvPr id="40" name="Text 36"/>
          <p:cNvSpPr/>
          <p:nvPr/>
        </p:nvSpPr>
        <p:spPr>
          <a:xfrm>
            <a:off x="7296912" y="4114800"/>
            <a:ext cx="1920240" cy="52120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Độ chính xác</a:t>
            </a:r>
            <a:endParaRPr lang="en-US" sz="1100" dirty="0"/>
          </a:p>
        </p:txBody>
      </p:sp>
      <p:sp>
        <p:nvSpPr>
          <p:cNvPr id="41" name="Text 37"/>
          <p:cNvSpPr/>
          <p:nvPr/>
        </p:nvSpPr>
        <p:spPr>
          <a:xfrm>
            <a:off x="9217152" y="4114800"/>
            <a:ext cx="2423160" cy="52120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Accuracy tổng thể ≥ 90%</a:t>
            </a:r>
            <a:endParaRPr lang="en-US" sz="1000" dirty="0"/>
          </a:p>
        </p:txBody>
      </p:sp>
      <p:sp>
        <p:nvSpPr>
          <p:cNvPr id="42" name="Shape 38"/>
          <p:cNvSpPr/>
          <p:nvPr/>
        </p:nvSpPr>
        <p:spPr>
          <a:xfrm>
            <a:off x="6245352" y="4736592"/>
            <a:ext cx="5440680" cy="521208"/>
          </a:xfrm>
          <a:prstGeom prst="roundRect">
            <a:avLst>
              <a:gd name="adj" fmla="val 1403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43" name="Text 39"/>
          <p:cNvSpPr/>
          <p:nvPr/>
        </p:nvSpPr>
        <p:spPr>
          <a:xfrm>
            <a:off x="6428232" y="4736592"/>
            <a:ext cx="868680" cy="521208"/>
          </a:xfrm>
          <a:prstGeom prst="rect">
            <a:avLst/>
          </a:prstGeom>
          <a:noFill/>
          <a:ln/>
        </p:spPr>
        <p:txBody>
          <a:bodyPr wrap="square" rtlCol="0" anchor="ctr"/>
          <a:lstStyle/>
          <a:p>
            <a:pPr marL="0" indent="0">
              <a:buNone/>
            </a:pPr>
            <a:r>
              <a:rPr lang="en-US" sz="1050" b="1" dirty="0">
                <a:solidFill>
                  <a:srgbClr val="D8432E"/>
                </a:solidFill>
                <a:latin typeface="Times New Roman" pitchFamily="34" charset="0"/>
                <a:ea typeface="Times New Roman" pitchFamily="34" charset="-122"/>
                <a:cs typeface="Times New Roman" pitchFamily="34" charset="-120"/>
              </a:rPr>
              <a:t>NFR-03</a:t>
            </a:r>
            <a:endParaRPr lang="en-US" sz="1050" dirty="0"/>
          </a:p>
        </p:txBody>
      </p:sp>
      <p:sp>
        <p:nvSpPr>
          <p:cNvPr id="44" name="Text 40"/>
          <p:cNvSpPr/>
          <p:nvPr/>
        </p:nvSpPr>
        <p:spPr>
          <a:xfrm>
            <a:off x="7296912" y="4736592"/>
            <a:ext cx="1920240" cy="52120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Khả năng sử dụng</a:t>
            </a:r>
            <a:endParaRPr lang="en-US" sz="1100" dirty="0"/>
          </a:p>
        </p:txBody>
      </p:sp>
      <p:sp>
        <p:nvSpPr>
          <p:cNvPr id="45" name="Text 41"/>
          <p:cNvSpPr/>
          <p:nvPr/>
        </p:nvSpPr>
        <p:spPr>
          <a:xfrm>
            <a:off x="9217152" y="4736592"/>
            <a:ext cx="2423160" cy="52120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Giao diện đơn giản, dễ thao tác</a:t>
            </a:r>
            <a:endParaRPr lang="en-US" sz="1000" dirty="0"/>
          </a:p>
        </p:txBody>
      </p:sp>
      <p:sp>
        <p:nvSpPr>
          <p:cNvPr id="46" name="Shape 42"/>
          <p:cNvSpPr/>
          <p:nvPr/>
        </p:nvSpPr>
        <p:spPr>
          <a:xfrm>
            <a:off x="6245352" y="5358384"/>
            <a:ext cx="5440680" cy="521208"/>
          </a:xfrm>
          <a:prstGeom prst="roundRect">
            <a:avLst>
              <a:gd name="adj" fmla="val 1403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47" name="Text 43"/>
          <p:cNvSpPr/>
          <p:nvPr/>
        </p:nvSpPr>
        <p:spPr>
          <a:xfrm>
            <a:off x="6428232" y="5358384"/>
            <a:ext cx="868680" cy="521208"/>
          </a:xfrm>
          <a:prstGeom prst="rect">
            <a:avLst/>
          </a:prstGeom>
          <a:noFill/>
          <a:ln/>
        </p:spPr>
        <p:txBody>
          <a:bodyPr wrap="square" rtlCol="0" anchor="ctr"/>
          <a:lstStyle/>
          <a:p>
            <a:pPr marL="0" indent="0">
              <a:buNone/>
            </a:pPr>
            <a:r>
              <a:rPr lang="en-US" sz="1050" b="1" dirty="0">
                <a:solidFill>
                  <a:srgbClr val="D8432E"/>
                </a:solidFill>
                <a:latin typeface="Times New Roman" pitchFamily="34" charset="0"/>
                <a:ea typeface="Times New Roman" pitchFamily="34" charset="-122"/>
                <a:cs typeface="Times New Roman" pitchFamily="34" charset="-120"/>
              </a:rPr>
              <a:t>NFR-04</a:t>
            </a:r>
            <a:endParaRPr lang="en-US" sz="1050" dirty="0"/>
          </a:p>
        </p:txBody>
      </p:sp>
      <p:sp>
        <p:nvSpPr>
          <p:cNvPr id="48" name="Text 44"/>
          <p:cNvSpPr/>
          <p:nvPr/>
        </p:nvSpPr>
        <p:spPr>
          <a:xfrm>
            <a:off x="7296912" y="5358384"/>
            <a:ext cx="1920240" cy="521208"/>
          </a:xfrm>
          <a:prstGeom prst="rect">
            <a:avLst/>
          </a:prstGeom>
          <a:noFill/>
          <a:ln/>
        </p:spPr>
        <p:txBody>
          <a:bodyPr wrap="square" rtlCol="0" anchor="ctr"/>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Khả năng mở rộng</a:t>
            </a:r>
            <a:endParaRPr lang="en-US" sz="1100" dirty="0"/>
          </a:p>
        </p:txBody>
      </p:sp>
      <p:sp>
        <p:nvSpPr>
          <p:cNvPr id="49" name="Text 45"/>
          <p:cNvSpPr/>
          <p:nvPr/>
        </p:nvSpPr>
        <p:spPr>
          <a:xfrm>
            <a:off x="9217152" y="5358384"/>
            <a:ext cx="2423160" cy="521208"/>
          </a:xfrm>
          <a:prstGeom prst="rect">
            <a:avLst/>
          </a:prstGeom>
          <a:noFill/>
          <a:ln/>
        </p:spPr>
        <p:txBody>
          <a:bodyPr wrap="square" rtlCol="0" anchor="ctr"/>
          <a:lstStyle/>
          <a:p>
            <a:pPr marL="0" indent="0">
              <a:buNone/>
            </a:pPr>
            <a:r>
              <a:rPr lang="en-US" sz="1000" dirty="0">
                <a:solidFill>
                  <a:srgbClr val="5B6472"/>
                </a:solidFill>
                <a:latin typeface="Times New Roman" pitchFamily="34" charset="0"/>
                <a:ea typeface="Times New Roman" pitchFamily="34" charset="-122"/>
                <a:cs typeface="Times New Roman" pitchFamily="34" charset="-120"/>
              </a:rPr>
              <a:t>Segmentation, Detection, dữ liệu mới</a:t>
            </a:r>
            <a:endParaRPr lang="en-US" sz="1000" dirty="0"/>
          </a:p>
        </p:txBody>
      </p:sp>
      <p:sp>
        <p:nvSpPr>
          <p:cNvPr id="50" name="Shape 46"/>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51" name="Text 47"/>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09</a:t>
            </a:r>
            <a:endParaRPr lang="en-US" sz="1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1131200"/>
            <a:ext cx="566928" cy="292608"/>
          </a:xfrm>
          <a:prstGeom prst="roundRect">
            <a:avLst>
              <a:gd name="adj" fmla="val 50000"/>
            </a:avLst>
          </a:prstGeom>
          <a:solidFill>
            <a:srgbClr val="158C94"/>
          </a:solidFill>
          <a:ln/>
        </p:spPr>
      </p:sp>
      <p:sp>
        <p:nvSpPr>
          <p:cNvPr id="5" name="Text 2"/>
          <p:cNvSpPr/>
          <p:nvPr/>
        </p:nvSpPr>
        <p:spPr>
          <a:xfrm>
            <a:off x="502920" y="1131200"/>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02</a:t>
            </a:r>
            <a:endParaRPr lang="en-US" sz="1200" dirty="0"/>
          </a:p>
        </p:txBody>
      </p:sp>
      <p:sp>
        <p:nvSpPr>
          <p:cNvPr id="6" name="Text 3"/>
          <p:cNvSpPr/>
          <p:nvPr/>
        </p:nvSpPr>
        <p:spPr>
          <a:xfrm>
            <a:off x="1179576" y="1131200"/>
            <a:ext cx="9601200" cy="292608"/>
          </a:xfrm>
          <a:prstGeom prst="rect">
            <a:avLst/>
          </a:prstGeom>
          <a:noFill/>
          <a:ln/>
        </p:spPr>
        <p:txBody>
          <a:bodyPr wrap="square" rtlCol="0" anchor="ctr"/>
          <a:lstStyle/>
          <a:p>
            <a:pPr marL="0" indent="0">
              <a:buNone/>
            </a:pPr>
            <a:r>
              <a:rPr lang="en-US" sz="1250" b="1" kern="0" spc="120" dirty="0">
                <a:solidFill>
                  <a:srgbClr val="158C94"/>
                </a:solidFill>
                <a:latin typeface="Times New Roman" pitchFamily="34" charset="0"/>
                <a:ea typeface="Times New Roman" pitchFamily="34" charset="-122"/>
                <a:cs typeface="Times New Roman" pitchFamily="34" charset="-120"/>
              </a:rPr>
              <a:t>PHÂN TÍCH &amp; THIẾT KẾ HỆ THỐNG</a:t>
            </a:r>
            <a:endParaRPr lang="en-US" sz="1250" dirty="0"/>
          </a:p>
        </p:txBody>
      </p:sp>
      <p:sp>
        <p:nvSpPr>
          <p:cNvPr id="7" name="Text 4"/>
          <p:cNvSpPr/>
          <p:nvPr/>
        </p:nvSpPr>
        <p:spPr>
          <a:xfrm>
            <a:off x="678028" y="1528522"/>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Pipeline hệ thống BrainTumorAI</a:t>
            </a:r>
            <a:endParaRPr lang="en-US" sz="2500" dirty="0"/>
          </a:p>
        </p:txBody>
      </p:sp>
      <p:sp>
        <p:nvSpPr>
          <p:cNvPr id="8" name="Shape 5"/>
          <p:cNvSpPr/>
          <p:nvPr/>
        </p:nvSpPr>
        <p:spPr>
          <a:xfrm>
            <a:off x="678028" y="2324050"/>
            <a:ext cx="2331720" cy="841248"/>
          </a:xfrm>
          <a:prstGeom prst="roundRect">
            <a:avLst>
              <a:gd name="adj" fmla="val 13043"/>
            </a:avLst>
          </a:prstGeom>
          <a:solidFill>
            <a:srgbClr val="FFFFFF"/>
          </a:solidFill>
          <a:ln w="19050">
            <a:solidFill>
              <a:srgbClr val="C9960B"/>
            </a:solidFill>
            <a:prstDash val="solid"/>
          </a:ln>
          <a:effectLst>
            <a:outerShdw blurRad="101600" dist="25400" dir="5400000" algn="bl" rotWithShape="0">
              <a:srgbClr val="1B3760">
                <a:alpha val="10000"/>
              </a:srgbClr>
            </a:outerShdw>
          </a:effectLst>
        </p:spPr>
      </p:sp>
      <p:sp>
        <p:nvSpPr>
          <p:cNvPr id="9" name="Shape 6"/>
          <p:cNvSpPr/>
          <p:nvPr/>
        </p:nvSpPr>
        <p:spPr>
          <a:xfrm>
            <a:off x="806044" y="2506930"/>
            <a:ext cx="475488" cy="475488"/>
          </a:xfrm>
          <a:prstGeom prst="ellipse">
            <a:avLst/>
          </a:prstGeom>
          <a:solidFill>
            <a:srgbClr val="C9960B"/>
          </a:solidFill>
          <a:ln/>
          <a:effectLst>
            <a:outerShdw blurRad="76200" dist="25400" dir="5400000" algn="bl" rotWithShape="0">
              <a:srgbClr val="1B3760">
                <a:alpha val="18000"/>
              </a:srgbClr>
            </a:outerShdw>
          </a:effectLst>
        </p:spPr>
      </p:sp>
      <p:pic>
        <p:nvPicPr>
          <p:cNvPr id="10" name="Image 1" descr="/home/claude/work/build/upload_white.png"/>
          <p:cNvPicPr>
            <a:picLocks noChangeAspect="1"/>
          </p:cNvPicPr>
          <p:nvPr/>
        </p:nvPicPr>
        <p:blipFill>
          <a:blip r:embed="rId3"/>
          <a:stretch>
            <a:fillRect/>
          </a:stretch>
        </p:blipFill>
        <p:spPr>
          <a:xfrm>
            <a:off x="924916" y="2625802"/>
            <a:ext cx="237744" cy="237744"/>
          </a:xfrm>
          <a:prstGeom prst="rect">
            <a:avLst/>
          </a:prstGeom>
        </p:spPr>
      </p:pic>
      <p:sp>
        <p:nvSpPr>
          <p:cNvPr id="11" name="Text 7"/>
          <p:cNvSpPr/>
          <p:nvPr/>
        </p:nvSpPr>
        <p:spPr>
          <a:xfrm>
            <a:off x="1391260" y="2442922"/>
            <a:ext cx="1463040" cy="365760"/>
          </a:xfrm>
          <a:prstGeom prst="rect">
            <a:avLst/>
          </a:prstGeom>
          <a:noFill/>
          <a:ln/>
        </p:spPr>
        <p:txBody>
          <a:bodyPr wrap="square" rtlCol="0" anchor="b"/>
          <a:lstStyle/>
          <a:p>
            <a:pPr marL="0" indent="0">
              <a:buNone/>
            </a:pPr>
            <a:r>
              <a:rPr lang="en-US" sz="1150" b="1" dirty="0">
                <a:solidFill>
                  <a:srgbClr val="0B1E3D"/>
                </a:solidFill>
                <a:latin typeface="Times New Roman" pitchFamily="34" charset="0"/>
                <a:ea typeface="Times New Roman" pitchFamily="34" charset="-122"/>
                <a:cs typeface="Times New Roman" pitchFamily="34" charset="-120"/>
              </a:rPr>
              <a:t>Ảnh MRI</a:t>
            </a:r>
            <a:endParaRPr lang="en-US" sz="1150" dirty="0"/>
          </a:p>
        </p:txBody>
      </p:sp>
      <p:sp>
        <p:nvSpPr>
          <p:cNvPr id="12" name="Text 8"/>
          <p:cNvSpPr/>
          <p:nvPr/>
        </p:nvSpPr>
        <p:spPr>
          <a:xfrm>
            <a:off x="1391260" y="2799538"/>
            <a:ext cx="1463040" cy="347472"/>
          </a:xfrm>
          <a:prstGeom prst="rect">
            <a:avLst/>
          </a:prstGeom>
          <a:noFill/>
          <a:ln/>
        </p:spPr>
        <p:txBody>
          <a:bodyPr wrap="square" rtlCol="0" anchor="t"/>
          <a:lstStyle/>
          <a:p>
            <a:pPr marL="0" indent="0">
              <a:lnSpc>
                <a:spcPct val="102000"/>
              </a:lnSpc>
              <a:buNone/>
            </a:pPr>
            <a:r>
              <a:rPr lang="en-US" sz="880" dirty="0">
                <a:solidFill>
                  <a:srgbClr val="5B6472"/>
                </a:solidFill>
                <a:latin typeface="Times New Roman" pitchFamily="34" charset="0"/>
                <a:ea typeface="Times New Roman" pitchFamily="34" charset="-122"/>
                <a:cs typeface="Times New Roman" pitchFamily="34" charset="-120"/>
              </a:rPr>
              <a:t>Input</a:t>
            </a:r>
            <a:endParaRPr lang="en-US" sz="880" dirty="0"/>
          </a:p>
        </p:txBody>
      </p:sp>
      <p:sp>
        <p:nvSpPr>
          <p:cNvPr id="13" name="Shape 9"/>
          <p:cNvSpPr/>
          <p:nvPr/>
        </p:nvSpPr>
        <p:spPr>
          <a:xfrm>
            <a:off x="3064612" y="2625802"/>
            <a:ext cx="393192" cy="237744"/>
          </a:xfrm>
          <a:prstGeom prst="rightArrow">
            <a:avLst/>
          </a:prstGeom>
          <a:solidFill>
            <a:srgbClr val="B6C0CC"/>
          </a:solidFill>
          <a:ln/>
        </p:spPr>
      </p:sp>
      <p:sp>
        <p:nvSpPr>
          <p:cNvPr id="14" name="Shape 10"/>
          <p:cNvSpPr/>
          <p:nvPr/>
        </p:nvSpPr>
        <p:spPr>
          <a:xfrm>
            <a:off x="3512668" y="2324050"/>
            <a:ext cx="2331720" cy="841248"/>
          </a:xfrm>
          <a:prstGeom prst="roundRect">
            <a:avLst>
              <a:gd name="adj" fmla="val 13043"/>
            </a:avLst>
          </a:prstGeom>
          <a:solidFill>
            <a:srgbClr val="FFFFFF"/>
          </a:solidFill>
          <a:ln w="19050">
            <a:solidFill>
              <a:srgbClr val="158C94"/>
            </a:solidFill>
            <a:prstDash val="solid"/>
          </a:ln>
          <a:effectLst>
            <a:outerShdw blurRad="101600" dist="25400" dir="5400000" algn="bl" rotWithShape="0">
              <a:srgbClr val="1B3760">
                <a:alpha val="10000"/>
              </a:srgbClr>
            </a:outerShdw>
          </a:effectLst>
        </p:spPr>
      </p:sp>
      <p:sp>
        <p:nvSpPr>
          <p:cNvPr id="15" name="Shape 11"/>
          <p:cNvSpPr/>
          <p:nvPr/>
        </p:nvSpPr>
        <p:spPr>
          <a:xfrm>
            <a:off x="3640684" y="2506930"/>
            <a:ext cx="475488" cy="475488"/>
          </a:xfrm>
          <a:prstGeom prst="ellipse">
            <a:avLst/>
          </a:prstGeom>
          <a:solidFill>
            <a:srgbClr val="158C94"/>
          </a:solidFill>
          <a:ln/>
          <a:effectLst>
            <a:outerShdw blurRad="76200" dist="25400" dir="5400000" algn="bl" rotWithShape="0">
              <a:srgbClr val="1B3760">
                <a:alpha val="18000"/>
              </a:srgbClr>
            </a:outerShdw>
          </a:effectLst>
        </p:spPr>
      </p:sp>
      <p:pic>
        <p:nvPicPr>
          <p:cNvPr id="16" name="Image 2" descr="/home/claude/work/build/filter_white.png"/>
          <p:cNvPicPr>
            <a:picLocks noChangeAspect="1"/>
          </p:cNvPicPr>
          <p:nvPr/>
        </p:nvPicPr>
        <p:blipFill>
          <a:blip r:embed="rId4"/>
          <a:stretch>
            <a:fillRect/>
          </a:stretch>
        </p:blipFill>
        <p:spPr>
          <a:xfrm>
            <a:off x="3759556" y="2625802"/>
            <a:ext cx="237744" cy="237744"/>
          </a:xfrm>
          <a:prstGeom prst="rect">
            <a:avLst/>
          </a:prstGeom>
        </p:spPr>
      </p:pic>
      <p:sp>
        <p:nvSpPr>
          <p:cNvPr id="17" name="Text 12"/>
          <p:cNvSpPr/>
          <p:nvPr/>
        </p:nvSpPr>
        <p:spPr>
          <a:xfrm>
            <a:off x="4225900" y="2442922"/>
            <a:ext cx="1463040" cy="365760"/>
          </a:xfrm>
          <a:prstGeom prst="rect">
            <a:avLst/>
          </a:prstGeom>
          <a:noFill/>
          <a:ln/>
        </p:spPr>
        <p:txBody>
          <a:bodyPr wrap="square" rtlCol="0" anchor="b"/>
          <a:lstStyle/>
          <a:p>
            <a:pPr marL="0" indent="0">
              <a:buNone/>
            </a:pPr>
            <a:r>
              <a:rPr lang="en-US" sz="1150" b="1" dirty="0">
                <a:solidFill>
                  <a:srgbClr val="0B1E3D"/>
                </a:solidFill>
                <a:latin typeface="Times New Roman" pitchFamily="34" charset="0"/>
                <a:ea typeface="Times New Roman" pitchFamily="34" charset="-122"/>
                <a:cs typeface="Times New Roman" pitchFamily="34" charset="-120"/>
              </a:rPr>
              <a:t>Tiền xử lý dữ liệu</a:t>
            </a:r>
            <a:endParaRPr lang="en-US" sz="1150" dirty="0"/>
          </a:p>
        </p:txBody>
      </p:sp>
      <p:sp>
        <p:nvSpPr>
          <p:cNvPr id="18" name="Text 13"/>
          <p:cNvSpPr/>
          <p:nvPr/>
        </p:nvSpPr>
        <p:spPr>
          <a:xfrm>
            <a:off x="4225900" y="2799538"/>
            <a:ext cx="1463040" cy="347472"/>
          </a:xfrm>
          <a:prstGeom prst="rect">
            <a:avLst/>
          </a:prstGeom>
          <a:noFill/>
          <a:ln/>
        </p:spPr>
        <p:txBody>
          <a:bodyPr wrap="square" rtlCol="0" anchor="t"/>
          <a:lstStyle/>
          <a:p>
            <a:pPr marL="0" indent="0">
              <a:lnSpc>
                <a:spcPct val="102000"/>
              </a:lnSpc>
              <a:buNone/>
            </a:pPr>
            <a:r>
              <a:rPr lang="en-US" sz="880" dirty="0">
                <a:solidFill>
                  <a:srgbClr val="5B6472"/>
                </a:solidFill>
                <a:latin typeface="Times New Roman" pitchFamily="34" charset="0"/>
                <a:ea typeface="Times New Roman" pitchFamily="34" charset="-122"/>
                <a:cs typeface="Times New Roman" pitchFamily="34" charset="-120"/>
              </a:rPr>
              <a:t>Data Preprocessing</a:t>
            </a:r>
            <a:endParaRPr lang="en-US" sz="880" dirty="0"/>
          </a:p>
        </p:txBody>
      </p:sp>
      <p:sp>
        <p:nvSpPr>
          <p:cNvPr id="19" name="Shape 14"/>
          <p:cNvSpPr/>
          <p:nvPr/>
        </p:nvSpPr>
        <p:spPr>
          <a:xfrm>
            <a:off x="5899252" y="2625802"/>
            <a:ext cx="393192" cy="237744"/>
          </a:xfrm>
          <a:prstGeom prst="rightArrow">
            <a:avLst/>
          </a:prstGeom>
          <a:solidFill>
            <a:srgbClr val="B6C0CC"/>
          </a:solidFill>
          <a:ln/>
        </p:spPr>
      </p:sp>
      <p:sp>
        <p:nvSpPr>
          <p:cNvPr id="20" name="Shape 15"/>
          <p:cNvSpPr/>
          <p:nvPr/>
        </p:nvSpPr>
        <p:spPr>
          <a:xfrm>
            <a:off x="6347308" y="2324050"/>
            <a:ext cx="2331720" cy="841248"/>
          </a:xfrm>
          <a:prstGeom prst="roundRect">
            <a:avLst>
              <a:gd name="adj" fmla="val 13043"/>
            </a:avLst>
          </a:prstGeom>
          <a:solidFill>
            <a:srgbClr val="FFFFFF"/>
          </a:solidFill>
          <a:ln w="19050">
            <a:solidFill>
              <a:srgbClr val="D8432E"/>
            </a:solidFill>
            <a:prstDash val="solid"/>
          </a:ln>
          <a:effectLst>
            <a:outerShdw blurRad="101600" dist="25400" dir="5400000" algn="bl" rotWithShape="0">
              <a:srgbClr val="1B3760">
                <a:alpha val="10000"/>
              </a:srgbClr>
            </a:outerShdw>
          </a:effectLst>
        </p:spPr>
      </p:sp>
      <p:sp>
        <p:nvSpPr>
          <p:cNvPr id="21" name="Shape 16"/>
          <p:cNvSpPr/>
          <p:nvPr/>
        </p:nvSpPr>
        <p:spPr>
          <a:xfrm>
            <a:off x="6475324" y="2506930"/>
            <a:ext cx="475488" cy="475488"/>
          </a:xfrm>
          <a:prstGeom prst="ellipse">
            <a:avLst/>
          </a:prstGeom>
          <a:solidFill>
            <a:srgbClr val="D8432E"/>
          </a:solidFill>
          <a:ln/>
          <a:effectLst>
            <a:outerShdw blurRad="76200" dist="25400" dir="5400000" algn="bl" rotWithShape="0">
              <a:srgbClr val="1B3760">
                <a:alpha val="18000"/>
              </a:srgbClr>
            </a:outerShdw>
          </a:effectLst>
        </p:spPr>
      </p:sp>
      <p:pic>
        <p:nvPicPr>
          <p:cNvPr id="22" name="Image 3" descr="/home/claude/work/build/brain_white.png"/>
          <p:cNvPicPr>
            <a:picLocks noChangeAspect="1"/>
          </p:cNvPicPr>
          <p:nvPr/>
        </p:nvPicPr>
        <p:blipFill>
          <a:blip r:embed="rId5"/>
          <a:stretch>
            <a:fillRect/>
          </a:stretch>
        </p:blipFill>
        <p:spPr>
          <a:xfrm>
            <a:off x="6594196" y="2625802"/>
            <a:ext cx="237744" cy="237744"/>
          </a:xfrm>
          <a:prstGeom prst="rect">
            <a:avLst/>
          </a:prstGeom>
        </p:spPr>
      </p:pic>
      <p:sp>
        <p:nvSpPr>
          <p:cNvPr id="23" name="Text 17"/>
          <p:cNvSpPr/>
          <p:nvPr/>
        </p:nvSpPr>
        <p:spPr>
          <a:xfrm>
            <a:off x="7060540" y="2442922"/>
            <a:ext cx="1463040" cy="365760"/>
          </a:xfrm>
          <a:prstGeom prst="rect">
            <a:avLst/>
          </a:prstGeom>
          <a:noFill/>
          <a:ln/>
        </p:spPr>
        <p:txBody>
          <a:bodyPr wrap="square" rtlCol="0" anchor="b"/>
          <a:lstStyle/>
          <a:p>
            <a:pPr marL="0" indent="0">
              <a:buNone/>
            </a:pPr>
            <a:r>
              <a:rPr lang="en-US" sz="1150" b="1" dirty="0">
                <a:solidFill>
                  <a:srgbClr val="0B1E3D"/>
                </a:solidFill>
                <a:latin typeface="Times New Roman" pitchFamily="34" charset="0"/>
                <a:ea typeface="Times New Roman" pitchFamily="34" charset="-122"/>
                <a:cs typeface="Times New Roman" pitchFamily="34" charset="-120"/>
              </a:rPr>
              <a:t>Mô hình CNN</a:t>
            </a:r>
            <a:endParaRPr lang="en-US" sz="1150" dirty="0"/>
          </a:p>
        </p:txBody>
      </p:sp>
      <p:sp>
        <p:nvSpPr>
          <p:cNvPr id="24" name="Text 18"/>
          <p:cNvSpPr/>
          <p:nvPr/>
        </p:nvSpPr>
        <p:spPr>
          <a:xfrm>
            <a:off x="7060540" y="2799538"/>
            <a:ext cx="1463040" cy="347472"/>
          </a:xfrm>
          <a:prstGeom prst="rect">
            <a:avLst/>
          </a:prstGeom>
          <a:noFill/>
          <a:ln/>
        </p:spPr>
        <p:txBody>
          <a:bodyPr wrap="square" rtlCol="0" anchor="t"/>
          <a:lstStyle/>
          <a:p>
            <a:pPr marL="0" indent="0">
              <a:lnSpc>
                <a:spcPct val="102000"/>
              </a:lnSpc>
              <a:buNone/>
            </a:pPr>
            <a:r>
              <a:rPr lang="en-US" sz="880" dirty="0">
                <a:solidFill>
                  <a:srgbClr val="5B6472"/>
                </a:solidFill>
                <a:latin typeface="Times New Roman" pitchFamily="34" charset="0"/>
                <a:ea typeface="Times New Roman" pitchFamily="34" charset="-122"/>
                <a:cs typeface="Times New Roman" pitchFamily="34" charset="-120"/>
              </a:rPr>
              <a:t>EfficientNetB0 / DenseNet121</a:t>
            </a:r>
            <a:endParaRPr lang="en-US" sz="880" dirty="0"/>
          </a:p>
        </p:txBody>
      </p:sp>
      <p:sp>
        <p:nvSpPr>
          <p:cNvPr id="25" name="Shape 19"/>
          <p:cNvSpPr/>
          <p:nvPr/>
        </p:nvSpPr>
        <p:spPr>
          <a:xfrm>
            <a:off x="7513168" y="3165298"/>
            <a:ext cx="0" cy="201168"/>
          </a:xfrm>
          <a:prstGeom prst="line">
            <a:avLst/>
          </a:prstGeom>
          <a:noFill/>
          <a:ln w="25400">
            <a:solidFill>
              <a:srgbClr val="B6C0CC"/>
            </a:solidFill>
            <a:prstDash val="solid"/>
          </a:ln>
        </p:spPr>
      </p:sp>
      <p:sp>
        <p:nvSpPr>
          <p:cNvPr id="26" name="Shape 20"/>
          <p:cNvSpPr/>
          <p:nvPr/>
        </p:nvSpPr>
        <p:spPr>
          <a:xfrm>
            <a:off x="5181448" y="3366466"/>
            <a:ext cx="4663440" cy="0"/>
          </a:xfrm>
          <a:prstGeom prst="line">
            <a:avLst/>
          </a:prstGeom>
          <a:noFill/>
          <a:ln w="25400">
            <a:solidFill>
              <a:srgbClr val="B6C0CC"/>
            </a:solidFill>
            <a:prstDash val="solid"/>
          </a:ln>
        </p:spPr>
      </p:sp>
      <p:sp>
        <p:nvSpPr>
          <p:cNvPr id="27" name="Shape 21"/>
          <p:cNvSpPr/>
          <p:nvPr/>
        </p:nvSpPr>
        <p:spPr>
          <a:xfrm>
            <a:off x="5181448" y="3366466"/>
            <a:ext cx="0" cy="201168"/>
          </a:xfrm>
          <a:prstGeom prst="line">
            <a:avLst/>
          </a:prstGeom>
          <a:noFill/>
          <a:ln w="25400">
            <a:solidFill>
              <a:srgbClr val="B6C0CC"/>
            </a:solidFill>
            <a:prstDash val="solid"/>
          </a:ln>
        </p:spPr>
      </p:sp>
      <p:sp>
        <p:nvSpPr>
          <p:cNvPr id="28" name="Shape 22"/>
          <p:cNvSpPr/>
          <p:nvPr/>
        </p:nvSpPr>
        <p:spPr>
          <a:xfrm>
            <a:off x="9844888" y="3366466"/>
            <a:ext cx="0" cy="201168"/>
          </a:xfrm>
          <a:prstGeom prst="line">
            <a:avLst/>
          </a:prstGeom>
          <a:noFill/>
          <a:ln w="25400">
            <a:solidFill>
              <a:srgbClr val="B6C0CC"/>
            </a:solidFill>
            <a:prstDash val="solid"/>
          </a:ln>
        </p:spPr>
      </p:sp>
      <p:sp>
        <p:nvSpPr>
          <p:cNvPr id="29" name="Shape 23"/>
          <p:cNvSpPr/>
          <p:nvPr/>
        </p:nvSpPr>
        <p:spPr>
          <a:xfrm>
            <a:off x="3809848" y="3567634"/>
            <a:ext cx="2743200" cy="731520"/>
          </a:xfrm>
          <a:prstGeom prst="roundRect">
            <a:avLst>
              <a:gd name="adj" fmla="val 15000"/>
            </a:avLst>
          </a:prstGeom>
          <a:solidFill>
            <a:srgbClr val="FFFFFF"/>
          </a:solidFill>
          <a:ln w="19050">
            <a:solidFill>
              <a:srgbClr val="158C94"/>
            </a:solidFill>
            <a:prstDash val="solid"/>
          </a:ln>
          <a:effectLst>
            <a:outerShdw blurRad="101600" dist="25400" dir="5400000" algn="bl" rotWithShape="0">
              <a:srgbClr val="1B3760">
                <a:alpha val="10000"/>
              </a:srgbClr>
            </a:outerShdw>
          </a:effectLst>
        </p:spPr>
      </p:sp>
      <p:sp>
        <p:nvSpPr>
          <p:cNvPr id="30" name="Shape 24"/>
          <p:cNvSpPr/>
          <p:nvPr/>
        </p:nvSpPr>
        <p:spPr>
          <a:xfrm>
            <a:off x="3928720" y="3713938"/>
            <a:ext cx="438912" cy="438912"/>
          </a:xfrm>
          <a:prstGeom prst="ellipse">
            <a:avLst/>
          </a:prstGeom>
          <a:solidFill>
            <a:srgbClr val="158C94"/>
          </a:solidFill>
          <a:ln/>
          <a:effectLst>
            <a:outerShdw blurRad="76200" dist="25400" dir="5400000" algn="bl" rotWithShape="0">
              <a:srgbClr val="1B3760">
                <a:alpha val="18000"/>
              </a:srgbClr>
            </a:outerShdw>
          </a:effectLst>
        </p:spPr>
      </p:sp>
      <p:pic>
        <p:nvPicPr>
          <p:cNvPr id="31" name="Image 4" descr="/home/claude/work/build/target_white.png"/>
          <p:cNvPicPr>
            <a:picLocks noChangeAspect="1"/>
          </p:cNvPicPr>
          <p:nvPr/>
        </p:nvPicPr>
        <p:blipFill>
          <a:blip r:embed="rId6"/>
          <a:stretch>
            <a:fillRect/>
          </a:stretch>
        </p:blipFill>
        <p:spPr>
          <a:xfrm>
            <a:off x="4038448" y="3823666"/>
            <a:ext cx="219456" cy="219456"/>
          </a:xfrm>
          <a:prstGeom prst="rect">
            <a:avLst/>
          </a:prstGeom>
        </p:spPr>
      </p:pic>
      <p:sp>
        <p:nvSpPr>
          <p:cNvPr id="32" name="Text 25"/>
          <p:cNvSpPr/>
          <p:nvPr/>
        </p:nvSpPr>
        <p:spPr>
          <a:xfrm>
            <a:off x="4449928" y="3659074"/>
            <a:ext cx="1965960" cy="347472"/>
          </a:xfrm>
          <a:prstGeom prst="rect">
            <a:avLst/>
          </a:prstGeom>
          <a:noFill/>
          <a:ln/>
        </p:spPr>
        <p:txBody>
          <a:bodyPr wrap="square" rtlCol="0" anchor="b"/>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(a) Phân loại khối u</a:t>
            </a:r>
            <a:endParaRPr lang="en-US" sz="1100" dirty="0"/>
          </a:p>
        </p:txBody>
      </p:sp>
      <p:sp>
        <p:nvSpPr>
          <p:cNvPr id="33" name="Text 26"/>
          <p:cNvSpPr/>
          <p:nvPr/>
        </p:nvSpPr>
        <p:spPr>
          <a:xfrm>
            <a:off x="4449928" y="3997402"/>
            <a:ext cx="1965960" cy="292608"/>
          </a:xfrm>
          <a:prstGeom prst="rect">
            <a:avLst/>
          </a:prstGeom>
          <a:noFill/>
          <a:ln/>
        </p:spPr>
        <p:txBody>
          <a:bodyPr wrap="square" rtlCol="0" anchor="t"/>
          <a:lstStyle/>
          <a:p>
            <a:pPr marL="0" indent="0">
              <a:buNone/>
            </a:pPr>
            <a:r>
              <a:rPr lang="en-US" sz="850" dirty="0">
                <a:solidFill>
                  <a:srgbClr val="5B6472"/>
                </a:solidFill>
                <a:latin typeface="Times New Roman" pitchFamily="34" charset="0"/>
                <a:ea typeface="Times New Roman" pitchFamily="34" charset="-122"/>
                <a:cs typeface="Times New Roman" pitchFamily="34" charset="-120"/>
              </a:rPr>
              <a:t>Class + xác suất</a:t>
            </a:r>
            <a:endParaRPr lang="en-US" sz="850" dirty="0"/>
          </a:p>
        </p:txBody>
      </p:sp>
      <p:sp>
        <p:nvSpPr>
          <p:cNvPr id="34" name="Shape 27"/>
          <p:cNvSpPr/>
          <p:nvPr/>
        </p:nvSpPr>
        <p:spPr>
          <a:xfrm>
            <a:off x="8473288" y="3567634"/>
            <a:ext cx="2743200" cy="731520"/>
          </a:xfrm>
          <a:prstGeom prst="roundRect">
            <a:avLst>
              <a:gd name="adj" fmla="val 15000"/>
            </a:avLst>
          </a:prstGeom>
          <a:solidFill>
            <a:srgbClr val="FFFFFF"/>
          </a:solidFill>
          <a:ln w="19050">
            <a:solidFill>
              <a:srgbClr val="C9960B"/>
            </a:solidFill>
            <a:prstDash val="solid"/>
          </a:ln>
          <a:effectLst>
            <a:outerShdw blurRad="101600" dist="25400" dir="5400000" algn="bl" rotWithShape="0">
              <a:srgbClr val="1B3760">
                <a:alpha val="10000"/>
              </a:srgbClr>
            </a:outerShdw>
          </a:effectLst>
        </p:spPr>
      </p:sp>
      <p:sp>
        <p:nvSpPr>
          <p:cNvPr id="35" name="Shape 28"/>
          <p:cNvSpPr/>
          <p:nvPr/>
        </p:nvSpPr>
        <p:spPr>
          <a:xfrm>
            <a:off x="8592160" y="3713938"/>
            <a:ext cx="438912" cy="438912"/>
          </a:xfrm>
          <a:prstGeom prst="ellipse">
            <a:avLst/>
          </a:prstGeom>
          <a:solidFill>
            <a:srgbClr val="C9960B"/>
          </a:solidFill>
          <a:ln/>
          <a:effectLst>
            <a:outerShdw blurRad="76200" dist="25400" dir="5400000" algn="bl" rotWithShape="0">
              <a:srgbClr val="1B3760">
                <a:alpha val="18000"/>
              </a:srgbClr>
            </a:outerShdw>
          </a:effectLst>
        </p:spPr>
      </p:sp>
      <p:pic>
        <p:nvPicPr>
          <p:cNvPr id="36" name="Image 5" descr="/home/claude/work/build/eye_white.png"/>
          <p:cNvPicPr>
            <a:picLocks noChangeAspect="1"/>
          </p:cNvPicPr>
          <p:nvPr/>
        </p:nvPicPr>
        <p:blipFill>
          <a:blip r:embed="rId7"/>
          <a:stretch>
            <a:fillRect/>
          </a:stretch>
        </p:blipFill>
        <p:spPr>
          <a:xfrm>
            <a:off x="8701888" y="3823666"/>
            <a:ext cx="219456" cy="219456"/>
          </a:xfrm>
          <a:prstGeom prst="rect">
            <a:avLst/>
          </a:prstGeom>
        </p:spPr>
      </p:pic>
      <p:sp>
        <p:nvSpPr>
          <p:cNvPr id="37" name="Text 29"/>
          <p:cNvSpPr/>
          <p:nvPr/>
        </p:nvSpPr>
        <p:spPr>
          <a:xfrm>
            <a:off x="9113368" y="3659074"/>
            <a:ext cx="1965960" cy="347472"/>
          </a:xfrm>
          <a:prstGeom prst="rect">
            <a:avLst/>
          </a:prstGeom>
          <a:noFill/>
          <a:ln/>
        </p:spPr>
        <p:txBody>
          <a:bodyPr wrap="square" rtlCol="0" anchor="b"/>
          <a:lstStyle/>
          <a:p>
            <a:pPr marL="0" indent="0">
              <a:buNone/>
            </a:pPr>
            <a:r>
              <a:rPr lang="en-US" sz="1100" b="1" dirty="0">
                <a:solidFill>
                  <a:srgbClr val="0B1E3D"/>
                </a:solidFill>
                <a:latin typeface="Times New Roman" pitchFamily="34" charset="0"/>
                <a:ea typeface="Times New Roman" pitchFamily="34" charset="-122"/>
                <a:cs typeface="Times New Roman" pitchFamily="34" charset="-120"/>
              </a:rPr>
              <a:t>(b) Grad-CAM</a:t>
            </a:r>
            <a:endParaRPr lang="en-US" sz="1100" dirty="0"/>
          </a:p>
        </p:txBody>
      </p:sp>
      <p:sp>
        <p:nvSpPr>
          <p:cNvPr id="38" name="Text 30"/>
          <p:cNvSpPr/>
          <p:nvPr/>
        </p:nvSpPr>
        <p:spPr>
          <a:xfrm>
            <a:off x="9113368" y="3997402"/>
            <a:ext cx="1965960" cy="292608"/>
          </a:xfrm>
          <a:prstGeom prst="rect">
            <a:avLst/>
          </a:prstGeom>
          <a:noFill/>
          <a:ln/>
        </p:spPr>
        <p:txBody>
          <a:bodyPr wrap="square" rtlCol="0" anchor="t"/>
          <a:lstStyle/>
          <a:p>
            <a:pPr marL="0" indent="0">
              <a:buNone/>
            </a:pPr>
            <a:r>
              <a:rPr lang="en-US" sz="850" dirty="0">
                <a:solidFill>
                  <a:srgbClr val="5B6472"/>
                </a:solidFill>
                <a:latin typeface="Times New Roman" pitchFamily="34" charset="0"/>
                <a:ea typeface="Times New Roman" pitchFamily="34" charset="-122"/>
                <a:cs typeface="Times New Roman" pitchFamily="34" charset="-120"/>
              </a:rPr>
              <a:t>Bản đồ nhiệt vùng quyết định</a:t>
            </a:r>
            <a:endParaRPr lang="en-US" sz="850" dirty="0"/>
          </a:p>
        </p:txBody>
      </p:sp>
      <p:sp>
        <p:nvSpPr>
          <p:cNvPr id="39" name="Shape 31"/>
          <p:cNvSpPr/>
          <p:nvPr/>
        </p:nvSpPr>
        <p:spPr>
          <a:xfrm>
            <a:off x="5181448" y="4299154"/>
            <a:ext cx="0" cy="201168"/>
          </a:xfrm>
          <a:prstGeom prst="line">
            <a:avLst/>
          </a:prstGeom>
          <a:noFill/>
          <a:ln w="25400">
            <a:solidFill>
              <a:srgbClr val="B6C0CC"/>
            </a:solidFill>
            <a:prstDash val="solid"/>
          </a:ln>
        </p:spPr>
      </p:sp>
      <p:sp>
        <p:nvSpPr>
          <p:cNvPr id="40" name="Shape 32"/>
          <p:cNvSpPr/>
          <p:nvPr/>
        </p:nvSpPr>
        <p:spPr>
          <a:xfrm>
            <a:off x="9844888" y="4299154"/>
            <a:ext cx="0" cy="201168"/>
          </a:xfrm>
          <a:prstGeom prst="line">
            <a:avLst/>
          </a:prstGeom>
          <a:noFill/>
          <a:ln w="25400">
            <a:solidFill>
              <a:srgbClr val="B6C0CC"/>
            </a:solidFill>
            <a:prstDash val="solid"/>
          </a:ln>
        </p:spPr>
      </p:sp>
      <p:sp>
        <p:nvSpPr>
          <p:cNvPr id="41" name="Shape 33"/>
          <p:cNvSpPr/>
          <p:nvPr/>
        </p:nvSpPr>
        <p:spPr>
          <a:xfrm>
            <a:off x="5181448" y="4500322"/>
            <a:ext cx="4663440" cy="0"/>
          </a:xfrm>
          <a:prstGeom prst="line">
            <a:avLst/>
          </a:prstGeom>
          <a:noFill/>
          <a:ln w="25400">
            <a:solidFill>
              <a:srgbClr val="B6C0CC"/>
            </a:solidFill>
            <a:prstDash val="solid"/>
          </a:ln>
        </p:spPr>
      </p:sp>
      <p:sp>
        <p:nvSpPr>
          <p:cNvPr id="42" name="Shape 34"/>
          <p:cNvSpPr/>
          <p:nvPr/>
        </p:nvSpPr>
        <p:spPr>
          <a:xfrm>
            <a:off x="7513168" y="4500322"/>
            <a:ext cx="0" cy="201168"/>
          </a:xfrm>
          <a:prstGeom prst="line">
            <a:avLst/>
          </a:prstGeom>
          <a:noFill/>
          <a:ln w="25400">
            <a:solidFill>
              <a:srgbClr val="B6C0CC"/>
            </a:solidFill>
            <a:prstDash val="solid"/>
          </a:ln>
        </p:spPr>
      </p:sp>
      <p:sp>
        <p:nvSpPr>
          <p:cNvPr id="43" name="Shape 35"/>
          <p:cNvSpPr/>
          <p:nvPr/>
        </p:nvSpPr>
        <p:spPr>
          <a:xfrm>
            <a:off x="4495648" y="4701490"/>
            <a:ext cx="6035040" cy="566928"/>
          </a:xfrm>
          <a:prstGeom prst="roundRect">
            <a:avLst>
              <a:gd name="adj" fmla="val 19355"/>
            </a:avLst>
          </a:prstGeom>
          <a:solidFill>
            <a:srgbClr val="D8432E"/>
          </a:solidFill>
          <a:ln/>
          <a:effectLst>
            <a:outerShdw blurRad="101600" dist="25400" dir="5400000" algn="bl" rotWithShape="0">
              <a:srgbClr val="1B3760">
                <a:alpha val="22000"/>
              </a:srgbClr>
            </a:outerShdw>
          </a:effectLst>
        </p:spPr>
      </p:sp>
      <p:sp>
        <p:nvSpPr>
          <p:cNvPr id="44" name="Shape 36"/>
          <p:cNvSpPr/>
          <p:nvPr/>
        </p:nvSpPr>
        <p:spPr>
          <a:xfrm>
            <a:off x="4614520" y="4820362"/>
            <a:ext cx="329184" cy="329184"/>
          </a:xfrm>
          <a:prstGeom prst="ellipse">
            <a:avLst/>
          </a:prstGeom>
          <a:solidFill>
            <a:srgbClr val="FFFFFF"/>
          </a:solidFill>
          <a:ln/>
          <a:effectLst>
            <a:outerShdw blurRad="76200" dist="25400" dir="5400000" algn="bl" rotWithShape="0">
              <a:srgbClr val="1B3760">
                <a:alpha val="18000"/>
              </a:srgbClr>
            </a:outerShdw>
          </a:effectLst>
        </p:spPr>
      </p:sp>
      <p:pic>
        <p:nvPicPr>
          <p:cNvPr id="45" name="Image 6" descr="/home/claude/work/build/check_white.png"/>
          <p:cNvPicPr>
            <a:picLocks noChangeAspect="1"/>
          </p:cNvPicPr>
          <p:nvPr/>
        </p:nvPicPr>
        <p:blipFill>
          <a:blip r:embed="rId8"/>
          <a:stretch>
            <a:fillRect/>
          </a:stretch>
        </p:blipFill>
        <p:spPr>
          <a:xfrm>
            <a:off x="4696816" y="4902658"/>
            <a:ext cx="164592" cy="164592"/>
          </a:xfrm>
          <a:prstGeom prst="rect">
            <a:avLst/>
          </a:prstGeom>
        </p:spPr>
      </p:pic>
      <p:sp>
        <p:nvSpPr>
          <p:cNvPr id="46" name="Text 37"/>
          <p:cNvSpPr/>
          <p:nvPr/>
        </p:nvSpPr>
        <p:spPr>
          <a:xfrm>
            <a:off x="5090008" y="4701490"/>
            <a:ext cx="5257800" cy="566928"/>
          </a:xfrm>
          <a:prstGeom prst="rect">
            <a:avLst/>
          </a:prstGeom>
          <a:noFill/>
          <a:ln/>
        </p:spPr>
        <p:txBody>
          <a:bodyPr wrap="square"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Kết quả có thể giải thích  —  Ảnh + Xác suất + Heatmap</a:t>
            </a:r>
            <a:endParaRPr lang="en-US" sz="1200" dirty="0"/>
          </a:p>
        </p:txBody>
      </p:sp>
      <p:sp>
        <p:nvSpPr>
          <p:cNvPr id="47" name="Shape 38"/>
          <p:cNvSpPr/>
          <p:nvPr/>
        </p:nvSpPr>
        <p:spPr>
          <a:xfrm>
            <a:off x="7513168" y="5268418"/>
            <a:ext cx="0" cy="201168"/>
          </a:xfrm>
          <a:prstGeom prst="line">
            <a:avLst/>
          </a:prstGeom>
          <a:noFill/>
          <a:ln w="25400">
            <a:solidFill>
              <a:srgbClr val="B6C0CC"/>
            </a:solidFill>
            <a:prstDash val="solid"/>
          </a:ln>
        </p:spPr>
      </p:sp>
      <p:sp>
        <p:nvSpPr>
          <p:cNvPr id="48" name="Shape 39"/>
          <p:cNvSpPr/>
          <p:nvPr/>
        </p:nvSpPr>
        <p:spPr>
          <a:xfrm>
            <a:off x="5867248" y="5469586"/>
            <a:ext cx="3291840" cy="493776"/>
          </a:xfrm>
          <a:prstGeom prst="roundRect">
            <a:avLst>
              <a:gd name="adj" fmla="val 18519"/>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49" name="Shape 40"/>
          <p:cNvSpPr/>
          <p:nvPr/>
        </p:nvSpPr>
        <p:spPr>
          <a:xfrm>
            <a:off x="5958688" y="5579314"/>
            <a:ext cx="274320" cy="274320"/>
          </a:xfrm>
          <a:prstGeom prst="ellipse">
            <a:avLst/>
          </a:prstGeom>
          <a:solidFill>
            <a:srgbClr val="FBF2DD"/>
          </a:solidFill>
          <a:ln/>
          <a:effectLst>
            <a:outerShdw blurRad="76200" dist="25400" dir="5400000" algn="bl" rotWithShape="0">
              <a:srgbClr val="1B3760">
                <a:alpha val="18000"/>
              </a:srgbClr>
            </a:outerShdw>
          </a:effectLst>
        </p:spPr>
      </p:sp>
      <p:pic>
        <p:nvPicPr>
          <p:cNvPr id="50" name="Image 7" descr="/home/claude/work/build/desktop_navy.png"/>
          <p:cNvPicPr>
            <a:picLocks noChangeAspect="1"/>
          </p:cNvPicPr>
          <p:nvPr/>
        </p:nvPicPr>
        <p:blipFill>
          <a:blip r:embed="rId9"/>
          <a:stretch>
            <a:fillRect/>
          </a:stretch>
        </p:blipFill>
        <p:spPr>
          <a:xfrm>
            <a:off x="6013552" y="5634178"/>
            <a:ext cx="164592" cy="164592"/>
          </a:xfrm>
          <a:prstGeom prst="rect">
            <a:avLst/>
          </a:prstGeom>
        </p:spPr>
      </p:pic>
      <p:sp>
        <p:nvSpPr>
          <p:cNvPr id="51" name="Text 41"/>
          <p:cNvSpPr/>
          <p:nvPr/>
        </p:nvSpPr>
        <p:spPr>
          <a:xfrm>
            <a:off x="6324448" y="5469586"/>
            <a:ext cx="2743200" cy="493776"/>
          </a:xfrm>
          <a:prstGeom prst="rect">
            <a:avLst/>
          </a:prstGeom>
          <a:noFill/>
          <a:ln/>
        </p:spPr>
        <p:txBody>
          <a:bodyPr wrap="square" rtlCol="0" anchor="ctr"/>
          <a:lstStyle/>
          <a:p>
            <a:pPr marL="0" indent="0">
              <a:buNone/>
            </a:pPr>
            <a:r>
              <a:rPr lang="en-US" sz="1200" b="1" dirty="0">
                <a:solidFill>
                  <a:srgbClr val="0B1E3D"/>
                </a:solidFill>
                <a:latin typeface="Times New Roman" pitchFamily="34" charset="0"/>
                <a:ea typeface="Times New Roman" pitchFamily="34" charset="-122"/>
                <a:cs typeface="Times New Roman" pitchFamily="34" charset="-120"/>
              </a:rPr>
              <a:t>Web Dashboard</a:t>
            </a:r>
            <a:endParaRPr lang="en-US" sz="1200" dirty="0"/>
          </a:p>
        </p:txBody>
      </p:sp>
      <p:sp>
        <p:nvSpPr>
          <p:cNvPr id="52" name="Shape 42"/>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53" name="Text 43"/>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10</a:t>
            </a:r>
            <a:endParaRPr lang="en-US" sz="10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54217"/>
            <a:ext cx="566928" cy="292608"/>
          </a:xfrm>
          <a:prstGeom prst="roundRect">
            <a:avLst>
              <a:gd name="adj" fmla="val 50000"/>
            </a:avLst>
          </a:prstGeom>
          <a:solidFill>
            <a:srgbClr val="158C94"/>
          </a:solidFill>
          <a:ln/>
        </p:spPr>
      </p:sp>
      <p:sp>
        <p:nvSpPr>
          <p:cNvPr id="5" name="Text 2"/>
          <p:cNvSpPr/>
          <p:nvPr/>
        </p:nvSpPr>
        <p:spPr>
          <a:xfrm>
            <a:off x="502920" y="954217"/>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02</a:t>
            </a:r>
            <a:endParaRPr lang="en-US" sz="1200" dirty="0"/>
          </a:p>
        </p:txBody>
      </p:sp>
      <p:sp>
        <p:nvSpPr>
          <p:cNvPr id="6" name="Text 3"/>
          <p:cNvSpPr/>
          <p:nvPr/>
        </p:nvSpPr>
        <p:spPr>
          <a:xfrm>
            <a:off x="1179576" y="954217"/>
            <a:ext cx="9601200" cy="292608"/>
          </a:xfrm>
          <a:prstGeom prst="rect">
            <a:avLst/>
          </a:prstGeom>
          <a:noFill/>
          <a:ln/>
        </p:spPr>
        <p:txBody>
          <a:bodyPr wrap="square" rtlCol="0" anchor="ctr"/>
          <a:lstStyle/>
          <a:p>
            <a:pPr marL="0" indent="0">
              <a:buNone/>
            </a:pPr>
            <a:r>
              <a:rPr lang="en-US" sz="1250" b="1" kern="0" spc="120" dirty="0">
                <a:solidFill>
                  <a:srgbClr val="158C94"/>
                </a:solidFill>
                <a:latin typeface="Times New Roman" pitchFamily="34" charset="0"/>
                <a:ea typeface="Times New Roman" pitchFamily="34" charset="-122"/>
                <a:cs typeface="Times New Roman" pitchFamily="34" charset="-120"/>
              </a:rPr>
              <a:t>PHÂN TÍCH &amp; THIẾT KẾ HỆ THỐNG</a:t>
            </a:r>
            <a:endParaRPr lang="en-US" sz="1250" dirty="0"/>
          </a:p>
        </p:txBody>
      </p:sp>
      <p:sp>
        <p:nvSpPr>
          <p:cNvPr id="7" name="Text 4"/>
          <p:cNvSpPr/>
          <p:nvPr/>
        </p:nvSpPr>
        <p:spPr>
          <a:xfrm>
            <a:off x="502920" y="1290480"/>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Bộ dữ liệu Brain Tumor MRI</a:t>
            </a:r>
            <a:endParaRPr lang="en-US" sz="2500" dirty="0"/>
          </a:p>
        </p:txBody>
      </p:sp>
      <p:sp>
        <p:nvSpPr>
          <p:cNvPr id="8" name="Shape 5"/>
          <p:cNvSpPr/>
          <p:nvPr/>
        </p:nvSpPr>
        <p:spPr>
          <a:xfrm>
            <a:off x="502920" y="1819656"/>
            <a:ext cx="3520440" cy="960120"/>
          </a:xfrm>
          <a:prstGeom prst="roundRect">
            <a:avLst>
              <a:gd name="adj" fmla="val 9524"/>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sp>
      <p:sp>
        <p:nvSpPr>
          <p:cNvPr id="9" name="Text 6"/>
          <p:cNvSpPr/>
          <p:nvPr/>
        </p:nvSpPr>
        <p:spPr>
          <a:xfrm>
            <a:off x="731520" y="1819656"/>
            <a:ext cx="1371600" cy="960120"/>
          </a:xfrm>
          <a:prstGeom prst="rect">
            <a:avLst/>
          </a:prstGeom>
          <a:noFill/>
          <a:ln/>
        </p:spPr>
        <p:txBody>
          <a:bodyPr wrap="square" rtlCol="0" anchor="ctr"/>
          <a:lstStyle/>
          <a:p>
            <a:pPr marL="0" indent="0">
              <a:buNone/>
            </a:pPr>
            <a:r>
              <a:rPr lang="en-US" sz="2400" b="1" dirty="0">
                <a:solidFill>
                  <a:srgbClr val="15848B"/>
                </a:solidFill>
                <a:latin typeface="Times New Roman" pitchFamily="34" charset="0"/>
                <a:ea typeface="Times New Roman" pitchFamily="34" charset="-122"/>
                <a:cs typeface="Times New Roman" pitchFamily="34" charset="-120"/>
              </a:rPr>
              <a:t>7.200</a:t>
            </a:r>
            <a:endParaRPr lang="en-US" sz="2400" dirty="0">
              <a:solidFill>
                <a:srgbClr val="15848B"/>
              </a:solidFill>
            </a:endParaRPr>
          </a:p>
        </p:txBody>
      </p:sp>
      <p:sp>
        <p:nvSpPr>
          <p:cNvPr id="10" name="Text 7"/>
          <p:cNvSpPr/>
          <p:nvPr/>
        </p:nvSpPr>
        <p:spPr>
          <a:xfrm>
            <a:off x="2057400" y="1819656"/>
            <a:ext cx="1783080" cy="960120"/>
          </a:xfrm>
          <a:prstGeom prst="rect">
            <a:avLst/>
          </a:prstGeom>
          <a:noFill/>
          <a:ln/>
        </p:spPr>
        <p:txBody>
          <a:bodyPr wrap="square" rtlCol="0" anchor="ctr"/>
          <a:lstStyle/>
          <a:p>
            <a:pPr marL="0" indent="0">
              <a:lnSpc>
                <a:spcPct val="110000"/>
              </a:lnSpc>
              <a:buNone/>
            </a:pPr>
            <a:r>
              <a:rPr lang="en-US" sz="1150" dirty="0">
                <a:solidFill>
                  <a:srgbClr val="15848B"/>
                </a:solidFill>
                <a:latin typeface="Times New Roman" pitchFamily="34" charset="0"/>
                <a:ea typeface="Times New Roman" pitchFamily="34" charset="-122"/>
                <a:cs typeface="Times New Roman" pitchFamily="34" charset="-120"/>
              </a:rPr>
              <a:t>Ảnh MRI gốc (Kaggle)</a:t>
            </a:r>
            <a:endParaRPr lang="en-US" sz="1150" dirty="0">
              <a:solidFill>
                <a:srgbClr val="15848B"/>
              </a:solidFill>
            </a:endParaRPr>
          </a:p>
        </p:txBody>
      </p:sp>
      <p:sp>
        <p:nvSpPr>
          <p:cNvPr id="11" name="Shape 8"/>
          <p:cNvSpPr/>
          <p:nvPr/>
        </p:nvSpPr>
        <p:spPr>
          <a:xfrm>
            <a:off x="4279392" y="1819656"/>
            <a:ext cx="3520440" cy="960120"/>
          </a:xfrm>
          <a:prstGeom prst="roundRect">
            <a:avLst>
              <a:gd name="adj" fmla="val 9524"/>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sp>
      <p:sp>
        <p:nvSpPr>
          <p:cNvPr id="12" name="Text 9"/>
          <p:cNvSpPr/>
          <p:nvPr/>
        </p:nvSpPr>
        <p:spPr>
          <a:xfrm>
            <a:off x="4507992" y="1819656"/>
            <a:ext cx="1371600" cy="960120"/>
          </a:xfrm>
          <a:prstGeom prst="rect">
            <a:avLst/>
          </a:prstGeom>
          <a:noFill/>
          <a:ln/>
        </p:spPr>
        <p:txBody>
          <a:bodyPr wrap="square" rtlCol="0" anchor="ctr"/>
          <a:lstStyle/>
          <a:p>
            <a:pPr marL="0" indent="0">
              <a:buNone/>
            </a:pPr>
            <a:r>
              <a:rPr lang="en-US" sz="2400" b="1" dirty="0">
                <a:solidFill>
                  <a:srgbClr val="15848B"/>
                </a:solidFill>
                <a:latin typeface="Times New Roman" pitchFamily="34" charset="0"/>
                <a:ea typeface="Times New Roman" pitchFamily="34" charset="-122"/>
                <a:cs typeface="Times New Roman" pitchFamily="34" charset="-120"/>
              </a:rPr>
              <a:t>5.600</a:t>
            </a:r>
            <a:endParaRPr lang="en-US" sz="2400" dirty="0">
              <a:solidFill>
                <a:srgbClr val="15848B"/>
              </a:solidFill>
            </a:endParaRPr>
          </a:p>
        </p:txBody>
      </p:sp>
      <p:sp>
        <p:nvSpPr>
          <p:cNvPr id="13" name="Text 10"/>
          <p:cNvSpPr/>
          <p:nvPr/>
        </p:nvSpPr>
        <p:spPr>
          <a:xfrm>
            <a:off x="5833872" y="1819656"/>
            <a:ext cx="1783080" cy="960120"/>
          </a:xfrm>
          <a:prstGeom prst="rect">
            <a:avLst/>
          </a:prstGeom>
          <a:noFill/>
          <a:ln/>
        </p:spPr>
        <p:txBody>
          <a:bodyPr wrap="square" rtlCol="0" anchor="ctr"/>
          <a:lstStyle/>
          <a:p>
            <a:pPr marL="0" indent="0">
              <a:lnSpc>
                <a:spcPct val="110000"/>
              </a:lnSpc>
              <a:buNone/>
            </a:pPr>
            <a:r>
              <a:rPr lang="en-US" sz="1150" dirty="0">
                <a:solidFill>
                  <a:srgbClr val="15848B"/>
                </a:solidFill>
                <a:latin typeface="Times New Roman" pitchFamily="34" charset="0"/>
                <a:ea typeface="Times New Roman" pitchFamily="34" charset="-122"/>
                <a:cs typeface="Times New Roman" pitchFamily="34" charset="-120"/>
              </a:rPr>
              <a:t>Ảnh train / validation</a:t>
            </a:r>
            <a:endParaRPr lang="en-US" sz="1150" dirty="0">
              <a:solidFill>
                <a:srgbClr val="15848B"/>
              </a:solidFill>
            </a:endParaRPr>
          </a:p>
        </p:txBody>
      </p:sp>
      <p:sp>
        <p:nvSpPr>
          <p:cNvPr id="14" name="Shape 11"/>
          <p:cNvSpPr/>
          <p:nvPr/>
        </p:nvSpPr>
        <p:spPr>
          <a:xfrm>
            <a:off x="8055864" y="1819656"/>
            <a:ext cx="3520440" cy="960120"/>
          </a:xfrm>
          <a:prstGeom prst="roundRect">
            <a:avLst>
              <a:gd name="adj" fmla="val 9524"/>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sp>
      <p:sp>
        <p:nvSpPr>
          <p:cNvPr id="15" name="Text 12"/>
          <p:cNvSpPr/>
          <p:nvPr/>
        </p:nvSpPr>
        <p:spPr>
          <a:xfrm>
            <a:off x="8284464" y="1819656"/>
            <a:ext cx="1371600" cy="960120"/>
          </a:xfrm>
          <a:prstGeom prst="rect">
            <a:avLst/>
          </a:prstGeom>
          <a:noFill/>
          <a:ln/>
        </p:spPr>
        <p:txBody>
          <a:bodyPr wrap="square" rtlCol="0" anchor="ctr"/>
          <a:lstStyle/>
          <a:p>
            <a:pPr marL="0" indent="0">
              <a:buNone/>
            </a:pPr>
            <a:r>
              <a:rPr lang="en-US" sz="2400" b="1" dirty="0">
                <a:solidFill>
                  <a:srgbClr val="15848B"/>
                </a:solidFill>
                <a:latin typeface="Times New Roman" pitchFamily="34" charset="0"/>
                <a:ea typeface="Times New Roman" pitchFamily="34" charset="-122"/>
                <a:cs typeface="Times New Roman" pitchFamily="34" charset="-120"/>
              </a:rPr>
              <a:t>1.600</a:t>
            </a:r>
            <a:endParaRPr lang="en-US" sz="2400" dirty="0">
              <a:solidFill>
                <a:srgbClr val="15848B"/>
              </a:solidFill>
            </a:endParaRPr>
          </a:p>
        </p:txBody>
      </p:sp>
      <p:sp>
        <p:nvSpPr>
          <p:cNvPr id="16" name="Text 13"/>
          <p:cNvSpPr/>
          <p:nvPr/>
        </p:nvSpPr>
        <p:spPr>
          <a:xfrm>
            <a:off x="9610344" y="1819656"/>
            <a:ext cx="1783080" cy="960120"/>
          </a:xfrm>
          <a:prstGeom prst="rect">
            <a:avLst/>
          </a:prstGeom>
          <a:noFill/>
          <a:ln/>
        </p:spPr>
        <p:txBody>
          <a:bodyPr wrap="square" rtlCol="0" anchor="ctr"/>
          <a:lstStyle/>
          <a:p>
            <a:pPr marL="0" indent="0">
              <a:lnSpc>
                <a:spcPct val="110000"/>
              </a:lnSpc>
              <a:buNone/>
            </a:pPr>
            <a:r>
              <a:rPr lang="en-US" sz="1150" dirty="0">
                <a:solidFill>
                  <a:srgbClr val="15848B"/>
                </a:solidFill>
                <a:latin typeface="Times New Roman" pitchFamily="34" charset="0"/>
                <a:ea typeface="Times New Roman" pitchFamily="34" charset="-122"/>
                <a:cs typeface="Times New Roman" pitchFamily="34" charset="-120"/>
              </a:rPr>
              <a:t>Ảnh kiểm thử độc lập</a:t>
            </a:r>
            <a:endParaRPr lang="en-US" sz="1150" dirty="0">
              <a:solidFill>
                <a:srgbClr val="15848B"/>
              </a:solidFill>
            </a:endParaRPr>
          </a:p>
        </p:txBody>
      </p:sp>
      <p:sp>
        <p:nvSpPr>
          <p:cNvPr id="17" name="Shape 14"/>
          <p:cNvSpPr/>
          <p:nvPr/>
        </p:nvSpPr>
        <p:spPr>
          <a:xfrm>
            <a:off x="502920" y="3008376"/>
            <a:ext cx="3520440" cy="960120"/>
          </a:xfrm>
          <a:prstGeom prst="roundRect">
            <a:avLst>
              <a:gd name="adj" fmla="val 9524"/>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sp>
      <p:sp>
        <p:nvSpPr>
          <p:cNvPr id="18" name="Text 15"/>
          <p:cNvSpPr/>
          <p:nvPr/>
        </p:nvSpPr>
        <p:spPr>
          <a:xfrm>
            <a:off x="731520" y="3008376"/>
            <a:ext cx="1371600" cy="960120"/>
          </a:xfrm>
          <a:prstGeom prst="rect">
            <a:avLst/>
          </a:prstGeom>
          <a:noFill/>
          <a:ln/>
        </p:spPr>
        <p:txBody>
          <a:bodyPr wrap="square" rtlCol="0" anchor="ctr"/>
          <a:lstStyle/>
          <a:p>
            <a:pPr marL="0" indent="0">
              <a:buNone/>
            </a:pPr>
            <a:r>
              <a:rPr lang="en-US" sz="2400" b="1" dirty="0">
                <a:solidFill>
                  <a:srgbClr val="15848B"/>
                </a:solidFill>
                <a:latin typeface="Times New Roman" pitchFamily="34" charset="0"/>
                <a:ea typeface="Times New Roman" pitchFamily="34" charset="-122"/>
                <a:cs typeface="Times New Roman" pitchFamily="34" charset="-120"/>
              </a:rPr>
              <a:t>4 lớp</a:t>
            </a:r>
            <a:endParaRPr lang="en-US" sz="2400" dirty="0">
              <a:solidFill>
                <a:srgbClr val="15848B"/>
              </a:solidFill>
            </a:endParaRPr>
          </a:p>
        </p:txBody>
      </p:sp>
      <p:sp>
        <p:nvSpPr>
          <p:cNvPr id="19" name="Text 16"/>
          <p:cNvSpPr/>
          <p:nvPr/>
        </p:nvSpPr>
        <p:spPr>
          <a:xfrm>
            <a:off x="2057400" y="3008376"/>
            <a:ext cx="1783080" cy="960120"/>
          </a:xfrm>
          <a:prstGeom prst="rect">
            <a:avLst/>
          </a:prstGeom>
          <a:noFill/>
          <a:ln/>
        </p:spPr>
        <p:txBody>
          <a:bodyPr wrap="square" rtlCol="0" anchor="ctr"/>
          <a:lstStyle/>
          <a:p>
            <a:pPr marL="0" indent="0">
              <a:lnSpc>
                <a:spcPct val="110000"/>
              </a:lnSpc>
              <a:buNone/>
            </a:pPr>
            <a:r>
              <a:rPr lang="en-US" sz="1150" dirty="0">
                <a:solidFill>
                  <a:srgbClr val="15848B"/>
                </a:solidFill>
                <a:latin typeface="Times New Roman" pitchFamily="34" charset="0"/>
                <a:ea typeface="Times New Roman" pitchFamily="34" charset="-122"/>
                <a:cs typeface="Times New Roman" pitchFamily="34" charset="-120"/>
              </a:rPr>
              <a:t>Cân bằng — 1.400 ảnh/lớp</a:t>
            </a:r>
            <a:endParaRPr lang="en-US" sz="1150" dirty="0">
              <a:solidFill>
                <a:srgbClr val="15848B"/>
              </a:solidFill>
            </a:endParaRPr>
          </a:p>
        </p:txBody>
      </p:sp>
      <p:sp>
        <p:nvSpPr>
          <p:cNvPr id="20" name="Shape 17"/>
          <p:cNvSpPr/>
          <p:nvPr/>
        </p:nvSpPr>
        <p:spPr>
          <a:xfrm>
            <a:off x="4279392" y="3008376"/>
            <a:ext cx="3520440" cy="960120"/>
          </a:xfrm>
          <a:prstGeom prst="roundRect">
            <a:avLst>
              <a:gd name="adj" fmla="val 9524"/>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sp>
      <p:sp>
        <p:nvSpPr>
          <p:cNvPr id="21" name="Text 18"/>
          <p:cNvSpPr/>
          <p:nvPr/>
        </p:nvSpPr>
        <p:spPr>
          <a:xfrm>
            <a:off x="4507992" y="3008376"/>
            <a:ext cx="1371600" cy="960120"/>
          </a:xfrm>
          <a:prstGeom prst="rect">
            <a:avLst/>
          </a:prstGeom>
          <a:noFill/>
          <a:ln/>
        </p:spPr>
        <p:txBody>
          <a:bodyPr wrap="square" rtlCol="0" anchor="ctr"/>
          <a:lstStyle/>
          <a:p>
            <a:pPr marL="0" indent="0">
              <a:buNone/>
            </a:pPr>
            <a:r>
              <a:rPr lang="en-US" sz="2400" b="1" dirty="0">
                <a:solidFill>
                  <a:srgbClr val="15848B"/>
                </a:solidFill>
                <a:latin typeface="Times New Roman" pitchFamily="34" charset="0"/>
                <a:ea typeface="Times New Roman" pitchFamily="34" charset="-122"/>
                <a:cs typeface="Times New Roman" pitchFamily="34" charset="-120"/>
              </a:rPr>
              <a:t>80 / 20</a:t>
            </a:r>
            <a:endParaRPr lang="en-US" sz="2400" dirty="0">
              <a:solidFill>
                <a:srgbClr val="15848B"/>
              </a:solidFill>
            </a:endParaRPr>
          </a:p>
        </p:txBody>
      </p:sp>
      <p:sp>
        <p:nvSpPr>
          <p:cNvPr id="22" name="Text 19"/>
          <p:cNvSpPr/>
          <p:nvPr/>
        </p:nvSpPr>
        <p:spPr>
          <a:xfrm>
            <a:off x="5833872" y="3008376"/>
            <a:ext cx="1783080" cy="960120"/>
          </a:xfrm>
          <a:prstGeom prst="rect">
            <a:avLst/>
          </a:prstGeom>
          <a:noFill/>
          <a:ln/>
        </p:spPr>
        <p:txBody>
          <a:bodyPr wrap="square" rtlCol="0" anchor="ctr"/>
          <a:lstStyle/>
          <a:p>
            <a:pPr marL="0" indent="0">
              <a:lnSpc>
                <a:spcPct val="110000"/>
              </a:lnSpc>
              <a:buNone/>
            </a:pPr>
            <a:r>
              <a:rPr lang="en-US" sz="1150" dirty="0">
                <a:solidFill>
                  <a:srgbClr val="15848B"/>
                </a:solidFill>
                <a:latin typeface="Times New Roman" pitchFamily="34" charset="0"/>
                <a:ea typeface="Times New Roman" pitchFamily="34" charset="-122"/>
                <a:cs typeface="Times New Roman" pitchFamily="34" charset="-120"/>
              </a:rPr>
              <a:t>Tỉ lệ Train / Validation</a:t>
            </a:r>
            <a:endParaRPr lang="en-US" sz="1150" dirty="0">
              <a:solidFill>
                <a:srgbClr val="15848B"/>
              </a:solidFill>
            </a:endParaRPr>
          </a:p>
        </p:txBody>
      </p:sp>
      <p:sp>
        <p:nvSpPr>
          <p:cNvPr id="23" name="Shape 20"/>
          <p:cNvSpPr/>
          <p:nvPr/>
        </p:nvSpPr>
        <p:spPr>
          <a:xfrm>
            <a:off x="8055864" y="3008376"/>
            <a:ext cx="3520440" cy="960120"/>
          </a:xfrm>
          <a:prstGeom prst="roundRect">
            <a:avLst>
              <a:gd name="adj" fmla="val 9524"/>
            </a:avLst>
          </a:prstGeom>
          <a:ln/>
          <a:effectLst>
            <a:outerShdw blurRad="50800" dist="38100" dir="2700000" algn="tl" rotWithShape="0">
              <a:prstClr val="black">
                <a:alpha val="40000"/>
              </a:prstClr>
            </a:outerShdw>
          </a:effectLst>
        </p:spPr>
        <p:style>
          <a:lnRef idx="2">
            <a:schemeClr val="dk1"/>
          </a:lnRef>
          <a:fillRef idx="1">
            <a:schemeClr val="lt1"/>
          </a:fillRef>
          <a:effectRef idx="0">
            <a:schemeClr val="dk1"/>
          </a:effectRef>
          <a:fontRef idx="minor">
            <a:schemeClr val="dk1"/>
          </a:fontRef>
        </p:style>
      </p:sp>
      <p:sp>
        <p:nvSpPr>
          <p:cNvPr id="24" name="Text 21"/>
          <p:cNvSpPr/>
          <p:nvPr/>
        </p:nvSpPr>
        <p:spPr>
          <a:xfrm>
            <a:off x="8284464" y="3008376"/>
            <a:ext cx="1371600" cy="960120"/>
          </a:xfrm>
          <a:prstGeom prst="rect">
            <a:avLst/>
          </a:prstGeom>
          <a:noFill/>
          <a:ln/>
        </p:spPr>
        <p:txBody>
          <a:bodyPr wrap="square" rtlCol="0" anchor="ctr"/>
          <a:lstStyle/>
          <a:p>
            <a:pPr marL="0" indent="0">
              <a:buNone/>
            </a:pPr>
            <a:r>
              <a:rPr lang="en-US" sz="2400" b="1" dirty="0">
                <a:solidFill>
                  <a:srgbClr val="15848B"/>
                </a:solidFill>
                <a:latin typeface="Times New Roman" pitchFamily="34" charset="0"/>
                <a:ea typeface="Times New Roman" pitchFamily="34" charset="-122"/>
                <a:cs typeface="Times New Roman" pitchFamily="34" charset="-120"/>
              </a:rPr>
              <a:t>224×224</a:t>
            </a:r>
            <a:endParaRPr lang="en-US" sz="2400" dirty="0">
              <a:solidFill>
                <a:srgbClr val="15848B"/>
              </a:solidFill>
            </a:endParaRPr>
          </a:p>
        </p:txBody>
      </p:sp>
      <p:sp>
        <p:nvSpPr>
          <p:cNvPr id="25" name="Text 22"/>
          <p:cNvSpPr/>
          <p:nvPr/>
        </p:nvSpPr>
        <p:spPr>
          <a:xfrm>
            <a:off x="9610344" y="3008376"/>
            <a:ext cx="1783080" cy="960120"/>
          </a:xfrm>
          <a:prstGeom prst="rect">
            <a:avLst/>
          </a:prstGeom>
          <a:noFill/>
          <a:ln/>
        </p:spPr>
        <p:txBody>
          <a:bodyPr wrap="square" rtlCol="0" anchor="ctr"/>
          <a:lstStyle/>
          <a:p>
            <a:pPr marL="0" indent="0">
              <a:lnSpc>
                <a:spcPct val="110000"/>
              </a:lnSpc>
              <a:buNone/>
            </a:pPr>
            <a:r>
              <a:rPr lang="en-US" sz="1150" dirty="0">
                <a:solidFill>
                  <a:srgbClr val="15848B"/>
                </a:solidFill>
                <a:latin typeface="Times New Roman" pitchFamily="34" charset="0"/>
                <a:ea typeface="Times New Roman" pitchFamily="34" charset="-122"/>
                <a:cs typeface="Times New Roman" pitchFamily="34" charset="-120"/>
              </a:rPr>
              <a:t>Kích thước resize đầu vào</a:t>
            </a:r>
            <a:endParaRPr lang="en-US" sz="1150" dirty="0">
              <a:solidFill>
                <a:srgbClr val="15848B"/>
              </a:solidFill>
            </a:endParaRPr>
          </a:p>
        </p:txBody>
      </p:sp>
      <p:sp>
        <p:nvSpPr>
          <p:cNvPr id="26" name="Shape 23"/>
          <p:cNvSpPr/>
          <p:nvPr/>
        </p:nvSpPr>
        <p:spPr>
          <a:xfrm>
            <a:off x="3646696" y="4206240"/>
            <a:ext cx="4898303" cy="2249424"/>
          </a:xfrm>
          <a:prstGeom prst="roundRect">
            <a:avLst>
              <a:gd name="adj" fmla="val 2846"/>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pic>
        <p:nvPicPr>
          <p:cNvPr id="27" name="Image 1" descr="/home/claude/work/build/image5.png"/>
          <p:cNvPicPr>
            <a:picLocks noChangeAspect="1"/>
          </p:cNvPicPr>
          <p:nvPr/>
        </p:nvPicPr>
        <p:blipFill>
          <a:blip r:embed="rId3"/>
          <a:stretch>
            <a:fillRect/>
          </a:stretch>
        </p:blipFill>
        <p:spPr>
          <a:xfrm>
            <a:off x="3728992" y="4288536"/>
            <a:ext cx="4733711" cy="2084832"/>
          </a:xfrm>
          <a:prstGeom prst="rect">
            <a:avLst/>
          </a:prstGeom>
        </p:spPr>
      </p:pic>
      <p:sp>
        <p:nvSpPr>
          <p:cNvPr id="28" name="Text 24"/>
          <p:cNvSpPr/>
          <p:nvPr/>
        </p:nvSpPr>
        <p:spPr>
          <a:xfrm>
            <a:off x="3646696" y="6492240"/>
            <a:ext cx="4898303"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2.2 — Phân bố số lượng ảnh theo từng lớp (hoàn toàn cân bằng 25% / lớp)</a:t>
            </a:r>
            <a:endParaRPr lang="en-US" sz="1050" dirty="0"/>
          </a:p>
        </p:txBody>
      </p:sp>
      <p:sp>
        <p:nvSpPr>
          <p:cNvPr id="29" name="Shape 25"/>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30" name="Text 26"/>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11</a:t>
            </a:r>
            <a:endParaRPr lang="en-US" sz="1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1013211"/>
            <a:ext cx="566928" cy="292608"/>
          </a:xfrm>
          <a:prstGeom prst="roundRect">
            <a:avLst>
              <a:gd name="adj" fmla="val 50000"/>
            </a:avLst>
          </a:prstGeom>
          <a:solidFill>
            <a:srgbClr val="158C94"/>
          </a:solidFill>
          <a:ln/>
        </p:spPr>
      </p:sp>
      <p:sp>
        <p:nvSpPr>
          <p:cNvPr id="5" name="Text 2"/>
          <p:cNvSpPr/>
          <p:nvPr/>
        </p:nvSpPr>
        <p:spPr>
          <a:xfrm>
            <a:off x="502920" y="1013211"/>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02</a:t>
            </a:r>
            <a:endParaRPr lang="en-US" sz="1200" dirty="0"/>
          </a:p>
        </p:txBody>
      </p:sp>
      <p:sp>
        <p:nvSpPr>
          <p:cNvPr id="6" name="Text 3"/>
          <p:cNvSpPr/>
          <p:nvPr/>
        </p:nvSpPr>
        <p:spPr>
          <a:xfrm>
            <a:off x="1179576" y="1013211"/>
            <a:ext cx="9601200" cy="292608"/>
          </a:xfrm>
          <a:prstGeom prst="rect">
            <a:avLst/>
          </a:prstGeom>
          <a:noFill/>
          <a:ln/>
        </p:spPr>
        <p:txBody>
          <a:bodyPr wrap="square" rtlCol="0" anchor="ctr"/>
          <a:lstStyle/>
          <a:p>
            <a:pPr marL="0" indent="0">
              <a:buNone/>
            </a:pPr>
            <a:r>
              <a:rPr lang="en-US" sz="1250" b="1" kern="0" spc="120" dirty="0">
                <a:solidFill>
                  <a:srgbClr val="158C94"/>
                </a:solidFill>
                <a:latin typeface="Times New Roman" pitchFamily="34" charset="0"/>
                <a:ea typeface="Times New Roman" pitchFamily="34" charset="-122"/>
                <a:cs typeface="Times New Roman" pitchFamily="34" charset="-120"/>
              </a:rPr>
              <a:t>PHÂN TÍCH &amp; THIẾT KẾ HỆ THỐNG</a:t>
            </a:r>
            <a:endParaRPr lang="en-US" sz="1250" dirty="0"/>
          </a:p>
        </p:txBody>
      </p:sp>
      <p:sp>
        <p:nvSpPr>
          <p:cNvPr id="7" name="Text 4"/>
          <p:cNvSpPr/>
          <p:nvPr/>
        </p:nvSpPr>
        <p:spPr>
          <a:xfrm>
            <a:off x="502920" y="1364221"/>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Tiền xử lý dữ liệu &amp; Data Augmentation</a:t>
            </a:r>
            <a:endParaRPr lang="en-US" sz="2500" dirty="0"/>
          </a:p>
        </p:txBody>
      </p:sp>
      <p:sp>
        <p:nvSpPr>
          <p:cNvPr id="8" name="Text 5"/>
          <p:cNvSpPr/>
          <p:nvPr/>
        </p:nvSpPr>
        <p:spPr>
          <a:xfrm>
            <a:off x="489204" y="1733691"/>
            <a:ext cx="11183112" cy="502920"/>
          </a:xfrm>
          <a:prstGeom prst="rect">
            <a:avLst/>
          </a:prstGeom>
          <a:noFill/>
          <a:ln/>
        </p:spPr>
        <p:txBody>
          <a:bodyPr wrap="square" rtlCol="0" anchor="ctr"/>
          <a:lstStyle/>
          <a:p>
            <a:pPr marL="0" indent="0">
              <a:lnSpc>
                <a:spcPct val="120000"/>
              </a:lnSpc>
              <a:buNone/>
            </a:pPr>
            <a:r>
              <a:rPr lang="en-US" sz="1250" dirty="0">
                <a:solidFill>
                  <a:srgbClr val="5B6472"/>
                </a:solidFill>
                <a:latin typeface="Times New Roman" pitchFamily="34" charset="0"/>
                <a:ea typeface="Times New Roman" pitchFamily="34" charset="-122"/>
                <a:cs typeface="Times New Roman" pitchFamily="34" charset="-120"/>
              </a:rPr>
              <a:t>Nhằm tăng khả năng tổng quát hoá và hạn chế overfitting trên tập dữ liệu y tế có kích thước hạn chế, các kỹ thuật augmentation sau được áp dụng trong huấn luyện:</a:t>
            </a:r>
            <a:endParaRPr lang="en-US" sz="1250" dirty="0"/>
          </a:p>
        </p:txBody>
      </p:sp>
      <p:sp>
        <p:nvSpPr>
          <p:cNvPr id="9" name="Shape 6"/>
          <p:cNvSpPr/>
          <p:nvPr/>
        </p:nvSpPr>
        <p:spPr>
          <a:xfrm>
            <a:off x="502920" y="2251786"/>
            <a:ext cx="11183112" cy="438912"/>
          </a:xfrm>
          <a:prstGeom prst="roundRect">
            <a:avLst>
              <a:gd name="adj" fmla="val 12500"/>
            </a:avLst>
          </a:prstGeom>
          <a:solidFill>
            <a:srgbClr val="0B1E3D"/>
          </a:solidFill>
          <a:ln w="12700">
            <a:solidFill>
              <a:srgbClr val="E2E6EC"/>
            </a:solidFill>
            <a:prstDash val="solid"/>
          </a:ln>
          <a:effectLst>
            <a:outerShdw blurRad="101600" dist="25400" dir="5400000" algn="bl" rotWithShape="0">
              <a:srgbClr val="1B3760">
                <a:alpha val="10000"/>
              </a:srgbClr>
            </a:outerShdw>
          </a:effectLst>
        </p:spPr>
      </p:sp>
      <p:sp>
        <p:nvSpPr>
          <p:cNvPr id="10" name="Text 7"/>
          <p:cNvSpPr/>
          <p:nvPr/>
        </p:nvSpPr>
        <p:spPr>
          <a:xfrm>
            <a:off x="685800" y="2251786"/>
            <a:ext cx="2651760" cy="438912"/>
          </a:xfrm>
          <a:prstGeom prst="rect">
            <a:avLst/>
          </a:prstGeom>
          <a:noFill/>
          <a:ln/>
        </p:spPr>
        <p:txBody>
          <a:bodyPr wrap="square"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Kỹ thuật</a:t>
            </a:r>
            <a:endParaRPr lang="en-US" sz="1200" dirty="0"/>
          </a:p>
        </p:txBody>
      </p:sp>
      <p:sp>
        <p:nvSpPr>
          <p:cNvPr id="11" name="Text 8"/>
          <p:cNvSpPr/>
          <p:nvPr/>
        </p:nvSpPr>
        <p:spPr>
          <a:xfrm>
            <a:off x="3429000" y="2251786"/>
            <a:ext cx="4709160" cy="438912"/>
          </a:xfrm>
          <a:prstGeom prst="rect">
            <a:avLst/>
          </a:prstGeom>
          <a:noFill/>
          <a:ln/>
        </p:spPr>
        <p:txBody>
          <a:bodyPr wrap="square"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Tham số</a:t>
            </a:r>
            <a:endParaRPr lang="en-US" sz="1200" dirty="0"/>
          </a:p>
        </p:txBody>
      </p:sp>
      <p:sp>
        <p:nvSpPr>
          <p:cNvPr id="12" name="Text 9"/>
          <p:cNvSpPr/>
          <p:nvPr/>
        </p:nvSpPr>
        <p:spPr>
          <a:xfrm>
            <a:off x="8275320" y="2251786"/>
            <a:ext cx="3502152" cy="438912"/>
          </a:xfrm>
          <a:prstGeom prst="rect">
            <a:avLst/>
          </a:prstGeom>
          <a:noFill/>
          <a:ln/>
        </p:spPr>
        <p:txBody>
          <a:bodyPr wrap="square" rtlCol="0" anchor="ctr"/>
          <a:lstStyle/>
          <a:p>
            <a:pPr marL="0" indent="0">
              <a:buNone/>
            </a:pPr>
            <a:r>
              <a:rPr lang="en-US" sz="1200" b="1" dirty="0">
                <a:solidFill>
                  <a:srgbClr val="FFFFFF"/>
                </a:solidFill>
                <a:latin typeface="Times New Roman" pitchFamily="34" charset="0"/>
                <a:ea typeface="Times New Roman" pitchFamily="34" charset="-122"/>
                <a:cs typeface="Times New Roman" pitchFamily="34" charset="-120"/>
              </a:rPr>
              <a:t>Mục đích</a:t>
            </a:r>
            <a:endParaRPr lang="en-US" sz="1200" dirty="0"/>
          </a:p>
        </p:txBody>
      </p:sp>
      <p:sp>
        <p:nvSpPr>
          <p:cNvPr id="13" name="Shape 10"/>
          <p:cNvSpPr/>
          <p:nvPr/>
        </p:nvSpPr>
        <p:spPr>
          <a:xfrm>
            <a:off x="502920" y="2690698"/>
            <a:ext cx="11183112" cy="713232"/>
          </a:xfrm>
          <a:prstGeom prst="roundRect">
            <a:avLst/>
          </a:prstGeom>
          <a:solidFill>
            <a:srgbClr val="FFFFFF"/>
          </a:solidFill>
          <a:ln w="6350">
            <a:solidFill>
              <a:srgbClr val="E2E6EC"/>
            </a:solidFill>
            <a:prstDash val="solid"/>
          </a:ln>
          <a:effectLst>
            <a:outerShdw blurRad="101600" dist="25400" dir="5400000" algn="bl" rotWithShape="0">
              <a:srgbClr val="1B3760">
                <a:alpha val="10000"/>
              </a:srgbClr>
            </a:outerShdw>
          </a:effectLst>
        </p:spPr>
      </p:sp>
      <p:sp>
        <p:nvSpPr>
          <p:cNvPr id="14" name="Text 11"/>
          <p:cNvSpPr/>
          <p:nvPr/>
        </p:nvSpPr>
        <p:spPr>
          <a:xfrm>
            <a:off x="685800" y="2690698"/>
            <a:ext cx="2377440" cy="713232"/>
          </a:xfrm>
          <a:prstGeom prst="rect">
            <a:avLst/>
          </a:prstGeom>
          <a:noFill/>
          <a:ln/>
        </p:spPr>
        <p:txBody>
          <a:bodyPr wrap="square" rtlCol="0" anchor="ctr"/>
          <a:lstStyle/>
          <a:p>
            <a:pPr marL="0" indent="0">
              <a:buNone/>
            </a:pPr>
            <a:r>
              <a:rPr lang="en-US" sz="1600" b="1" dirty="0">
                <a:solidFill>
                  <a:srgbClr val="0B1E3D"/>
                </a:solidFill>
                <a:latin typeface="Times New Roman" pitchFamily="34" charset="0"/>
                <a:ea typeface="Times New Roman" pitchFamily="34" charset="-122"/>
                <a:cs typeface="Times New Roman" pitchFamily="34" charset="-120"/>
              </a:rPr>
              <a:t>Random Horizontal Flip</a:t>
            </a:r>
            <a:endParaRPr lang="en-US" sz="1600" dirty="0"/>
          </a:p>
        </p:txBody>
      </p:sp>
      <p:sp>
        <p:nvSpPr>
          <p:cNvPr id="15" name="Text 12"/>
          <p:cNvSpPr/>
          <p:nvPr/>
        </p:nvSpPr>
        <p:spPr>
          <a:xfrm>
            <a:off x="3429000" y="2690698"/>
            <a:ext cx="4434840" cy="713232"/>
          </a:xfrm>
          <a:prstGeom prst="rect">
            <a:avLst/>
          </a:prstGeom>
          <a:noFill/>
          <a:ln/>
        </p:spPr>
        <p:txBody>
          <a:bodyPr wrap="square" rtlCol="0" anchor="ctr"/>
          <a:lstStyle/>
          <a:p>
            <a:pPr marL="0" indent="0">
              <a:buNone/>
            </a:pPr>
            <a:r>
              <a:rPr lang="en-US" sz="1400" i="1" dirty="0">
                <a:solidFill>
                  <a:srgbClr val="158C94"/>
                </a:solidFill>
                <a:latin typeface="Times New Roman" pitchFamily="34" charset="0"/>
                <a:ea typeface="Times New Roman" pitchFamily="34" charset="-122"/>
                <a:cs typeface="Times New Roman" pitchFamily="34" charset="-120"/>
              </a:rPr>
              <a:t>p = 0.5</a:t>
            </a:r>
            <a:endParaRPr lang="en-US" sz="1400" dirty="0"/>
          </a:p>
        </p:txBody>
      </p:sp>
      <p:sp>
        <p:nvSpPr>
          <p:cNvPr id="16" name="Text 13"/>
          <p:cNvSpPr/>
          <p:nvPr/>
        </p:nvSpPr>
        <p:spPr>
          <a:xfrm>
            <a:off x="8275320" y="2690698"/>
            <a:ext cx="3227832" cy="713232"/>
          </a:xfrm>
          <a:prstGeom prst="rect">
            <a:avLst/>
          </a:prstGeom>
          <a:noFill/>
          <a:ln/>
        </p:spPr>
        <p:txBody>
          <a:bodyPr wrap="square" rtlCol="0" anchor="ctr"/>
          <a:lstStyle/>
          <a:p>
            <a:pPr marL="0" indent="0">
              <a:lnSpc>
                <a:spcPct val="110000"/>
              </a:lnSpc>
              <a:buNone/>
            </a:pPr>
            <a:r>
              <a:rPr lang="en-US" sz="1400" dirty="0">
                <a:solidFill>
                  <a:srgbClr val="1C2430"/>
                </a:solidFill>
                <a:latin typeface="Times New Roman" pitchFamily="34" charset="0"/>
                <a:ea typeface="Times New Roman" pitchFamily="34" charset="-122"/>
                <a:cs typeface="Times New Roman" pitchFamily="34" charset="-120"/>
              </a:rPr>
              <a:t>Lật ngang ngẫu nhiên, tăng đa dạng góc nhìn</a:t>
            </a:r>
            <a:endParaRPr lang="en-US" sz="1400" dirty="0"/>
          </a:p>
        </p:txBody>
      </p:sp>
      <p:sp>
        <p:nvSpPr>
          <p:cNvPr id="17" name="Shape 14"/>
          <p:cNvSpPr/>
          <p:nvPr/>
        </p:nvSpPr>
        <p:spPr>
          <a:xfrm>
            <a:off x="502920" y="3403930"/>
            <a:ext cx="11183112" cy="713232"/>
          </a:xfrm>
          <a:prstGeom prst="roundRect">
            <a:avLst/>
          </a:prstGeom>
          <a:solidFill>
            <a:srgbClr val="E4F3F3"/>
          </a:solidFill>
          <a:ln w="6350">
            <a:solidFill>
              <a:srgbClr val="E2E6EC"/>
            </a:solidFill>
            <a:prstDash val="solid"/>
          </a:ln>
          <a:effectLst>
            <a:outerShdw blurRad="101600" dist="25400" dir="5400000" algn="bl" rotWithShape="0">
              <a:srgbClr val="1B3760">
                <a:alpha val="10000"/>
              </a:srgbClr>
            </a:outerShdw>
          </a:effectLst>
        </p:spPr>
      </p:sp>
      <p:sp>
        <p:nvSpPr>
          <p:cNvPr id="18" name="Text 15"/>
          <p:cNvSpPr/>
          <p:nvPr/>
        </p:nvSpPr>
        <p:spPr>
          <a:xfrm>
            <a:off x="685800" y="3403930"/>
            <a:ext cx="2377440" cy="713232"/>
          </a:xfrm>
          <a:prstGeom prst="rect">
            <a:avLst/>
          </a:prstGeom>
          <a:noFill/>
          <a:ln/>
        </p:spPr>
        <p:txBody>
          <a:bodyPr wrap="square" rtlCol="0" anchor="ctr"/>
          <a:lstStyle/>
          <a:p>
            <a:pPr marL="0" indent="0">
              <a:buNone/>
            </a:pPr>
            <a:r>
              <a:rPr lang="en-US" sz="1600" b="1" dirty="0">
                <a:solidFill>
                  <a:srgbClr val="0B1E3D"/>
                </a:solidFill>
                <a:latin typeface="Times New Roman" pitchFamily="34" charset="0"/>
                <a:ea typeface="Times New Roman" pitchFamily="34" charset="-122"/>
                <a:cs typeface="Times New Roman" pitchFamily="34" charset="-120"/>
              </a:rPr>
              <a:t>Random Rotation</a:t>
            </a:r>
            <a:endParaRPr lang="en-US" sz="1600" dirty="0"/>
          </a:p>
        </p:txBody>
      </p:sp>
      <p:sp>
        <p:nvSpPr>
          <p:cNvPr id="19" name="Text 16"/>
          <p:cNvSpPr/>
          <p:nvPr/>
        </p:nvSpPr>
        <p:spPr>
          <a:xfrm>
            <a:off x="3429000" y="3403930"/>
            <a:ext cx="4434840" cy="713232"/>
          </a:xfrm>
          <a:prstGeom prst="rect">
            <a:avLst/>
          </a:prstGeom>
          <a:noFill/>
          <a:ln/>
        </p:spPr>
        <p:txBody>
          <a:bodyPr wrap="square" rtlCol="0" anchor="ctr"/>
          <a:lstStyle/>
          <a:p>
            <a:pPr marL="0" indent="0">
              <a:buNone/>
            </a:pPr>
            <a:r>
              <a:rPr lang="en-US" sz="1400" i="1" dirty="0">
                <a:solidFill>
                  <a:srgbClr val="158C94"/>
                </a:solidFill>
                <a:latin typeface="Times New Roman" pitchFamily="34" charset="0"/>
                <a:ea typeface="Times New Roman" pitchFamily="34" charset="-122"/>
                <a:cs typeface="Times New Roman" pitchFamily="34" charset="-120"/>
              </a:rPr>
              <a:t>±20°</a:t>
            </a:r>
            <a:endParaRPr lang="en-US" sz="1400" dirty="0"/>
          </a:p>
        </p:txBody>
      </p:sp>
      <p:sp>
        <p:nvSpPr>
          <p:cNvPr id="20" name="Text 17"/>
          <p:cNvSpPr/>
          <p:nvPr/>
        </p:nvSpPr>
        <p:spPr>
          <a:xfrm>
            <a:off x="8275320" y="3403930"/>
            <a:ext cx="3227832" cy="713232"/>
          </a:xfrm>
          <a:prstGeom prst="rect">
            <a:avLst/>
          </a:prstGeom>
          <a:noFill/>
          <a:ln/>
        </p:spPr>
        <p:txBody>
          <a:bodyPr wrap="square" rtlCol="0" anchor="ctr"/>
          <a:lstStyle/>
          <a:p>
            <a:pPr marL="0" indent="0">
              <a:lnSpc>
                <a:spcPct val="110000"/>
              </a:lnSpc>
              <a:buNone/>
            </a:pPr>
            <a:r>
              <a:rPr lang="en-US" sz="1400" dirty="0">
                <a:solidFill>
                  <a:srgbClr val="1C2430"/>
                </a:solidFill>
                <a:latin typeface="Times New Roman" pitchFamily="34" charset="0"/>
                <a:ea typeface="Times New Roman" pitchFamily="34" charset="-122"/>
                <a:cs typeface="Times New Roman" pitchFamily="34" charset="-120"/>
              </a:rPr>
              <a:t>Xoay ảnh ngẫu nhiên, mô phỏng sai lệch tư thế chụp</a:t>
            </a:r>
            <a:endParaRPr lang="en-US" sz="1400" dirty="0"/>
          </a:p>
        </p:txBody>
      </p:sp>
      <p:sp>
        <p:nvSpPr>
          <p:cNvPr id="21" name="Shape 18"/>
          <p:cNvSpPr/>
          <p:nvPr/>
        </p:nvSpPr>
        <p:spPr>
          <a:xfrm>
            <a:off x="502920" y="4117162"/>
            <a:ext cx="11183112" cy="713232"/>
          </a:xfrm>
          <a:prstGeom prst="roundRect">
            <a:avLst/>
          </a:prstGeom>
          <a:solidFill>
            <a:srgbClr val="FFFFFF"/>
          </a:solidFill>
          <a:ln w="6350">
            <a:solidFill>
              <a:srgbClr val="E2E6EC"/>
            </a:solidFill>
            <a:prstDash val="solid"/>
          </a:ln>
          <a:effectLst>
            <a:outerShdw blurRad="101600" dist="25400" dir="5400000" algn="bl" rotWithShape="0">
              <a:srgbClr val="1B3760">
                <a:alpha val="10000"/>
              </a:srgbClr>
            </a:outerShdw>
          </a:effectLst>
        </p:spPr>
      </p:sp>
      <p:sp>
        <p:nvSpPr>
          <p:cNvPr id="22" name="Text 19"/>
          <p:cNvSpPr/>
          <p:nvPr/>
        </p:nvSpPr>
        <p:spPr>
          <a:xfrm>
            <a:off x="685800" y="4117162"/>
            <a:ext cx="2377440" cy="713232"/>
          </a:xfrm>
          <a:prstGeom prst="rect">
            <a:avLst/>
          </a:prstGeom>
          <a:noFill/>
          <a:ln/>
        </p:spPr>
        <p:txBody>
          <a:bodyPr wrap="square" rtlCol="0" anchor="ctr"/>
          <a:lstStyle/>
          <a:p>
            <a:pPr marL="0" indent="0">
              <a:buNone/>
            </a:pPr>
            <a:r>
              <a:rPr lang="en-US" sz="1600" b="1" dirty="0">
                <a:solidFill>
                  <a:srgbClr val="0B1E3D"/>
                </a:solidFill>
                <a:latin typeface="Times New Roman" pitchFamily="34" charset="0"/>
                <a:ea typeface="Times New Roman" pitchFamily="34" charset="-122"/>
                <a:cs typeface="Times New Roman" pitchFamily="34" charset="-120"/>
              </a:rPr>
              <a:t>Color Jitter</a:t>
            </a:r>
            <a:endParaRPr lang="en-US" sz="1600" dirty="0"/>
          </a:p>
        </p:txBody>
      </p:sp>
      <p:sp>
        <p:nvSpPr>
          <p:cNvPr id="23" name="Text 20"/>
          <p:cNvSpPr/>
          <p:nvPr/>
        </p:nvSpPr>
        <p:spPr>
          <a:xfrm>
            <a:off x="3429000" y="4117162"/>
            <a:ext cx="4434840" cy="713232"/>
          </a:xfrm>
          <a:prstGeom prst="rect">
            <a:avLst/>
          </a:prstGeom>
          <a:noFill/>
          <a:ln/>
        </p:spPr>
        <p:txBody>
          <a:bodyPr wrap="square" rtlCol="0" anchor="ctr"/>
          <a:lstStyle/>
          <a:p>
            <a:pPr marL="0" indent="0">
              <a:buNone/>
            </a:pPr>
            <a:r>
              <a:rPr lang="en-US" sz="1400" i="1" dirty="0">
                <a:solidFill>
                  <a:srgbClr val="158C94"/>
                </a:solidFill>
                <a:latin typeface="Times New Roman" pitchFamily="34" charset="0"/>
                <a:ea typeface="Times New Roman" pitchFamily="34" charset="-122"/>
                <a:cs typeface="Times New Roman" pitchFamily="34" charset="-120"/>
              </a:rPr>
              <a:t>brightness 0.2, contrast 0.2, saturation 0.1</a:t>
            </a:r>
            <a:endParaRPr lang="en-US" sz="1400" dirty="0"/>
          </a:p>
        </p:txBody>
      </p:sp>
      <p:sp>
        <p:nvSpPr>
          <p:cNvPr id="24" name="Text 21"/>
          <p:cNvSpPr/>
          <p:nvPr/>
        </p:nvSpPr>
        <p:spPr>
          <a:xfrm>
            <a:off x="8275320" y="4117162"/>
            <a:ext cx="3227832" cy="713232"/>
          </a:xfrm>
          <a:prstGeom prst="rect">
            <a:avLst/>
          </a:prstGeom>
          <a:noFill/>
          <a:ln/>
        </p:spPr>
        <p:txBody>
          <a:bodyPr wrap="square" rtlCol="0" anchor="ctr"/>
          <a:lstStyle/>
          <a:p>
            <a:pPr marL="0" indent="0">
              <a:lnSpc>
                <a:spcPct val="110000"/>
              </a:lnSpc>
              <a:buNone/>
            </a:pPr>
            <a:r>
              <a:rPr lang="en-US" sz="1400" dirty="0">
                <a:solidFill>
                  <a:srgbClr val="1C2430"/>
                </a:solidFill>
                <a:latin typeface="Times New Roman" pitchFamily="34" charset="0"/>
                <a:ea typeface="Times New Roman" pitchFamily="34" charset="-122"/>
                <a:cs typeface="Times New Roman" pitchFamily="34" charset="-120"/>
              </a:rPr>
              <a:t>Mô phỏng sai khác độ sáng / tương phản giữa các máy MRI</a:t>
            </a:r>
            <a:endParaRPr lang="en-US" sz="1400" dirty="0"/>
          </a:p>
        </p:txBody>
      </p:sp>
      <p:sp>
        <p:nvSpPr>
          <p:cNvPr id="25" name="Shape 22"/>
          <p:cNvSpPr/>
          <p:nvPr/>
        </p:nvSpPr>
        <p:spPr>
          <a:xfrm>
            <a:off x="502920" y="4830394"/>
            <a:ext cx="11183112" cy="713232"/>
          </a:xfrm>
          <a:prstGeom prst="roundRect">
            <a:avLst/>
          </a:prstGeom>
          <a:solidFill>
            <a:srgbClr val="E4F3F3"/>
          </a:solidFill>
          <a:ln w="6350">
            <a:solidFill>
              <a:srgbClr val="E2E6EC"/>
            </a:solidFill>
            <a:prstDash val="solid"/>
          </a:ln>
          <a:effectLst>
            <a:outerShdw blurRad="101600" dist="25400" dir="5400000" algn="bl" rotWithShape="0">
              <a:srgbClr val="1B3760">
                <a:alpha val="10000"/>
              </a:srgbClr>
            </a:outerShdw>
          </a:effectLst>
        </p:spPr>
      </p:sp>
      <p:sp>
        <p:nvSpPr>
          <p:cNvPr id="26" name="Text 23"/>
          <p:cNvSpPr/>
          <p:nvPr/>
        </p:nvSpPr>
        <p:spPr>
          <a:xfrm>
            <a:off x="685800" y="4830394"/>
            <a:ext cx="2377440" cy="713232"/>
          </a:xfrm>
          <a:prstGeom prst="rect">
            <a:avLst/>
          </a:prstGeom>
          <a:noFill/>
          <a:ln/>
        </p:spPr>
        <p:txBody>
          <a:bodyPr wrap="square" rtlCol="0" anchor="ctr"/>
          <a:lstStyle/>
          <a:p>
            <a:pPr marL="0" indent="0">
              <a:buNone/>
            </a:pPr>
            <a:r>
              <a:rPr lang="en-US" sz="1600" b="1" dirty="0">
                <a:solidFill>
                  <a:srgbClr val="0B1E3D"/>
                </a:solidFill>
                <a:latin typeface="Times New Roman" pitchFamily="34" charset="0"/>
                <a:ea typeface="Times New Roman" pitchFamily="34" charset="-122"/>
                <a:cs typeface="Times New Roman" pitchFamily="34" charset="-120"/>
              </a:rPr>
              <a:t>Random Affine</a:t>
            </a:r>
            <a:endParaRPr lang="en-US" sz="1600" dirty="0"/>
          </a:p>
        </p:txBody>
      </p:sp>
      <p:sp>
        <p:nvSpPr>
          <p:cNvPr id="27" name="Text 24"/>
          <p:cNvSpPr/>
          <p:nvPr/>
        </p:nvSpPr>
        <p:spPr>
          <a:xfrm>
            <a:off x="3429000" y="4830394"/>
            <a:ext cx="4434840" cy="713232"/>
          </a:xfrm>
          <a:prstGeom prst="rect">
            <a:avLst/>
          </a:prstGeom>
          <a:noFill/>
          <a:ln/>
        </p:spPr>
        <p:txBody>
          <a:bodyPr wrap="square" rtlCol="0" anchor="ctr"/>
          <a:lstStyle/>
          <a:p>
            <a:pPr marL="0" indent="0">
              <a:buNone/>
            </a:pPr>
            <a:r>
              <a:rPr lang="en-US" sz="1400" i="1" dirty="0">
                <a:solidFill>
                  <a:srgbClr val="158C94"/>
                </a:solidFill>
                <a:latin typeface="Times New Roman" pitchFamily="34" charset="0"/>
                <a:ea typeface="Times New Roman" pitchFamily="34" charset="-122"/>
                <a:cs typeface="Times New Roman" pitchFamily="34" charset="-120"/>
              </a:rPr>
              <a:t>shear 10°, scale 0.9–1.1</a:t>
            </a:r>
            <a:endParaRPr lang="en-US" sz="1400" dirty="0"/>
          </a:p>
        </p:txBody>
      </p:sp>
      <p:sp>
        <p:nvSpPr>
          <p:cNvPr id="28" name="Text 25"/>
          <p:cNvSpPr/>
          <p:nvPr/>
        </p:nvSpPr>
        <p:spPr>
          <a:xfrm>
            <a:off x="8275320" y="4830394"/>
            <a:ext cx="3227832" cy="713232"/>
          </a:xfrm>
          <a:prstGeom prst="rect">
            <a:avLst/>
          </a:prstGeom>
          <a:noFill/>
          <a:ln/>
        </p:spPr>
        <p:txBody>
          <a:bodyPr wrap="square" rtlCol="0" anchor="ctr"/>
          <a:lstStyle/>
          <a:p>
            <a:pPr marL="0" indent="0">
              <a:lnSpc>
                <a:spcPct val="110000"/>
              </a:lnSpc>
              <a:buNone/>
            </a:pPr>
            <a:r>
              <a:rPr lang="en-US" sz="1400" dirty="0">
                <a:solidFill>
                  <a:srgbClr val="1C2430"/>
                </a:solidFill>
                <a:latin typeface="Times New Roman" pitchFamily="34" charset="0"/>
                <a:ea typeface="Times New Roman" pitchFamily="34" charset="-122"/>
                <a:cs typeface="Times New Roman" pitchFamily="34" charset="-120"/>
              </a:rPr>
              <a:t>Mô phỏng biến dạng hình học nhẹ</a:t>
            </a:r>
            <a:endParaRPr lang="en-US" sz="1400" dirty="0"/>
          </a:p>
        </p:txBody>
      </p:sp>
      <p:sp>
        <p:nvSpPr>
          <p:cNvPr id="29" name="Shape 26"/>
          <p:cNvSpPr/>
          <p:nvPr/>
        </p:nvSpPr>
        <p:spPr>
          <a:xfrm>
            <a:off x="502920" y="5543626"/>
            <a:ext cx="11183112" cy="713232"/>
          </a:xfrm>
          <a:prstGeom prst="roundRect">
            <a:avLst/>
          </a:prstGeom>
          <a:solidFill>
            <a:srgbClr val="FFFFFF"/>
          </a:solidFill>
          <a:ln w="6350">
            <a:solidFill>
              <a:srgbClr val="E2E6EC"/>
            </a:solidFill>
            <a:prstDash val="solid"/>
          </a:ln>
          <a:effectLst>
            <a:outerShdw blurRad="101600" dist="25400" dir="5400000" algn="bl" rotWithShape="0">
              <a:srgbClr val="1B3760">
                <a:alpha val="10000"/>
              </a:srgbClr>
            </a:outerShdw>
          </a:effectLst>
        </p:spPr>
      </p:sp>
      <p:sp>
        <p:nvSpPr>
          <p:cNvPr id="30" name="Text 27"/>
          <p:cNvSpPr/>
          <p:nvPr/>
        </p:nvSpPr>
        <p:spPr>
          <a:xfrm>
            <a:off x="685800" y="5543626"/>
            <a:ext cx="2377440" cy="713232"/>
          </a:xfrm>
          <a:prstGeom prst="rect">
            <a:avLst/>
          </a:prstGeom>
          <a:noFill/>
          <a:ln/>
        </p:spPr>
        <p:txBody>
          <a:bodyPr wrap="square" rtlCol="0" anchor="ctr"/>
          <a:lstStyle/>
          <a:p>
            <a:pPr marL="0" indent="0">
              <a:buNone/>
            </a:pPr>
            <a:r>
              <a:rPr lang="en-US" sz="1600" b="1" dirty="0">
                <a:solidFill>
                  <a:srgbClr val="0B1E3D"/>
                </a:solidFill>
                <a:latin typeface="Times New Roman" pitchFamily="34" charset="0"/>
                <a:ea typeface="Times New Roman" pitchFamily="34" charset="-122"/>
                <a:cs typeface="Times New Roman" pitchFamily="34" charset="-120"/>
              </a:rPr>
              <a:t>Random Erasing</a:t>
            </a:r>
            <a:endParaRPr lang="en-US" sz="1600" dirty="0"/>
          </a:p>
        </p:txBody>
      </p:sp>
      <p:sp>
        <p:nvSpPr>
          <p:cNvPr id="31" name="Text 28"/>
          <p:cNvSpPr/>
          <p:nvPr/>
        </p:nvSpPr>
        <p:spPr>
          <a:xfrm>
            <a:off x="3429000" y="5543626"/>
            <a:ext cx="4434840" cy="713232"/>
          </a:xfrm>
          <a:prstGeom prst="rect">
            <a:avLst/>
          </a:prstGeom>
          <a:noFill/>
          <a:ln/>
        </p:spPr>
        <p:txBody>
          <a:bodyPr wrap="square" rtlCol="0" anchor="ctr"/>
          <a:lstStyle/>
          <a:p>
            <a:pPr marL="0" indent="0">
              <a:buNone/>
            </a:pPr>
            <a:r>
              <a:rPr lang="en-US" sz="1400" i="1" dirty="0">
                <a:solidFill>
                  <a:srgbClr val="158C94"/>
                </a:solidFill>
                <a:latin typeface="Times New Roman" pitchFamily="34" charset="0"/>
                <a:ea typeface="Times New Roman" pitchFamily="34" charset="-122"/>
                <a:cs typeface="Times New Roman" pitchFamily="34" charset="-120"/>
              </a:rPr>
              <a:t>p = 0.1</a:t>
            </a:r>
            <a:endParaRPr lang="en-US" sz="1400" dirty="0"/>
          </a:p>
        </p:txBody>
      </p:sp>
      <p:sp>
        <p:nvSpPr>
          <p:cNvPr id="32" name="Text 29"/>
          <p:cNvSpPr/>
          <p:nvPr/>
        </p:nvSpPr>
        <p:spPr>
          <a:xfrm>
            <a:off x="8275320" y="5543626"/>
            <a:ext cx="3227832" cy="713232"/>
          </a:xfrm>
          <a:prstGeom prst="rect">
            <a:avLst/>
          </a:prstGeom>
          <a:noFill/>
          <a:ln/>
        </p:spPr>
        <p:txBody>
          <a:bodyPr wrap="square" rtlCol="0" anchor="ctr"/>
          <a:lstStyle/>
          <a:p>
            <a:pPr marL="0" indent="0">
              <a:lnSpc>
                <a:spcPct val="110000"/>
              </a:lnSpc>
              <a:buNone/>
            </a:pPr>
            <a:r>
              <a:rPr lang="en-US" sz="1400" dirty="0">
                <a:solidFill>
                  <a:srgbClr val="1C2430"/>
                </a:solidFill>
                <a:latin typeface="Times New Roman" pitchFamily="34" charset="0"/>
                <a:ea typeface="Times New Roman" pitchFamily="34" charset="-122"/>
                <a:cs typeface="Times New Roman" pitchFamily="34" charset="-120"/>
              </a:rPr>
              <a:t>Che ngẫu nhiên vùng ảnh nhỏ, buộc học đặc trưng toàn diện</a:t>
            </a:r>
            <a:endParaRPr lang="en-US" sz="1400" dirty="0"/>
          </a:p>
        </p:txBody>
      </p:sp>
      <p:sp>
        <p:nvSpPr>
          <p:cNvPr id="33" name="Shape 30"/>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34" name="Text 31"/>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12</a:t>
            </a:r>
            <a:endParaRPr lang="en-US" sz="1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54218"/>
            <a:ext cx="566928" cy="292608"/>
          </a:xfrm>
          <a:prstGeom prst="roundRect">
            <a:avLst>
              <a:gd name="adj" fmla="val 50000"/>
            </a:avLst>
          </a:prstGeom>
          <a:solidFill>
            <a:srgbClr val="158C94"/>
          </a:solidFill>
          <a:ln/>
        </p:spPr>
      </p:sp>
      <p:sp>
        <p:nvSpPr>
          <p:cNvPr id="5" name="Text 2"/>
          <p:cNvSpPr/>
          <p:nvPr/>
        </p:nvSpPr>
        <p:spPr>
          <a:xfrm>
            <a:off x="502920" y="954218"/>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02</a:t>
            </a:r>
            <a:endParaRPr lang="en-US" sz="1200" dirty="0"/>
          </a:p>
        </p:txBody>
      </p:sp>
      <p:sp>
        <p:nvSpPr>
          <p:cNvPr id="6" name="Text 3"/>
          <p:cNvSpPr/>
          <p:nvPr/>
        </p:nvSpPr>
        <p:spPr>
          <a:xfrm>
            <a:off x="1179576" y="954218"/>
            <a:ext cx="9601200" cy="292608"/>
          </a:xfrm>
          <a:prstGeom prst="rect">
            <a:avLst/>
          </a:prstGeom>
          <a:noFill/>
          <a:ln/>
        </p:spPr>
        <p:txBody>
          <a:bodyPr wrap="square" rtlCol="0" anchor="ctr"/>
          <a:lstStyle/>
          <a:p>
            <a:pPr marL="0" indent="0">
              <a:buNone/>
            </a:pPr>
            <a:r>
              <a:rPr lang="en-US" sz="1250" b="1" kern="0" spc="120" dirty="0">
                <a:solidFill>
                  <a:srgbClr val="158C94"/>
                </a:solidFill>
                <a:latin typeface="Times New Roman" pitchFamily="34" charset="0"/>
                <a:ea typeface="Times New Roman" pitchFamily="34" charset="-122"/>
                <a:cs typeface="Times New Roman" pitchFamily="34" charset="-120"/>
              </a:rPr>
              <a:t>PHÂN TÍCH &amp; THIẾT KẾ HỆ THỐNG</a:t>
            </a:r>
            <a:endParaRPr lang="en-US" sz="1250" dirty="0"/>
          </a:p>
        </p:txBody>
      </p:sp>
      <p:sp>
        <p:nvSpPr>
          <p:cNvPr id="7" name="Text 4"/>
          <p:cNvSpPr/>
          <p:nvPr/>
        </p:nvSpPr>
        <p:spPr>
          <a:xfrm>
            <a:off x="502920" y="1216741"/>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Phân tích khám phá dữ liệu (EDA)</a:t>
            </a:r>
            <a:endParaRPr lang="en-US" sz="2500" dirty="0"/>
          </a:p>
        </p:txBody>
      </p:sp>
      <p:sp>
        <p:nvSpPr>
          <p:cNvPr id="8" name="Shape 5"/>
          <p:cNvSpPr/>
          <p:nvPr/>
        </p:nvSpPr>
        <p:spPr>
          <a:xfrm>
            <a:off x="239765" y="1737360"/>
            <a:ext cx="6565392" cy="1904057"/>
          </a:xfrm>
          <a:prstGeom prst="roundRect">
            <a:avLst>
              <a:gd name="adj" fmla="val 3362"/>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pic>
        <p:nvPicPr>
          <p:cNvPr id="9" name="Image 1" descr="/home/claude/work/build/image6.png"/>
          <p:cNvPicPr>
            <a:picLocks noChangeAspect="1"/>
          </p:cNvPicPr>
          <p:nvPr/>
        </p:nvPicPr>
        <p:blipFill>
          <a:blip r:embed="rId3"/>
          <a:stretch>
            <a:fillRect/>
          </a:stretch>
        </p:blipFill>
        <p:spPr>
          <a:xfrm>
            <a:off x="322061" y="1819656"/>
            <a:ext cx="6400800" cy="1739465"/>
          </a:xfrm>
          <a:prstGeom prst="rect">
            <a:avLst/>
          </a:prstGeom>
        </p:spPr>
      </p:pic>
      <p:sp>
        <p:nvSpPr>
          <p:cNvPr id="10" name="Text 6"/>
          <p:cNvSpPr/>
          <p:nvPr/>
        </p:nvSpPr>
        <p:spPr>
          <a:xfrm>
            <a:off x="-139054" y="3677993"/>
            <a:ext cx="656539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2.3 — Phân bố kích thước ảnh (Width / Height) theo nhãn</a:t>
            </a:r>
            <a:endParaRPr lang="en-US" sz="1050" dirty="0"/>
          </a:p>
        </p:txBody>
      </p:sp>
      <p:sp>
        <p:nvSpPr>
          <p:cNvPr id="11" name="Shape 7"/>
          <p:cNvSpPr/>
          <p:nvPr/>
        </p:nvSpPr>
        <p:spPr>
          <a:xfrm>
            <a:off x="1225296" y="3979745"/>
            <a:ext cx="4718514" cy="2313432"/>
          </a:xfrm>
          <a:prstGeom prst="roundRect">
            <a:avLst>
              <a:gd name="adj" fmla="val 2767"/>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pic>
        <p:nvPicPr>
          <p:cNvPr id="12" name="Image 2" descr="/home/claude/work/build/image7.png"/>
          <p:cNvPicPr>
            <a:picLocks noChangeAspect="1"/>
          </p:cNvPicPr>
          <p:nvPr/>
        </p:nvPicPr>
        <p:blipFill>
          <a:blip r:embed="rId4"/>
          <a:stretch>
            <a:fillRect/>
          </a:stretch>
        </p:blipFill>
        <p:spPr>
          <a:xfrm>
            <a:off x="1307592" y="4062041"/>
            <a:ext cx="4553922" cy="2148840"/>
          </a:xfrm>
          <a:prstGeom prst="rect">
            <a:avLst/>
          </a:prstGeom>
        </p:spPr>
      </p:pic>
      <p:sp>
        <p:nvSpPr>
          <p:cNvPr id="13" name="Text 8"/>
          <p:cNvSpPr/>
          <p:nvPr/>
        </p:nvSpPr>
        <p:spPr>
          <a:xfrm>
            <a:off x="1225296" y="6329753"/>
            <a:ext cx="4718514"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2.4 — Phân bố cường độ sáng trung bình theo nhãn</a:t>
            </a:r>
            <a:endParaRPr lang="en-US" sz="1050" dirty="0"/>
          </a:p>
        </p:txBody>
      </p:sp>
      <p:sp>
        <p:nvSpPr>
          <p:cNvPr id="14" name="Shape 9"/>
          <p:cNvSpPr/>
          <p:nvPr/>
        </p:nvSpPr>
        <p:spPr>
          <a:xfrm>
            <a:off x="6379266" y="4523493"/>
            <a:ext cx="4873752" cy="1225937"/>
          </a:xfrm>
          <a:prstGeom prst="roundRect">
            <a:avLst>
              <a:gd name="adj" fmla="val 5221"/>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pic>
        <p:nvPicPr>
          <p:cNvPr id="15" name="Image 3" descr="/home/claude/work/build/image9.png"/>
          <p:cNvPicPr>
            <a:picLocks noChangeAspect="1"/>
          </p:cNvPicPr>
          <p:nvPr/>
        </p:nvPicPr>
        <p:blipFill>
          <a:blip r:embed="rId5"/>
          <a:stretch>
            <a:fillRect/>
          </a:stretch>
        </p:blipFill>
        <p:spPr>
          <a:xfrm>
            <a:off x="6461562" y="4605789"/>
            <a:ext cx="4709160" cy="1061345"/>
          </a:xfrm>
          <a:prstGeom prst="rect">
            <a:avLst/>
          </a:prstGeom>
        </p:spPr>
      </p:pic>
      <p:sp>
        <p:nvSpPr>
          <p:cNvPr id="16" name="Text 10"/>
          <p:cNvSpPr/>
          <p:nvPr/>
        </p:nvSpPr>
        <p:spPr>
          <a:xfrm>
            <a:off x="6379266" y="5786005"/>
            <a:ext cx="487375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2.6 — Ảnh trung bình theo từng lớp</a:t>
            </a:r>
            <a:endParaRPr lang="en-US" sz="1050" dirty="0"/>
          </a:p>
        </p:txBody>
      </p:sp>
      <p:sp>
        <p:nvSpPr>
          <p:cNvPr id="17" name="Shape 11"/>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18" name="Text 12"/>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13</a:t>
            </a:r>
            <a:endParaRPr lang="en-US" sz="1000" dirty="0"/>
          </a:p>
        </p:txBody>
      </p:sp>
      <p:grpSp>
        <p:nvGrpSpPr>
          <p:cNvPr id="24" name="Group 23">
            <a:extLst>
              <a:ext uri="{FF2B5EF4-FFF2-40B4-BE49-F238E27FC236}">
                <a16:creationId xmlns:a16="http://schemas.microsoft.com/office/drawing/2014/main" id="{AD695345-34B1-4A65-524C-A92023E74D42}"/>
              </a:ext>
            </a:extLst>
          </p:cNvPr>
          <p:cNvGrpSpPr/>
          <p:nvPr/>
        </p:nvGrpSpPr>
        <p:grpSpPr>
          <a:xfrm>
            <a:off x="6937046" y="1421728"/>
            <a:ext cx="5102352" cy="2907792"/>
            <a:chOff x="6656832" y="1438656"/>
            <a:chExt cx="5102352" cy="2907792"/>
          </a:xfrm>
        </p:grpSpPr>
        <p:sp>
          <p:nvSpPr>
            <p:cNvPr id="25" name="Shape 4"/>
            <p:cNvSpPr/>
            <p:nvPr/>
          </p:nvSpPr>
          <p:spPr>
            <a:xfrm>
              <a:off x="6656832" y="1438656"/>
              <a:ext cx="5102352" cy="2788920"/>
            </a:xfrm>
            <a:prstGeom prst="roundRect">
              <a:avLst>
                <a:gd name="adj" fmla="val 2623"/>
              </a:avLst>
            </a:prstGeom>
            <a:solidFill>
              <a:srgbClr val="F2F6FA"/>
            </a:solidFill>
            <a:ln w="12700">
              <a:solidFill>
                <a:srgbClr val="D9E2EC"/>
              </a:solidFill>
              <a:prstDash val="solid"/>
            </a:ln>
            <a:effectLst>
              <a:outerShdw blurRad="63500" dist="25400" dir="5400000" algn="bl" rotWithShape="0">
                <a:srgbClr val="B9C4D0">
                  <a:alpha val="45000"/>
                </a:srgbClr>
              </a:outerShdw>
            </a:effectLst>
          </p:spPr>
        </p:sp>
        <p:sp>
          <p:nvSpPr>
            <p:cNvPr id="26" name="Text 5"/>
            <p:cNvSpPr/>
            <p:nvPr/>
          </p:nvSpPr>
          <p:spPr>
            <a:xfrm>
              <a:off x="6885432" y="1603248"/>
              <a:ext cx="4023360" cy="329184"/>
            </a:xfrm>
            <a:prstGeom prst="rect">
              <a:avLst/>
            </a:prstGeom>
            <a:noFill/>
            <a:ln/>
          </p:spPr>
          <p:txBody>
            <a:bodyPr wrap="square" rtlCol="0" anchor="ctr"/>
            <a:lstStyle/>
            <a:p>
              <a:pPr marL="0" indent="0">
                <a:buNone/>
              </a:pPr>
              <a:r>
                <a:rPr lang="en-US" sz="1600" b="1" dirty="0">
                  <a:solidFill>
                    <a:srgbClr val="1E3A5F"/>
                  </a:solidFill>
                  <a:latin typeface="Cambria" pitchFamily="34" charset="0"/>
                  <a:ea typeface="Cambria" pitchFamily="34" charset="-122"/>
                  <a:cs typeface="Cambria" pitchFamily="34" charset="-120"/>
                </a:rPr>
                <a:t>Phát hiện chính</a:t>
              </a:r>
              <a:endParaRPr lang="en-US" sz="1600" dirty="0"/>
            </a:p>
          </p:txBody>
        </p:sp>
        <p:sp>
          <p:nvSpPr>
            <p:cNvPr id="27" name="Text 6"/>
            <p:cNvSpPr/>
            <p:nvPr/>
          </p:nvSpPr>
          <p:spPr>
            <a:xfrm>
              <a:off x="6885432" y="1969008"/>
              <a:ext cx="4617720" cy="2377440"/>
            </a:xfrm>
            <a:prstGeom prst="rect">
              <a:avLst/>
            </a:prstGeom>
            <a:noFill/>
            <a:ln/>
          </p:spPr>
          <p:txBody>
            <a:bodyPr wrap="square" rtlCol="0" anchor="t"/>
            <a:lstStyle/>
            <a:p>
              <a:pPr marL="177800" indent="-1778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Glioma/meningioma nghiêng về vùng tối; pituitary sáng hơn.</a:t>
              </a:r>
              <a:endParaRPr lang="en-US" sz="1400" dirty="0"/>
            </a:p>
            <a:p>
              <a:pPr marL="177800" indent="-1778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Notumor có phân phối cường độ rộng nhất.</a:t>
              </a:r>
              <a:endParaRPr lang="en-US" sz="1400" dirty="0"/>
            </a:p>
            <a:p>
              <a:pPr marL="177800" indent="-1778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Khác biệt cường độ giữa lớp là đặc trưng hữu ích cho CNN.</a:t>
              </a:r>
              <a:endParaRPr lang="en-US" sz="1400" dirty="0"/>
            </a:p>
            <a:p>
              <a:pPr marL="177800" indent="-177800">
                <a:spcAft>
                  <a:spcPts val="800"/>
                </a:spcAft>
                <a:buSzPct val="100000"/>
                <a:buChar char="•"/>
              </a:pPr>
              <a:r>
                <a:rPr lang="en-US" sz="1400" dirty="0">
                  <a:solidFill>
                    <a:srgbClr val="1F2933"/>
                  </a:solidFill>
                  <a:latin typeface="Calibri" pitchFamily="34" charset="0"/>
                  <a:ea typeface="Calibri" pitchFamily="34" charset="-122"/>
                  <a:cs typeface="Calibri" pitchFamily="34" charset="-120"/>
                </a:rPr>
                <a:t>Cơ sở cho Color Jitter khi augmentation.</a:t>
              </a:r>
              <a:endParaRPr lang="en-US" sz="1400" dirty="0"/>
            </a:p>
          </p:txBody>
        </p:sp>
      </p:gr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54220"/>
            <a:ext cx="566928" cy="292608"/>
          </a:xfrm>
          <a:prstGeom prst="roundRect">
            <a:avLst>
              <a:gd name="adj" fmla="val 50000"/>
            </a:avLst>
          </a:prstGeom>
          <a:solidFill>
            <a:srgbClr val="D8432E"/>
          </a:solidFill>
          <a:ln/>
        </p:spPr>
      </p:sp>
      <p:sp>
        <p:nvSpPr>
          <p:cNvPr id="5" name="Text 2"/>
          <p:cNvSpPr/>
          <p:nvPr/>
        </p:nvSpPr>
        <p:spPr>
          <a:xfrm>
            <a:off x="502920" y="954220"/>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03</a:t>
            </a:r>
            <a:endParaRPr lang="en-US" sz="1200" dirty="0"/>
          </a:p>
        </p:txBody>
      </p:sp>
      <p:sp>
        <p:nvSpPr>
          <p:cNvPr id="6" name="Text 3"/>
          <p:cNvSpPr/>
          <p:nvPr/>
        </p:nvSpPr>
        <p:spPr>
          <a:xfrm>
            <a:off x="1179576" y="954220"/>
            <a:ext cx="9601200" cy="292608"/>
          </a:xfrm>
          <a:prstGeom prst="rect">
            <a:avLst/>
          </a:prstGeom>
          <a:noFill/>
          <a:ln/>
        </p:spPr>
        <p:txBody>
          <a:bodyPr wrap="square" rtlCol="0" anchor="ctr"/>
          <a:lstStyle/>
          <a:p>
            <a:pPr marL="0" indent="0">
              <a:buNone/>
            </a:pPr>
            <a:r>
              <a:rPr lang="en-US" sz="1250" b="1" kern="0" spc="120" dirty="0">
                <a:solidFill>
                  <a:srgbClr val="D8432E"/>
                </a:solidFill>
                <a:latin typeface="Times New Roman" pitchFamily="34" charset="0"/>
                <a:ea typeface="Times New Roman" pitchFamily="34" charset="-122"/>
                <a:cs typeface="Times New Roman" pitchFamily="34" charset="-120"/>
              </a:rPr>
              <a:t>HUẤN LUYỆN &amp; ĐÁNH GIÁ MÔ HÌNH</a:t>
            </a:r>
            <a:endParaRPr lang="en-US" sz="1250" dirty="0"/>
          </a:p>
        </p:txBody>
      </p:sp>
      <p:sp>
        <p:nvSpPr>
          <p:cNvPr id="7" name="Text 4"/>
          <p:cNvSpPr/>
          <p:nvPr/>
        </p:nvSpPr>
        <p:spPr>
          <a:xfrm>
            <a:off x="502920" y="1275732"/>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Cấu hình huấn luyện</a:t>
            </a:r>
            <a:endParaRPr lang="en-US" sz="2500" dirty="0"/>
          </a:p>
        </p:txBody>
      </p:sp>
      <p:sp>
        <p:nvSpPr>
          <p:cNvPr id="8" name="Text 5"/>
          <p:cNvSpPr/>
          <p:nvPr/>
        </p:nvSpPr>
        <p:spPr>
          <a:xfrm>
            <a:off x="502920" y="1627927"/>
            <a:ext cx="11183112" cy="365760"/>
          </a:xfrm>
          <a:prstGeom prst="rect">
            <a:avLst/>
          </a:prstGeom>
          <a:noFill/>
          <a:ln/>
        </p:spPr>
        <p:txBody>
          <a:bodyPr wrap="square" rtlCol="0" anchor="ctr"/>
          <a:lstStyle/>
          <a:p>
            <a:pPr marL="0" indent="0">
              <a:buNone/>
            </a:pPr>
            <a:r>
              <a:rPr lang="en-US" sz="1250" dirty="0">
                <a:solidFill>
                  <a:srgbClr val="5B6472"/>
                </a:solidFill>
                <a:latin typeface="Times New Roman" pitchFamily="34" charset="0"/>
                <a:ea typeface="Times New Roman" pitchFamily="34" charset="-122"/>
                <a:cs typeface="Times New Roman" pitchFamily="34" charset="-120"/>
              </a:rPr>
              <a:t>Cả hai mô hình được huấn luyện với cùng một cấu hình thực nghiệm để đảm bảo tính công bằng khi so sánh:</a:t>
            </a:r>
            <a:endParaRPr lang="en-US" sz="1250" dirty="0"/>
          </a:p>
        </p:txBody>
      </p:sp>
      <p:sp>
        <p:nvSpPr>
          <p:cNvPr id="9" name="Shape 6"/>
          <p:cNvSpPr/>
          <p:nvPr/>
        </p:nvSpPr>
        <p:spPr>
          <a:xfrm>
            <a:off x="502920" y="1981891"/>
            <a:ext cx="5440680" cy="932688"/>
          </a:xfrm>
          <a:prstGeom prst="roundRect">
            <a:avLst>
              <a:gd name="adj" fmla="val 8824"/>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0" name="Shape 7"/>
          <p:cNvSpPr/>
          <p:nvPr/>
        </p:nvSpPr>
        <p:spPr>
          <a:xfrm>
            <a:off x="704088" y="2183059"/>
            <a:ext cx="530352" cy="530352"/>
          </a:xfrm>
          <a:prstGeom prst="ellipse">
            <a:avLst/>
          </a:prstGeom>
          <a:solidFill>
            <a:srgbClr val="D8432E"/>
          </a:solidFill>
          <a:ln/>
          <a:effectLst>
            <a:outerShdw blurRad="76200" dist="25400" dir="5400000" algn="bl" rotWithShape="0">
              <a:srgbClr val="1B3760">
                <a:alpha val="18000"/>
              </a:srgbClr>
            </a:outerShdw>
          </a:effectLst>
        </p:spPr>
      </p:sp>
      <p:pic>
        <p:nvPicPr>
          <p:cNvPr id="11" name="Image 1" descr="/home/claude/work/build/code_white.png"/>
          <p:cNvPicPr>
            <a:picLocks noChangeAspect="1"/>
          </p:cNvPicPr>
          <p:nvPr/>
        </p:nvPicPr>
        <p:blipFill>
          <a:blip r:embed="rId3"/>
          <a:stretch>
            <a:fillRect/>
          </a:stretch>
        </p:blipFill>
        <p:spPr>
          <a:xfrm>
            <a:off x="832104" y="2311075"/>
            <a:ext cx="274320" cy="274320"/>
          </a:xfrm>
          <a:prstGeom prst="rect">
            <a:avLst/>
          </a:prstGeom>
        </p:spPr>
      </p:pic>
      <p:sp>
        <p:nvSpPr>
          <p:cNvPr id="12" name="Text 8"/>
          <p:cNvSpPr/>
          <p:nvPr/>
        </p:nvSpPr>
        <p:spPr>
          <a:xfrm>
            <a:off x="1371600" y="2073331"/>
            <a:ext cx="4389120" cy="347472"/>
          </a:xfrm>
          <a:prstGeom prst="rect">
            <a:avLst/>
          </a:prstGeom>
          <a:noFill/>
          <a:ln/>
        </p:spPr>
        <p:txBody>
          <a:bodyPr wrap="square" rtlCol="0" anchor="b"/>
          <a:lstStyle/>
          <a:p>
            <a:pPr marL="0" indent="0">
              <a:buNone/>
            </a:pPr>
            <a:r>
              <a:rPr lang="en-US" sz="1250" b="1" dirty="0">
                <a:solidFill>
                  <a:srgbClr val="0B1E3D"/>
                </a:solidFill>
                <a:latin typeface="Times New Roman" pitchFamily="34" charset="0"/>
                <a:ea typeface="Times New Roman" pitchFamily="34" charset="-122"/>
                <a:cs typeface="Times New Roman" pitchFamily="34" charset="-120"/>
              </a:rPr>
              <a:t>Phase 1 — Warm-up</a:t>
            </a:r>
            <a:endParaRPr lang="en-US" sz="1250" dirty="0"/>
          </a:p>
        </p:txBody>
      </p:sp>
      <p:sp>
        <p:nvSpPr>
          <p:cNvPr id="13" name="Text 9"/>
          <p:cNvSpPr/>
          <p:nvPr/>
        </p:nvSpPr>
        <p:spPr>
          <a:xfrm>
            <a:off x="1371600" y="2420803"/>
            <a:ext cx="4389120" cy="420624"/>
          </a:xfrm>
          <a:prstGeom prst="rect">
            <a:avLst/>
          </a:prstGeom>
          <a:noFill/>
          <a:ln/>
        </p:spPr>
        <p:txBody>
          <a:bodyPr wrap="square" rtlCol="0" anchor="t"/>
          <a:lstStyle/>
          <a:p>
            <a:pPr marL="0" indent="0">
              <a:lnSpc>
                <a:spcPct val="105000"/>
              </a:lnSpc>
              <a:buNone/>
            </a:pPr>
            <a:r>
              <a:rPr lang="en-US" sz="1080" dirty="0">
                <a:solidFill>
                  <a:srgbClr val="5B6472"/>
                </a:solidFill>
                <a:latin typeface="Times New Roman" pitchFamily="34" charset="0"/>
                <a:ea typeface="Times New Roman" pitchFamily="34" charset="-122"/>
                <a:cs typeface="Times New Roman" pitchFamily="34" charset="-120"/>
              </a:rPr>
              <a:t>5 epoch · lr = 1e-3</a:t>
            </a:r>
            <a:endParaRPr lang="en-US" sz="1080" dirty="0"/>
          </a:p>
        </p:txBody>
      </p:sp>
      <p:sp>
        <p:nvSpPr>
          <p:cNvPr id="14" name="Shape 10"/>
          <p:cNvSpPr/>
          <p:nvPr/>
        </p:nvSpPr>
        <p:spPr>
          <a:xfrm>
            <a:off x="6245352" y="1981891"/>
            <a:ext cx="5440680" cy="932688"/>
          </a:xfrm>
          <a:prstGeom prst="roundRect">
            <a:avLst>
              <a:gd name="adj" fmla="val 8824"/>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5" name="Shape 11"/>
          <p:cNvSpPr/>
          <p:nvPr/>
        </p:nvSpPr>
        <p:spPr>
          <a:xfrm>
            <a:off x="6446520" y="2183059"/>
            <a:ext cx="530352" cy="530352"/>
          </a:xfrm>
          <a:prstGeom prst="ellipse">
            <a:avLst/>
          </a:prstGeom>
          <a:solidFill>
            <a:srgbClr val="D8432E"/>
          </a:solidFill>
          <a:ln/>
          <a:effectLst>
            <a:outerShdw blurRad="76200" dist="25400" dir="5400000" algn="bl" rotWithShape="0">
              <a:srgbClr val="1B3760">
                <a:alpha val="18000"/>
              </a:srgbClr>
            </a:outerShdw>
          </a:effectLst>
        </p:spPr>
      </p:sp>
      <p:pic>
        <p:nvPicPr>
          <p:cNvPr id="16" name="Image 2" descr="/home/claude/work/build/random_white.png"/>
          <p:cNvPicPr>
            <a:picLocks noChangeAspect="1"/>
          </p:cNvPicPr>
          <p:nvPr/>
        </p:nvPicPr>
        <p:blipFill>
          <a:blip r:embed="rId4"/>
          <a:stretch>
            <a:fillRect/>
          </a:stretch>
        </p:blipFill>
        <p:spPr>
          <a:xfrm>
            <a:off x="6574536" y="2311075"/>
            <a:ext cx="274320" cy="274320"/>
          </a:xfrm>
          <a:prstGeom prst="rect">
            <a:avLst/>
          </a:prstGeom>
        </p:spPr>
      </p:pic>
      <p:sp>
        <p:nvSpPr>
          <p:cNvPr id="17" name="Text 12"/>
          <p:cNvSpPr/>
          <p:nvPr/>
        </p:nvSpPr>
        <p:spPr>
          <a:xfrm>
            <a:off x="7114032" y="2073331"/>
            <a:ext cx="4389120" cy="347472"/>
          </a:xfrm>
          <a:prstGeom prst="rect">
            <a:avLst/>
          </a:prstGeom>
          <a:noFill/>
          <a:ln/>
        </p:spPr>
        <p:txBody>
          <a:bodyPr wrap="square" rtlCol="0" anchor="b"/>
          <a:lstStyle/>
          <a:p>
            <a:pPr marL="0" indent="0">
              <a:buNone/>
            </a:pPr>
            <a:r>
              <a:rPr lang="en-US" sz="1250" b="1" dirty="0">
                <a:solidFill>
                  <a:srgbClr val="0B1E3D"/>
                </a:solidFill>
                <a:latin typeface="Times New Roman" pitchFamily="34" charset="0"/>
                <a:ea typeface="Times New Roman" pitchFamily="34" charset="-122"/>
                <a:cs typeface="Times New Roman" pitchFamily="34" charset="-120"/>
              </a:rPr>
              <a:t>Phase 2 — Fine-tuning</a:t>
            </a:r>
            <a:endParaRPr lang="en-US" sz="1250" dirty="0"/>
          </a:p>
        </p:txBody>
      </p:sp>
      <p:sp>
        <p:nvSpPr>
          <p:cNvPr id="18" name="Text 13"/>
          <p:cNvSpPr/>
          <p:nvPr/>
        </p:nvSpPr>
        <p:spPr>
          <a:xfrm>
            <a:off x="7114032" y="2420803"/>
            <a:ext cx="4389120" cy="420624"/>
          </a:xfrm>
          <a:prstGeom prst="rect">
            <a:avLst/>
          </a:prstGeom>
          <a:noFill/>
          <a:ln/>
        </p:spPr>
        <p:txBody>
          <a:bodyPr wrap="square" rtlCol="0" anchor="t"/>
          <a:lstStyle/>
          <a:p>
            <a:pPr marL="0" indent="0">
              <a:lnSpc>
                <a:spcPct val="105000"/>
              </a:lnSpc>
              <a:buNone/>
            </a:pPr>
            <a:r>
              <a:rPr lang="en-US" sz="1080" dirty="0">
                <a:solidFill>
                  <a:srgbClr val="5B6472"/>
                </a:solidFill>
                <a:latin typeface="Times New Roman" pitchFamily="34" charset="0"/>
                <a:ea typeface="Times New Roman" pitchFamily="34" charset="-122"/>
                <a:cs typeface="Times New Roman" pitchFamily="34" charset="-120"/>
              </a:rPr>
              <a:t>tối đa 35 epoch · lr = 1e-4 → 5e-5 → 2.5e-5</a:t>
            </a:r>
            <a:endParaRPr lang="en-US" sz="1080" dirty="0"/>
          </a:p>
        </p:txBody>
      </p:sp>
      <p:sp>
        <p:nvSpPr>
          <p:cNvPr id="19" name="Shape 14"/>
          <p:cNvSpPr/>
          <p:nvPr/>
        </p:nvSpPr>
        <p:spPr>
          <a:xfrm>
            <a:off x="502920" y="3115747"/>
            <a:ext cx="5440680" cy="932688"/>
          </a:xfrm>
          <a:prstGeom prst="roundRect">
            <a:avLst>
              <a:gd name="adj" fmla="val 8824"/>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0" name="Shape 15"/>
          <p:cNvSpPr/>
          <p:nvPr/>
        </p:nvSpPr>
        <p:spPr>
          <a:xfrm>
            <a:off x="704088" y="3316915"/>
            <a:ext cx="530352" cy="530352"/>
          </a:xfrm>
          <a:prstGeom prst="ellipse">
            <a:avLst/>
          </a:prstGeom>
          <a:solidFill>
            <a:srgbClr val="D8432E"/>
          </a:solidFill>
          <a:ln/>
          <a:effectLst>
            <a:outerShdw blurRad="76200" dist="25400" dir="5400000" algn="bl" rotWithShape="0">
              <a:srgbClr val="1B3760">
                <a:alpha val="18000"/>
              </a:srgbClr>
            </a:outerShdw>
          </a:effectLst>
        </p:spPr>
      </p:sp>
      <p:pic>
        <p:nvPicPr>
          <p:cNvPr id="21" name="Image 3" descr="/home/claude/work/build/cube_white.png"/>
          <p:cNvPicPr>
            <a:picLocks noChangeAspect="1"/>
          </p:cNvPicPr>
          <p:nvPr/>
        </p:nvPicPr>
        <p:blipFill>
          <a:blip r:embed="rId5"/>
          <a:stretch>
            <a:fillRect/>
          </a:stretch>
        </p:blipFill>
        <p:spPr>
          <a:xfrm>
            <a:off x="832104" y="3444931"/>
            <a:ext cx="274320" cy="274320"/>
          </a:xfrm>
          <a:prstGeom prst="rect">
            <a:avLst/>
          </a:prstGeom>
        </p:spPr>
      </p:pic>
      <p:sp>
        <p:nvSpPr>
          <p:cNvPr id="22" name="Text 16"/>
          <p:cNvSpPr/>
          <p:nvPr/>
        </p:nvSpPr>
        <p:spPr>
          <a:xfrm>
            <a:off x="1371600" y="3207187"/>
            <a:ext cx="4389120" cy="347472"/>
          </a:xfrm>
          <a:prstGeom prst="rect">
            <a:avLst/>
          </a:prstGeom>
          <a:noFill/>
          <a:ln/>
        </p:spPr>
        <p:txBody>
          <a:bodyPr wrap="square" rtlCol="0" anchor="b"/>
          <a:lstStyle/>
          <a:p>
            <a:pPr marL="0" indent="0">
              <a:buNone/>
            </a:pPr>
            <a:r>
              <a:rPr lang="en-US" sz="1250" b="1" dirty="0">
                <a:solidFill>
                  <a:srgbClr val="0B1E3D"/>
                </a:solidFill>
                <a:latin typeface="Times New Roman" pitchFamily="34" charset="0"/>
                <a:ea typeface="Times New Roman" pitchFamily="34" charset="-122"/>
                <a:cs typeface="Times New Roman" pitchFamily="34" charset="-120"/>
              </a:rPr>
              <a:t>Batch size</a:t>
            </a:r>
            <a:endParaRPr lang="en-US" sz="1250" dirty="0"/>
          </a:p>
        </p:txBody>
      </p:sp>
      <p:sp>
        <p:nvSpPr>
          <p:cNvPr id="23" name="Text 17"/>
          <p:cNvSpPr/>
          <p:nvPr/>
        </p:nvSpPr>
        <p:spPr>
          <a:xfrm>
            <a:off x="1371600" y="3554659"/>
            <a:ext cx="4389120" cy="420624"/>
          </a:xfrm>
          <a:prstGeom prst="rect">
            <a:avLst/>
          </a:prstGeom>
          <a:noFill/>
          <a:ln/>
        </p:spPr>
        <p:txBody>
          <a:bodyPr wrap="square" rtlCol="0" anchor="t"/>
          <a:lstStyle/>
          <a:p>
            <a:pPr marL="0" indent="0">
              <a:lnSpc>
                <a:spcPct val="105000"/>
              </a:lnSpc>
              <a:buNone/>
            </a:pPr>
            <a:r>
              <a:rPr lang="en-US" sz="1080" dirty="0">
                <a:solidFill>
                  <a:srgbClr val="5B6472"/>
                </a:solidFill>
                <a:latin typeface="Times New Roman" pitchFamily="34" charset="0"/>
                <a:ea typeface="Times New Roman" pitchFamily="34" charset="-122"/>
                <a:cs typeface="Times New Roman" pitchFamily="34" charset="-120"/>
              </a:rPr>
              <a:t>32</a:t>
            </a:r>
            <a:endParaRPr lang="en-US" sz="1080" dirty="0"/>
          </a:p>
        </p:txBody>
      </p:sp>
      <p:sp>
        <p:nvSpPr>
          <p:cNvPr id="24" name="Shape 18"/>
          <p:cNvSpPr/>
          <p:nvPr/>
        </p:nvSpPr>
        <p:spPr>
          <a:xfrm>
            <a:off x="6245352" y="3115747"/>
            <a:ext cx="5440680" cy="932688"/>
          </a:xfrm>
          <a:prstGeom prst="roundRect">
            <a:avLst>
              <a:gd name="adj" fmla="val 8824"/>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5" name="Shape 19"/>
          <p:cNvSpPr/>
          <p:nvPr/>
        </p:nvSpPr>
        <p:spPr>
          <a:xfrm>
            <a:off x="6446520" y="3316915"/>
            <a:ext cx="530352" cy="530352"/>
          </a:xfrm>
          <a:prstGeom prst="ellipse">
            <a:avLst/>
          </a:prstGeom>
          <a:solidFill>
            <a:srgbClr val="D8432E"/>
          </a:solidFill>
          <a:ln/>
          <a:effectLst>
            <a:outerShdw blurRad="76200" dist="25400" dir="5400000" algn="bl" rotWithShape="0">
              <a:srgbClr val="1B3760">
                <a:alpha val="18000"/>
              </a:srgbClr>
            </a:outerShdw>
          </a:effectLst>
        </p:spPr>
      </p:sp>
      <p:pic>
        <p:nvPicPr>
          <p:cNvPr id="26" name="Image 4" descr="/home/claude/work/build/balance_white.png"/>
          <p:cNvPicPr>
            <a:picLocks noChangeAspect="1"/>
          </p:cNvPicPr>
          <p:nvPr/>
        </p:nvPicPr>
        <p:blipFill>
          <a:blip r:embed="rId6"/>
          <a:stretch>
            <a:fillRect/>
          </a:stretch>
        </p:blipFill>
        <p:spPr>
          <a:xfrm>
            <a:off x="6574536" y="3444931"/>
            <a:ext cx="274320" cy="274320"/>
          </a:xfrm>
          <a:prstGeom prst="rect">
            <a:avLst/>
          </a:prstGeom>
        </p:spPr>
      </p:pic>
      <p:sp>
        <p:nvSpPr>
          <p:cNvPr id="27" name="Text 20"/>
          <p:cNvSpPr/>
          <p:nvPr/>
        </p:nvSpPr>
        <p:spPr>
          <a:xfrm>
            <a:off x="7114032" y="3207187"/>
            <a:ext cx="4389120" cy="347472"/>
          </a:xfrm>
          <a:prstGeom prst="rect">
            <a:avLst/>
          </a:prstGeom>
          <a:noFill/>
          <a:ln/>
        </p:spPr>
        <p:txBody>
          <a:bodyPr wrap="square" rtlCol="0" anchor="b"/>
          <a:lstStyle/>
          <a:p>
            <a:pPr marL="0" indent="0">
              <a:buNone/>
            </a:pPr>
            <a:r>
              <a:rPr lang="en-US" sz="1250" b="1" dirty="0">
                <a:solidFill>
                  <a:srgbClr val="0B1E3D"/>
                </a:solidFill>
                <a:latin typeface="Times New Roman" pitchFamily="34" charset="0"/>
                <a:ea typeface="Times New Roman" pitchFamily="34" charset="-122"/>
                <a:cs typeface="Times New Roman" pitchFamily="34" charset="-120"/>
              </a:rPr>
              <a:t>Weight decay</a:t>
            </a:r>
            <a:endParaRPr lang="en-US" sz="1250" dirty="0"/>
          </a:p>
        </p:txBody>
      </p:sp>
      <p:sp>
        <p:nvSpPr>
          <p:cNvPr id="28" name="Text 21"/>
          <p:cNvSpPr/>
          <p:nvPr/>
        </p:nvSpPr>
        <p:spPr>
          <a:xfrm>
            <a:off x="7114032" y="3554659"/>
            <a:ext cx="4389120" cy="420624"/>
          </a:xfrm>
          <a:prstGeom prst="rect">
            <a:avLst/>
          </a:prstGeom>
          <a:noFill/>
          <a:ln/>
        </p:spPr>
        <p:txBody>
          <a:bodyPr wrap="square" rtlCol="0" anchor="t"/>
          <a:lstStyle/>
          <a:p>
            <a:pPr marL="0" indent="0">
              <a:lnSpc>
                <a:spcPct val="105000"/>
              </a:lnSpc>
              <a:buNone/>
            </a:pPr>
            <a:r>
              <a:rPr lang="en-US" sz="1080" dirty="0">
                <a:solidFill>
                  <a:srgbClr val="5B6472"/>
                </a:solidFill>
                <a:latin typeface="Times New Roman" pitchFamily="34" charset="0"/>
                <a:ea typeface="Times New Roman" pitchFamily="34" charset="-122"/>
                <a:cs typeface="Times New Roman" pitchFamily="34" charset="-120"/>
              </a:rPr>
              <a:t>1e-4</a:t>
            </a:r>
            <a:endParaRPr lang="en-US" sz="1080" dirty="0"/>
          </a:p>
        </p:txBody>
      </p:sp>
      <p:sp>
        <p:nvSpPr>
          <p:cNvPr id="29" name="Shape 22"/>
          <p:cNvSpPr/>
          <p:nvPr/>
        </p:nvSpPr>
        <p:spPr>
          <a:xfrm>
            <a:off x="502920" y="4249603"/>
            <a:ext cx="5440680" cy="932688"/>
          </a:xfrm>
          <a:prstGeom prst="roundRect">
            <a:avLst>
              <a:gd name="adj" fmla="val 8824"/>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30" name="Shape 23"/>
          <p:cNvSpPr/>
          <p:nvPr/>
        </p:nvSpPr>
        <p:spPr>
          <a:xfrm>
            <a:off x="704088" y="4450771"/>
            <a:ext cx="530352" cy="530352"/>
          </a:xfrm>
          <a:prstGeom prst="ellipse">
            <a:avLst/>
          </a:prstGeom>
          <a:solidFill>
            <a:srgbClr val="D8432E"/>
          </a:solidFill>
          <a:ln/>
          <a:effectLst>
            <a:outerShdw blurRad="76200" dist="25400" dir="5400000" algn="bl" rotWithShape="0">
              <a:srgbClr val="1B3760">
                <a:alpha val="18000"/>
              </a:srgbClr>
            </a:outerShdw>
          </a:effectLst>
        </p:spPr>
      </p:sp>
      <p:pic>
        <p:nvPicPr>
          <p:cNvPr id="31" name="Image 5" descr="/home/claude/work/build/chartline_white.png"/>
          <p:cNvPicPr>
            <a:picLocks noChangeAspect="1"/>
          </p:cNvPicPr>
          <p:nvPr/>
        </p:nvPicPr>
        <p:blipFill>
          <a:blip r:embed="rId7"/>
          <a:stretch>
            <a:fillRect/>
          </a:stretch>
        </p:blipFill>
        <p:spPr>
          <a:xfrm>
            <a:off x="832104" y="4578787"/>
            <a:ext cx="274320" cy="274320"/>
          </a:xfrm>
          <a:prstGeom prst="rect">
            <a:avLst/>
          </a:prstGeom>
        </p:spPr>
      </p:pic>
      <p:sp>
        <p:nvSpPr>
          <p:cNvPr id="32" name="Text 24"/>
          <p:cNvSpPr/>
          <p:nvPr/>
        </p:nvSpPr>
        <p:spPr>
          <a:xfrm>
            <a:off x="1371600" y="4341043"/>
            <a:ext cx="4389120" cy="347472"/>
          </a:xfrm>
          <a:prstGeom prst="rect">
            <a:avLst/>
          </a:prstGeom>
          <a:noFill/>
          <a:ln/>
        </p:spPr>
        <p:txBody>
          <a:bodyPr wrap="square" rtlCol="0" anchor="b"/>
          <a:lstStyle/>
          <a:p>
            <a:pPr marL="0" indent="0">
              <a:buNone/>
            </a:pPr>
            <a:r>
              <a:rPr lang="en-US" sz="1250" b="1" dirty="0">
                <a:solidFill>
                  <a:srgbClr val="0B1E3D"/>
                </a:solidFill>
                <a:latin typeface="Times New Roman" pitchFamily="34" charset="0"/>
                <a:ea typeface="Times New Roman" pitchFamily="34" charset="-122"/>
                <a:cs typeface="Times New Roman" pitchFamily="34" charset="-120"/>
              </a:rPr>
              <a:t>LR Scheduler</a:t>
            </a:r>
            <a:endParaRPr lang="en-US" sz="1250" dirty="0"/>
          </a:p>
        </p:txBody>
      </p:sp>
      <p:sp>
        <p:nvSpPr>
          <p:cNvPr id="33" name="Text 25"/>
          <p:cNvSpPr/>
          <p:nvPr/>
        </p:nvSpPr>
        <p:spPr>
          <a:xfrm>
            <a:off x="1371600" y="4688515"/>
            <a:ext cx="4389120" cy="420624"/>
          </a:xfrm>
          <a:prstGeom prst="rect">
            <a:avLst/>
          </a:prstGeom>
          <a:noFill/>
          <a:ln/>
        </p:spPr>
        <p:txBody>
          <a:bodyPr wrap="square" rtlCol="0" anchor="t"/>
          <a:lstStyle/>
          <a:p>
            <a:pPr marL="0" indent="0">
              <a:lnSpc>
                <a:spcPct val="105000"/>
              </a:lnSpc>
              <a:buNone/>
            </a:pPr>
            <a:r>
              <a:rPr lang="en-US" sz="1080" dirty="0">
                <a:solidFill>
                  <a:srgbClr val="5B6472"/>
                </a:solidFill>
                <a:latin typeface="Times New Roman" pitchFamily="34" charset="0"/>
                <a:ea typeface="Times New Roman" pitchFamily="34" charset="-122"/>
                <a:cs typeface="Times New Roman" pitchFamily="34" charset="-120"/>
              </a:rPr>
              <a:t>ReduceLROnPlateau — × 0.5 sau 3 epoch không cải thiện</a:t>
            </a:r>
            <a:endParaRPr lang="en-US" sz="1080" dirty="0"/>
          </a:p>
        </p:txBody>
      </p:sp>
      <p:sp>
        <p:nvSpPr>
          <p:cNvPr id="34" name="Shape 26"/>
          <p:cNvSpPr/>
          <p:nvPr/>
        </p:nvSpPr>
        <p:spPr>
          <a:xfrm>
            <a:off x="6245352" y="4249603"/>
            <a:ext cx="5440680" cy="932688"/>
          </a:xfrm>
          <a:prstGeom prst="roundRect">
            <a:avLst>
              <a:gd name="adj" fmla="val 8824"/>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35" name="Shape 27"/>
          <p:cNvSpPr/>
          <p:nvPr/>
        </p:nvSpPr>
        <p:spPr>
          <a:xfrm>
            <a:off x="6446520" y="4450771"/>
            <a:ext cx="530352" cy="530352"/>
          </a:xfrm>
          <a:prstGeom prst="ellipse">
            <a:avLst/>
          </a:prstGeom>
          <a:solidFill>
            <a:srgbClr val="D8432E"/>
          </a:solidFill>
          <a:ln/>
          <a:effectLst>
            <a:outerShdw blurRad="76200" dist="25400" dir="5400000" algn="bl" rotWithShape="0">
              <a:srgbClr val="1B3760">
                <a:alpha val="18000"/>
              </a:srgbClr>
            </a:outerShdw>
          </a:effectLst>
        </p:spPr>
      </p:sp>
      <p:pic>
        <p:nvPicPr>
          <p:cNvPr id="36" name="Image 6" descr="/home/claude/work/build/clock_white.png"/>
          <p:cNvPicPr>
            <a:picLocks noChangeAspect="1"/>
          </p:cNvPicPr>
          <p:nvPr/>
        </p:nvPicPr>
        <p:blipFill>
          <a:blip r:embed="rId8"/>
          <a:stretch>
            <a:fillRect/>
          </a:stretch>
        </p:blipFill>
        <p:spPr>
          <a:xfrm>
            <a:off x="6574536" y="4578787"/>
            <a:ext cx="274320" cy="274320"/>
          </a:xfrm>
          <a:prstGeom prst="rect">
            <a:avLst/>
          </a:prstGeom>
        </p:spPr>
      </p:pic>
      <p:sp>
        <p:nvSpPr>
          <p:cNvPr id="37" name="Text 28"/>
          <p:cNvSpPr/>
          <p:nvPr/>
        </p:nvSpPr>
        <p:spPr>
          <a:xfrm>
            <a:off x="7114032" y="4341043"/>
            <a:ext cx="4389120" cy="347472"/>
          </a:xfrm>
          <a:prstGeom prst="rect">
            <a:avLst/>
          </a:prstGeom>
          <a:noFill/>
          <a:ln/>
        </p:spPr>
        <p:txBody>
          <a:bodyPr wrap="square" rtlCol="0" anchor="b"/>
          <a:lstStyle/>
          <a:p>
            <a:pPr marL="0" indent="0">
              <a:buNone/>
            </a:pPr>
            <a:r>
              <a:rPr lang="en-US" sz="1250" b="1" dirty="0">
                <a:solidFill>
                  <a:srgbClr val="0B1E3D"/>
                </a:solidFill>
                <a:latin typeface="Times New Roman" pitchFamily="34" charset="0"/>
                <a:ea typeface="Times New Roman" pitchFamily="34" charset="-122"/>
                <a:cs typeface="Times New Roman" pitchFamily="34" charset="-120"/>
              </a:rPr>
              <a:t>Early Stopping</a:t>
            </a:r>
            <a:endParaRPr lang="en-US" sz="1250" dirty="0"/>
          </a:p>
        </p:txBody>
      </p:sp>
      <p:sp>
        <p:nvSpPr>
          <p:cNvPr id="38" name="Text 29"/>
          <p:cNvSpPr/>
          <p:nvPr/>
        </p:nvSpPr>
        <p:spPr>
          <a:xfrm>
            <a:off x="7114032" y="4688515"/>
            <a:ext cx="4389120" cy="420624"/>
          </a:xfrm>
          <a:prstGeom prst="rect">
            <a:avLst/>
          </a:prstGeom>
          <a:noFill/>
          <a:ln/>
        </p:spPr>
        <p:txBody>
          <a:bodyPr wrap="square" rtlCol="0" anchor="t"/>
          <a:lstStyle/>
          <a:p>
            <a:pPr marL="0" indent="0">
              <a:lnSpc>
                <a:spcPct val="105000"/>
              </a:lnSpc>
              <a:buNone/>
            </a:pPr>
            <a:r>
              <a:rPr lang="en-US" sz="1080" dirty="0">
                <a:solidFill>
                  <a:srgbClr val="5B6472"/>
                </a:solidFill>
                <a:latin typeface="Times New Roman" pitchFamily="34" charset="0"/>
                <a:ea typeface="Times New Roman" pitchFamily="34" charset="-122"/>
                <a:cs typeface="Times New Roman" pitchFamily="34" charset="-120"/>
              </a:rPr>
              <a:t>patience = 7 epoch, khôi phục trọng số tốt nhất</a:t>
            </a:r>
            <a:endParaRPr lang="en-US" sz="1080" dirty="0"/>
          </a:p>
        </p:txBody>
      </p:sp>
      <p:sp>
        <p:nvSpPr>
          <p:cNvPr id="39" name="Shape 30"/>
          <p:cNvSpPr/>
          <p:nvPr/>
        </p:nvSpPr>
        <p:spPr>
          <a:xfrm>
            <a:off x="502920" y="5383459"/>
            <a:ext cx="5440680" cy="932688"/>
          </a:xfrm>
          <a:prstGeom prst="roundRect">
            <a:avLst>
              <a:gd name="adj" fmla="val 8824"/>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40" name="Shape 31"/>
          <p:cNvSpPr/>
          <p:nvPr/>
        </p:nvSpPr>
        <p:spPr>
          <a:xfrm>
            <a:off x="704088" y="5584627"/>
            <a:ext cx="530352" cy="530352"/>
          </a:xfrm>
          <a:prstGeom prst="ellipse">
            <a:avLst/>
          </a:prstGeom>
          <a:solidFill>
            <a:srgbClr val="D8432E"/>
          </a:solidFill>
          <a:ln/>
          <a:effectLst>
            <a:outerShdw blurRad="76200" dist="25400" dir="5400000" algn="bl" rotWithShape="0">
              <a:srgbClr val="1B3760">
                <a:alpha val="18000"/>
              </a:srgbClr>
            </a:outerShdw>
          </a:effectLst>
        </p:spPr>
      </p:sp>
      <p:pic>
        <p:nvPicPr>
          <p:cNvPr id="41" name="Image 7" descr="/home/claude/work/build/microchip_white.png"/>
          <p:cNvPicPr>
            <a:picLocks noChangeAspect="1"/>
          </p:cNvPicPr>
          <p:nvPr/>
        </p:nvPicPr>
        <p:blipFill>
          <a:blip r:embed="rId9"/>
          <a:stretch>
            <a:fillRect/>
          </a:stretch>
        </p:blipFill>
        <p:spPr>
          <a:xfrm>
            <a:off x="832104" y="5712643"/>
            <a:ext cx="274320" cy="274320"/>
          </a:xfrm>
          <a:prstGeom prst="rect">
            <a:avLst/>
          </a:prstGeom>
        </p:spPr>
      </p:pic>
      <p:sp>
        <p:nvSpPr>
          <p:cNvPr id="42" name="Text 32"/>
          <p:cNvSpPr/>
          <p:nvPr/>
        </p:nvSpPr>
        <p:spPr>
          <a:xfrm>
            <a:off x="1371600" y="5474899"/>
            <a:ext cx="4389120" cy="347472"/>
          </a:xfrm>
          <a:prstGeom prst="rect">
            <a:avLst/>
          </a:prstGeom>
          <a:noFill/>
          <a:ln/>
        </p:spPr>
        <p:txBody>
          <a:bodyPr wrap="square" rtlCol="0" anchor="b"/>
          <a:lstStyle/>
          <a:p>
            <a:pPr marL="0" indent="0">
              <a:buNone/>
            </a:pPr>
            <a:r>
              <a:rPr lang="en-US" sz="1250" b="1" dirty="0">
                <a:solidFill>
                  <a:srgbClr val="0B1E3D"/>
                </a:solidFill>
                <a:latin typeface="Times New Roman" pitchFamily="34" charset="0"/>
                <a:ea typeface="Times New Roman" pitchFamily="34" charset="-122"/>
                <a:cs typeface="Times New Roman" pitchFamily="34" charset="-120"/>
              </a:rPr>
              <a:t>Phần cứng huấn luyện</a:t>
            </a:r>
            <a:endParaRPr lang="en-US" sz="1250" dirty="0"/>
          </a:p>
        </p:txBody>
      </p:sp>
      <p:sp>
        <p:nvSpPr>
          <p:cNvPr id="43" name="Text 33"/>
          <p:cNvSpPr/>
          <p:nvPr/>
        </p:nvSpPr>
        <p:spPr>
          <a:xfrm>
            <a:off x="1371600" y="5822371"/>
            <a:ext cx="4389120" cy="420624"/>
          </a:xfrm>
          <a:prstGeom prst="rect">
            <a:avLst/>
          </a:prstGeom>
          <a:noFill/>
          <a:ln/>
        </p:spPr>
        <p:txBody>
          <a:bodyPr wrap="square" rtlCol="0" anchor="t"/>
          <a:lstStyle/>
          <a:p>
            <a:pPr marL="0" indent="0">
              <a:lnSpc>
                <a:spcPct val="105000"/>
              </a:lnSpc>
              <a:buNone/>
            </a:pPr>
            <a:r>
              <a:rPr lang="en-US" sz="1080" dirty="0">
                <a:solidFill>
                  <a:srgbClr val="5B6472"/>
                </a:solidFill>
                <a:latin typeface="Times New Roman" pitchFamily="34" charset="0"/>
                <a:ea typeface="Times New Roman" pitchFamily="34" charset="-122"/>
                <a:cs typeface="Times New Roman" pitchFamily="34" charset="-120"/>
              </a:rPr>
              <a:t>CPU (tạm dừng 5s / epoch bảo vệ phần cứng)</a:t>
            </a:r>
            <a:endParaRPr lang="en-US" sz="1080" dirty="0"/>
          </a:p>
        </p:txBody>
      </p:sp>
      <p:sp>
        <p:nvSpPr>
          <p:cNvPr id="44" name="Shape 34"/>
          <p:cNvSpPr/>
          <p:nvPr/>
        </p:nvSpPr>
        <p:spPr>
          <a:xfrm>
            <a:off x="6245352" y="5383459"/>
            <a:ext cx="5440680" cy="932688"/>
          </a:xfrm>
          <a:prstGeom prst="roundRect">
            <a:avLst>
              <a:gd name="adj" fmla="val 8824"/>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45" name="Shape 35"/>
          <p:cNvSpPr/>
          <p:nvPr/>
        </p:nvSpPr>
        <p:spPr>
          <a:xfrm>
            <a:off x="6446520" y="5584627"/>
            <a:ext cx="530352" cy="530352"/>
          </a:xfrm>
          <a:prstGeom prst="ellipse">
            <a:avLst/>
          </a:prstGeom>
          <a:solidFill>
            <a:srgbClr val="D8432E"/>
          </a:solidFill>
          <a:ln/>
          <a:effectLst>
            <a:outerShdw blurRad="76200" dist="25400" dir="5400000" algn="bl" rotWithShape="0">
              <a:srgbClr val="1B3760">
                <a:alpha val="18000"/>
              </a:srgbClr>
            </a:outerShdw>
          </a:effectLst>
        </p:spPr>
      </p:sp>
      <p:pic>
        <p:nvPicPr>
          <p:cNvPr id="46" name="Image 8" descr="/home/claude/work/build/target_white.png"/>
          <p:cNvPicPr>
            <a:picLocks noChangeAspect="1"/>
          </p:cNvPicPr>
          <p:nvPr/>
        </p:nvPicPr>
        <p:blipFill>
          <a:blip r:embed="rId10"/>
          <a:stretch>
            <a:fillRect/>
          </a:stretch>
        </p:blipFill>
        <p:spPr>
          <a:xfrm>
            <a:off x="6574536" y="5712643"/>
            <a:ext cx="274320" cy="274320"/>
          </a:xfrm>
          <a:prstGeom prst="rect">
            <a:avLst/>
          </a:prstGeom>
        </p:spPr>
      </p:pic>
      <p:sp>
        <p:nvSpPr>
          <p:cNvPr id="47" name="Text 36"/>
          <p:cNvSpPr/>
          <p:nvPr/>
        </p:nvSpPr>
        <p:spPr>
          <a:xfrm>
            <a:off x="7114032" y="5474899"/>
            <a:ext cx="4389120" cy="347472"/>
          </a:xfrm>
          <a:prstGeom prst="rect">
            <a:avLst/>
          </a:prstGeom>
          <a:noFill/>
          <a:ln/>
        </p:spPr>
        <p:txBody>
          <a:bodyPr wrap="square" rtlCol="0" anchor="b"/>
          <a:lstStyle/>
          <a:p>
            <a:pPr marL="0" indent="0">
              <a:buNone/>
            </a:pPr>
            <a:r>
              <a:rPr lang="en-US" sz="1250" b="1" dirty="0">
                <a:solidFill>
                  <a:srgbClr val="0B1E3D"/>
                </a:solidFill>
                <a:latin typeface="Times New Roman" pitchFamily="34" charset="0"/>
                <a:ea typeface="Times New Roman" pitchFamily="34" charset="-122"/>
                <a:cs typeface="Times New Roman" pitchFamily="34" charset="-120"/>
              </a:rPr>
              <a:t>Random seed</a:t>
            </a:r>
            <a:endParaRPr lang="en-US" sz="1250" dirty="0"/>
          </a:p>
        </p:txBody>
      </p:sp>
      <p:sp>
        <p:nvSpPr>
          <p:cNvPr id="48" name="Text 37"/>
          <p:cNvSpPr/>
          <p:nvPr/>
        </p:nvSpPr>
        <p:spPr>
          <a:xfrm>
            <a:off x="7114032" y="5822371"/>
            <a:ext cx="4389120" cy="420624"/>
          </a:xfrm>
          <a:prstGeom prst="rect">
            <a:avLst/>
          </a:prstGeom>
          <a:noFill/>
          <a:ln/>
        </p:spPr>
        <p:txBody>
          <a:bodyPr wrap="square" rtlCol="0" anchor="t"/>
          <a:lstStyle/>
          <a:p>
            <a:pPr marL="0" indent="0">
              <a:lnSpc>
                <a:spcPct val="105000"/>
              </a:lnSpc>
              <a:buNone/>
            </a:pPr>
            <a:r>
              <a:rPr lang="en-US" sz="1080" dirty="0">
                <a:solidFill>
                  <a:srgbClr val="5B6472"/>
                </a:solidFill>
                <a:latin typeface="Times New Roman" pitchFamily="34" charset="0"/>
                <a:ea typeface="Times New Roman" pitchFamily="34" charset="-122"/>
                <a:cs typeface="Times New Roman" pitchFamily="34" charset="-120"/>
              </a:rPr>
              <a:t>42 — đảm bảo khả năng tái lập kết quả</a:t>
            </a:r>
            <a:endParaRPr lang="en-US" sz="1080" dirty="0"/>
          </a:p>
        </p:txBody>
      </p:sp>
      <p:sp>
        <p:nvSpPr>
          <p:cNvPr id="49" name="Shape 38"/>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50" name="Text 39"/>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14</a:t>
            </a:r>
            <a:endParaRPr lang="en-US" sz="10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39189"/>
            <a:ext cx="12191695" cy="128016"/>
          </a:xfrm>
          <a:prstGeom prst="rect">
            <a:avLst/>
          </a:prstGeom>
          <a:solidFill>
            <a:srgbClr val="FFFFFF"/>
          </a:solidFill>
          <a:ln/>
        </p:spPr>
      </p:sp>
      <p:sp>
        <p:nvSpPr>
          <p:cNvPr id="4" name="Shape 1"/>
          <p:cNvSpPr/>
          <p:nvPr/>
        </p:nvSpPr>
        <p:spPr>
          <a:xfrm>
            <a:off x="502920" y="880476"/>
            <a:ext cx="566928" cy="292608"/>
          </a:xfrm>
          <a:prstGeom prst="roundRect">
            <a:avLst>
              <a:gd name="adj" fmla="val 50000"/>
            </a:avLst>
          </a:prstGeom>
          <a:solidFill>
            <a:srgbClr val="D8432E"/>
          </a:solidFill>
          <a:ln/>
        </p:spPr>
      </p:sp>
      <p:sp>
        <p:nvSpPr>
          <p:cNvPr id="5" name="Text 2"/>
          <p:cNvSpPr/>
          <p:nvPr/>
        </p:nvSpPr>
        <p:spPr>
          <a:xfrm>
            <a:off x="502920" y="880476"/>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03</a:t>
            </a:r>
            <a:endParaRPr lang="en-US" sz="1200" dirty="0"/>
          </a:p>
        </p:txBody>
      </p:sp>
      <p:sp>
        <p:nvSpPr>
          <p:cNvPr id="6" name="Text 3"/>
          <p:cNvSpPr/>
          <p:nvPr/>
        </p:nvSpPr>
        <p:spPr>
          <a:xfrm>
            <a:off x="1179576" y="880476"/>
            <a:ext cx="9601200" cy="292608"/>
          </a:xfrm>
          <a:prstGeom prst="rect">
            <a:avLst/>
          </a:prstGeom>
          <a:noFill/>
          <a:ln/>
        </p:spPr>
        <p:txBody>
          <a:bodyPr wrap="square" rtlCol="0" anchor="ctr"/>
          <a:lstStyle/>
          <a:p>
            <a:pPr marL="0" indent="0">
              <a:buNone/>
            </a:pPr>
            <a:r>
              <a:rPr lang="en-US" sz="1250" b="1" kern="0" spc="120" dirty="0">
                <a:solidFill>
                  <a:srgbClr val="D8432E"/>
                </a:solidFill>
                <a:latin typeface="Times New Roman" pitchFamily="34" charset="0"/>
                <a:ea typeface="Times New Roman" pitchFamily="34" charset="-122"/>
                <a:cs typeface="Times New Roman" pitchFamily="34" charset="-120"/>
              </a:rPr>
              <a:t>HUẤN LUYỆN &amp; ĐÁNH GIÁ MÔ HÌNH</a:t>
            </a:r>
            <a:endParaRPr lang="en-US" sz="1250" dirty="0"/>
          </a:p>
        </p:txBody>
      </p:sp>
      <p:sp>
        <p:nvSpPr>
          <p:cNvPr id="7" name="Text 4"/>
          <p:cNvSpPr/>
          <p:nvPr/>
        </p:nvSpPr>
        <p:spPr>
          <a:xfrm>
            <a:off x="502920" y="1216740"/>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Kết quả huấn luyện — Loss &amp; Accuracy</a:t>
            </a:r>
            <a:endParaRPr lang="en-US" sz="2500" dirty="0"/>
          </a:p>
        </p:txBody>
      </p:sp>
      <p:sp>
        <p:nvSpPr>
          <p:cNvPr id="8" name="Shape 5"/>
          <p:cNvSpPr/>
          <p:nvPr/>
        </p:nvSpPr>
        <p:spPr>
          <a:xfrm>
            <a:off x="1807312" y="1737360"/>
            <a:ext cx="8577072" cy="3278381"/>
          </a:xfrm>
          <a:prstGeom prst="roundRect">
            <a:avLst>
              <a:gd name="adj" fmla="val 1952"/>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sp>
        <p:nvSpPr>
          <p:cNvPr id="10" name="Text 6"/>
          <p:cNvSpPr/>
          <p:nvPr/>
        </p:nvSpPr>
        <p:spPr>
          <a:xfrm>
            <a:off x="1807312" y="5052317"/>
            <a:ext cx="857707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3.1 — Training / Validation Loss &amp; Accuracy qua các epoch</a:t>
            </a:r>
            <a:endParaRPr lang="en-US" sz="1050" dirty="0"/>
          </a:p>
        </p:txBody>
      </p:sp>
      <p:sp>
        <p:nvSpPr>
          <p:cNvPr id="11" name="Shape 7"/>
          <p:cNvSpPr/>
          <p:nvPr/>
        </p:nvSpPr>
        <p:spPr>
          <a:xfrm>
            <a:off x="502920" y="5436365"/>
            <a:ext cx="5394960" cy="914400"/>
          </a:xfrm>
          <a:prstGeom prst="roundRect">
            <a:avLst>
              <a:gd name="adj" fmla="val 10000"/>
            </a:avLst>
          </a:prstGeom>
          <a:solidFill>
            <a:srgbClr val="E4F3F3"/>
          </a:solidFill>
          <a:ln w="12700">
            <a:solidFill>
              <a:srgbClr val="158C94"/>
            </a:solidFill>
            <a:prstDash val="solid"/>
          </a:ln>
          <a:effectLst>
            <a:outerShdw blurRad="101600" dist="25400" dir="5400000" algn="bl" rotWithShape="0">
              <a:srgbClr val="1B3760">
                <a:alpha val="10000"/>
              </a:srgbClr>
            </a:outerShdw>
          </a:effectLst>
        </p:spPr>
      </p:sp>
      <p:sp>
        <p:nvSpPr>
          <p:cNvPr id="12" name="Text 8"/>
          <p:cNvSpPr/>
          <p:nvPr/>
        </p:nvSpPr>
        <p:spPr>
          <a:xfrm>
            <a:off x="731520" y="5546093"/>
            <a:ext cx="4937760" cy="365760"/>
          </a:xfrm>
          <a:prstGeom prst="rect">
            <a:avLst/>
          </a:prstGeom>
          <a:noFill/>
          <a:ln/>
        </p:spPr>
        <p:txBody>
          <a:bodyPr wrap="square" rtlCol="0" anchor="ctr"/>
          <a:lstStyle/>
          <a:p>
            <a:pPr marL="0" indent="0">
              <a:buNone/>
            </a:pPr>
            <a:r>
              <a:rPr lang="en-US" sz="1300" b="1" dirty="0">
                <a:solidFill>
                  <a:srgbClr val="158C94"/>
                </a:solidFill>
                <a:latin typeface="Times New Roman" pitchFamily="34" charset="0"/>
                <a:ea typeface="Times New Roman" pitchFamily="34" charset="-122"/>
                <a:cs typeface="Times New Roman" pitchFamily="34" charset="-120"/>
              </a:rPr>
              <a:t>EfficientNetB0   </a:t>
            </a:r>
            <a:r>
              <a:rPr lang="en-US" sz="1500" b="1" dirty="0">
                <a:solidFill>
                  <a:srgbClr val="0B1E3D"/>
                </a:solidFill>
                <a:latin typeface="Times New Roman" pitchFamily="34" charset="0"/>
                <a:ea typeface="Times New Roman" pitchFamily="34" charset="-122"/>
                <a:cs typeface="Times New Roman" pitchFamily="34" charset="-120"/>
              </a:rPr>
              <a:t>Best Val Accuracy 98.75%</a:t>
            </a:r>
            <a:endParaRPr lang="en-US" sz="1300" dirty="0"/>
          </a:p>
        </p:txBody>
      </p:sp>
      <p:sp>
        <p:nvSpPr>
          <p:cNvPr id="13" name="Text 9"/>
          <p:cNvSpPr/>
          <p:nvPr/>
        </p:nvSpPr>
        <p:spPr>
          <a:xfrm>
            <a:off x="731520" y="5966717"/>
            <a:ext cx="4937760" cy="384048"/>
          </a:xfrm>
          <a:prstGeom prst="rect">
            <a:avLst/>
          </a:prstGeom>
          <a:noFill/>
          <a:ln/>
        </p:spPr>
        <p:txBody>
          <a:bodyPr wrap="square" rtlCol="0" anchor="ctr"/>
          <a:lstStyle/>
          <a:p>
            <a:pPr marL="0" indent="0">
              <a:buNone/>
            </a:pPr>
            <a:r>
              <a:rPr lang="en-US" sz="1100" dirty="0">
                <a:solidFill>
                  <a:srgbClr val="5B6472"/>
                </a:solidFill>
                <a:latin typeface="Times New Roman" pitchFamily="34" charset="0"/>
                <a:ea typeface="Times New Roman" pitchFamily="34" charset="-122"/>
                <a:cs typeface="Times New Roman" pitchFamily="34" charset="-120"/>
              </a:rPr>
              <a:t>Epoch 11/35 · Early Stopping dừng ở epoch 18/35 · Val Loss 0.0450</a:t>
            </a:r>
            <a:endParaRPr lang="en-US" sz="1100" dirty="0"/>
          </a:p>
        </p:txBody>
      </p:sp>
      <p:sp>
        <p:nvSpPr>
          <p:cNvPr id="14" name="Shape 10"/>
          <p:cNvSpPr/>
          <p:nvPr/>
        </p:nvSpPr>
        <p:spPr>
          <a:xfrm>
            <a:off x="6263640" y="5436365"/>
            <a:ext cx="5394960" cy="914400"/>
          </a:xfrm>
          <a:prstGeom prst="roundRect">
            <a:avLst>
              <a:gd name="adj" fmla="val 10000"/>
            </a:avLst>
          </a:prstGeom>
          <a:solidFill>
            <a:srgbClr val="FBEAE7"/>
          </a:solidFill>
          <a:ln w="12700">
            <a:solidFill>
              <a:srgbClr val="D8432E"/>
            </a:solidFill>
            <a:prstDash val="solid"/>
          </a:ln>
          <a:effectLst>
            <a:outerShdw blurRad="101600" dist="25400" dir="5400000" algn="bl" rotWithShape="0">
              <a:srgbClr val="1B3760">
                <a:alpha val="10000"/>
              </a:srgbClr>
            </a:outerShdw>
          </a:effectLst>
        </p:spPr>
      </p:sp>
      <p:sp>
        <p:nvSpPr>
          <p:cNvPr id="15" name="Text 11"/>
          <p:cNvSpPr/>
          <p:nvPr/>
        </p:nvSpPr>
        <p:spPr>
          <a:xfrm>
            <a:off x="6492240" y="5546093"/>
            <a:ext cx="4937760" cy="365760"/>
          </a:xfrm>
          <a:prstGeom prst="rect">
            <a:avLst/>
          </a:prstGeom>
          <a:noFill/>
          <a:ln/>
        </p:spPr>
        <p:txBody>
          <a:bodyPr wrap="square" rtlCol="0" anchor="ctr"/>
          <a:lstStyle/>
          <a:p>
            <a:pPr marL="0" indent="0">
              <a:buNone/>
            </a:pPr>
            <a:r>
              <a:rPr lang="en-US" sz="1300" b="1" dirty="0">
                <a:solidFill>
                  <a:srgbClr val="D8432E"/>
                </a:solidFill>
                <a:latin typeface="Times New Roman" pitchFamily="34" charset="0"/>
                <a:ea typeface="Times New Roman" pitchFamily="34" charset="-122"/>
                <a:cs typeface="Times New Roman" pitchFamily="34" charset="-120"/>
              </a:rPr>
              <a:t>DenseNet121   </a:t>
            </a:r>
            <a:r>
              <a:rPr lang="en-US" sz="1500" b="1" dirty="0">
                <a:solidFill>
                  <a:srgbClr val="0B1E3D"/>
                </a:solidFill>
                <a:latin typeface="Times New Roman" pitchFamily="34" charset="0"/>
                <a:ea typeface="Times New Roman" pitchFamily="34" charset="-122"/>
                <a:cs typeface="Times New Roman" pitchFamily="34" charset="-120"/>
              </a:rPr>
              <a:t>Best Val Accuracy 99.46%</a:t>
            </a:r>
            <a:endParaRPr lang="en-US" sz="1300" dirty="0"/>
          </a:p>
        </p:txBody>
      </p:sp>
      <p:sp>
        <p:nvSpPr>
          <p:cNvPr id="16" name="Text 12"/>
          <p:cNvSpPr/>
          <p:nvPr/>
        </p:nvSpPr>
        <p:spPr>
          <a:xfrm>
            <a:off x="6492240" y="5966717"/>
            <a:ext cx="4937760" cy="384048"/>
          </a:xfrm>
          <a:prstGeom prst="rect">
            <a:avLst/>
          </a:prstGeom>
          <a:noFill/>
          <a:ln/>
        </p:spPr>
        <p:txBody>
          <a:bodyPr wrap="square" rtlCol="0" anchor="ctr"/>
          <a:lstStyle/>
          <a:p>
            <a:pPr marL="0" indent="0">
              <a:buNone/>
            </a:pPr>
            <a:r>
              <a:rPr lang="en-US" sz="1100" dirty="0">
                <a:solidFill>
                  <a:srgbClr val="5B6472"/>
                </a:solidFill>
                <a:latin typeface="Times New Roman" pitchFamily="34" charset="0"/>
                <a:ea typeface="Times New Roman" pitchFamily="34" charset="-122"/>
                <a:cs typeface="Times New Roman" pitchFamily="34" charset="-120"/>
              </a:rPr>
              <a:t>Epoch 12/35 · đạt 80.98% ngay epoch 1 Phase 1 (Effi.Net: 50.00%) · Early Stopping ở 19/35</a:t>
            </a:r>
            <a:endParaRPr lang="en-US" sz="1100" dirty="0"/>
          </a:p>
        </p:txBody>
      </p:sp>
      <p:sp>
        <p:nvSpPr>
          <p:cNvPr id="17" name="Shape 13"/>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18" name="Text 14"/>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15</a:t>
            </a:r>
            <a:endParaRPr lang="en-US" sz="10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98465"/>
            <a:ext cx="566928" cy="292608"/>
          </a:xfrm>
          <a:prstGeom prst="roundRect">
            <a:avLst>
              <a:gd name="adj" fmla="val 50000"/>
            </a:avLst>
          </a:prstGeom>
          <a:solidFill>
            <a:srgbClr val="D8432E"/>
          </a:solidFill>
          <a:ln/>
        </p:spPr>
      </p:sp>
      <p:sp>
        <p:nvSpPr>
          <p:cNvPr id="5" name="Text 2"/>
          <p:cNvSpPr/>
          <p:nvPr/>
        </p:nvSpPr>
        <p:spPr>
          <a:xfrm>
            <a:off x="502920" y="998465"/>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03</a:t>
            </a:r>
            <a:endParaRPr lang="en-US" sz="1200" dirty="0"/>
          </a:p>
        </p:txBody>
      </p:sp>
      <p:sp>
        <p:nvSpPr>
          <p:cNvPr id="6" name="Text 3"/>
          <p:cNvSpPr/>
          <p:nvPr/>
        </p:nvSpPr>
        <p:spPr>
          <a:xfrm>
            <a:off x="1179576" y="998465"/>
            <a:ext cx="9601200" cy="292608"/>
          </a:xfrm>
          <a:prstGeom prst="rect">
            <a:avLst/>
          </a:prstGeom>
          <a:noFill/>
          <a:ln/>
        </p:spPr>
        <p:txBody>
          <a:bodyPr wrap="square" rtlCol="0" anchor="ctr"/>
          <a:lstStyle/>
          <a:p>
            <a:pPr marL="0" indent="0">
              <a:buNone/>
            </a:pPr>
            <a:r>
              <a:rPr lang="en-US" sz="1250" b="1" kern="0" spc="120" dirty="0">
                <a:solidFill>
                  <a:srgbClr val="D8432E"/>
                </a:solidFill>
                <a:latin typeface="Times New Roman" pitchFamily="34" charset="0"/>
                <a:ea typeface="Times New Roman" pitchFamily="34" charset="-122"/>
                <a:cs typeface="Times New Roman" pitchFamily="34" charset="-120"/>
              </a:rPr>
              <a:t>HUẤN LUYỆN &amp; ĐÁNH GIÁ MÔ HÌNH</a:t>
            </a:r>
            <a:endParaRPr lang="en-US" sz="1250" dirty="0"/>
          </a:p>
        </p:txBody>
      </p:sp>
      <p:sp>
        <p:nvSpPr>
          <p:cNvPr id="7" name="Text 4"/>
          <p:cNvSpPr/>
          <p:nvPr/>
        </p:nvSpPr>
        <p:spPr>
          <a:xfrm>
            <a:off x="502920" y="1260984"/>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So sánh hiệu năng trên tập Test độc lập (1.600 ảnh)</a:t>
            </a:r>
            <a:endParaRPr lang="en-US" sz="2500" dirty="0"/>
          </a:p>
        </p:txBody>
      </p:sp>
      <p:sp>
        <p:nvSpPr>
          <p:cNvPr id="8" name="Shape 5"/>
          <p:cNvSpPr/>
          <p:nvPr/>
        </p:nvSpPr>
        <p:spPr>
          <a:xfrm>
            <a:off x="502920" y="1819656"/>
            <a:ext cx="2084832" cy="1691640"/>
          </a:xfrm>
          <a:prstGeom prst="roundRect">
            <a:avLst>
              <a:gd name="adj" fmla="val 540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9" name="Text 6"/>
          <p:cNvSpPr/>
          <p:nvPr/>
        </p:nvSpPr>
        <p:spPr>
          <a:xfrm>
            <a:off x="594360" y="1929384"/>
            <a:ext cx="1901952" cy="292608"/>
          </a:xfrm>
          <a:prstGeom prst="rect">
            <a:avLst/>
          </a:prstGeom>
          <a:noFill/>
          <a:ln/>
        </p:spPr>
        <p:txBody>
          <a:bodyPr wrap="square" rtlCol="0" anchor="ctr"/>
          <a:lstStyle/>
          <a:p>
            <a:pPr marL="0" indent="0" algn="ctr">
              <a:buNone/>
            </a:pPr>
            <a:r>
              <a:rPr lang="en-US" sz="1200" b="1" dirty="0">
                <a:solidFill>
                  <a:srgbClr val="0B1E3D"/>
                </a:solidFill>
                <a:latin typeface="Times New Roman" pitchFamily="34" charset="0"/>
                <a:ea typeface="Times New Roman" pitchFamily="34" charset="-122"/>
                <a:cs typeface="Times New Roman" pitchFamily="34" charset="-120"/>
              </a:rPr>
              <a:t>Accuracy</a:t>
            </a:r>
            <a:endParaRPr lang="en-US" sz="1200" dirty="0"/>
          </a:p>
        </p:txBody>
      </p:sp>
      <p:sp>
        <p:nvSpPr>
          <p:cNvPr id="10" name="Shape 7"/>
          <p:cNvSpPr/>
          <p:nvPr/>
        </p:nvSpPr>
        <p:spPr>
          <a:xfrm>
            <a:off x="731520" y="2258568"/>
            <a:ext cx="1627632" cy="0"/>
          </a:xfrm>
          <a:prstGeom prst="line">
            <a:avLst/>
          </a:prstGeom>
          <a:noFill/>
          <a:ln w="9525">
            <a:solidFill>
              <a:srgbClr val="E2E6EC"/>
            </a:solidFill>
            <a:prstDash val="solid"/>
          </a:ln>
        </p:spPr>
      </p:sp>
      <p:sp>
        <p:nvSpPr>
          <p:cNvPr id="11" name="Text 8"/>
          <p:cNvSpPr/>
          <p:nvPr/>
        </p:nvSpPr>
        <p:spPr>
          <a:xfrm>
            <a:off x="594360" y="2295144"/>
            <a:ext cx="1901952" cy="438912"/>
          </a:xfrm>
          <a:prstGeom prst="rect">
            <a:avLst/>
          </a:prstGeom>
          <a:noFill/>
          <a:ln/>
        </p:spPr>
        <p:txBody>
          <a:bodyPr wrap="square" rtlCol="0" anchor="ctr"/>
          <a:lstStyle/>
          <a:p>
            <a:pPr marL="0" indent="0" algn="ctr">
              <a:buNone/>
            </a:pPr>
            <a:r>
              <a:rPr lang="en-US" b="1" dirty="0">
                <a:solidFill>
                  <a:srgbClr val="158C94"/>
                </a:solidFill>
                <a:latin typeface="Times New Roman" pitchFamily="34" charset="0"/>
                <a:ea typeface="Times New Roman" pitchFamily="34" charset="-122"/>
                <a:cs typeface="Times New Roman" pitchFamily="34" charset="-120"/>
              </a:rPr>
              <a:t>94.69%</a:t>
            </a:r>
            <a:endParaRPr lang="en-US" dirty="0"/>
          </a:p>
        </p:txBody>
      </p:sp>
      <p:sp>
        <p:nvSpPr>
          <p:cNvPr id="12" name="Text 9"/>
          <p:cNvSpPr/>
          <p:nvPr/>
        </p:nvSpPr>
        <p:spPr>
          <a:xfrm>
            <a:off x="594360" y="2715768"/>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EfficientNetB0</a:t>
            </a:r>
            <a:endParaRPr lang="en-US" sz="900" dirty="0"/>
          </a:p>
        </p:txBody>
      </p:sp>
      <p:sp>
        <p:nvSpPr>
          <p:cNvPr id="13" name="Text 10"/>
          <p:cNvSpPr/>
          <p:nvPr/>
        </p:nvSpPr>
        <p:spPr>
          <a:xfrm>
            <a:off x="594360" y="2953512"/>
            <a:ext cx="1901952" cy="384048"/>
          </a:xfrm>
          <a:prstGeom prst="rect">
            <a:avLst/>
          </a:prstGeom>
          <a:noFill/>
          <a:ln/>
        </p:spPr>
        <p:txBody>
          <a:bodyPr wrap="square" rtlCol="0" anchor="ctr"/>
          <a:lstStyle/>
          <a:p>
            <a:pPr marL="0" indent="0" algn="ctr">
              <a:buNone/>
            </a:pPr>
            <a:r>
              <a:rPr lang="en-US" b="1" dirty="0">
                <a:solidFill>
                  <a:srgbClr val="D8432E"/>
                </a:solidFill>
                <a:latin typeface="Times New Roman" pitchFamily="34" charset="0"/>
                <a:ea typeface="Times New Roman" pitchFamily="34" charset="-122"/>
                <a:cs typeface="Times New Roman" pitchFamily="34" charset="-120"/>
              </a:rPr>
              <a:t>95.00%</a:t>
            </a:r>
            <a:endParaRPr lang="en-US" dirty="0"/>
          </a:p>
        </p:txBody>
      </p:sp>
      <p:sp>
        <p:nvSpPr>
          <p:cNvPr id="14" name="Text 11"/>
          <p:cNvSpPr/>
          <p:nvPr/>
        </p:nvSpPr>
        <p:spPr>
          <a:xfrm>
            <a:off x="594360" y="3319272"/>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DenseNet121</a:t>
            </a:r>
            <a:endParaRPr lang="en-US" sz="900" dirty="0"/>
          </a:p>
        </p:txBody>
      </p:sp>
      <p:sp>
        <p:nvSpPr>
          <p:cNvPr id="15" name="Shape 12"/>
          <p:cNvSpPr/>
          <p:nvPr/>
        </p:nvSpPr>
        <p:spPr>
          <a:xfrm>
            <a:off x="2697480" y="1819656"/>
            <a:ext cx="2084832" cy="1691640"/>
          </a:xfrm>
          <a:prstGeom prst="roundRect">
            <a:avLst>
              <a:gd name="adj" fmla="val 540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6" name="Text 13"/>
          <p:cNvSpPr/>
          <p:nvPr/>
        </p:nvSpPr>
        <p:spPr>
          <a:xfrm>
            <a:off x="2788920" y="1929384"/>
            <a:ext cx="1901952" cy="292608"/>
          </a:xfrm>
          <a:prstGeom prst="rect">
            <a:avLst/>
          </a:prstGeom>
          <a:noFill/>
          <a:ln/>
        </p:spPr>
        <p:txBody>
          <a:bodyPr wrap="square" rtlCol="0" anchor="ctr"/>
          <a:lstStyle/>
          <a:p>
            <a:pPr marL="0" indent="0" algn="ctr">
              <a:buNone/>
            </a:pPr>
            <a:r>
              <a:rPr lang="en-US" sz="1200" b="1" dirty="0">
                <a:solidFill>
                  <a:srgbClr val="0B1E3D"/>
                </a:solidFill>
                <a:latin typeface="Times New Roman" pitchFamily="34" charset="0"/>
                <a:ea typeface="Times New Roman" pitchFamily="34" charset="-122"/>
                <a:cs typeface="Times New Roman" pitchFamily="34" charset="-120"/>
              </a:rPr>
              <a:t>Macro F1</a:t>
            </a:r>
            <a:endParaRPr lang="en-US" sz="1200" dirty="0"/>
          </a:p>
        </p:txBody>
      </p:sp>
      <p:sp>
        <p:nvSpPr>
          <p:cNvPr id="17" name="Shape 14"/>
          <p:cNvSpPr/>
          <p:nvPr/>
        </p:nvSpPr>
        <p:spPr>
          <a:xfrm>
            <a:off x="2926080" y="2258568"/>
            <a:ext cx="1627632" cy="0"/>
          </a:xfrm>
          <a:prstGeom prst="line">
            <a:avLst/>
          </a:prstGeom>
          <a:noFill/>
          <a:ln w="9525">
            <a:solidFill>
              <a:srgbClr val="E2E6EC"/>
            </a:solidFill>
            <a:prstDash val="solid"/>
          </a:ln>
        </p:spPr>
      </p:sp>
      <p:sp>
        <p:nvSpPr>
          <p:cNvPr id="18" name="Text 15"/>
          <p:cNvSpPr/>
          <p:nvPr/>
        </p:nvSpPr>
        <p:spPr>
          <a:xfrm>
            <a:off x="2788920" y="2295144"/>
            <a:ext cx="1901952" cy="438912"/>
          </a:xfrm>
          <a:prstGeom prst="rect">
            <a:avLst/>
          </a:prstGeom>
          <a:noFill/>
          <a:ln/>
        </p:spPr>
        <p:txBody>
          <a:bodyPr wrap="square" rtlCol="0" anchor="ctr"/>
          <a:lstStyle/>
          <a:p>
            <a:pPr marL="0" indent="0" algn="ctr">
              <a:buNone/>
            </a:pPr>
            <a:r>
              <a:rPr lang="en-US" b="1" dirty="0">
                <a:solidFill>
                  <a:srgbClr val="158C94"/>
                </a:solidFill>
                <a:latin typeface="Times New Roman" pitchFamily="34" charset="0"/>
                <a:ea typeface="Times New Roman" pitchFamily="34" charset="-122"/>
                <a:cs typeface="Times New Roman" pitchFamily="34" charset="-120"/>
              </a:rPr>
              <a:t>94.57%</a:t>
            </a:r>
            <a:endParaRPr lang="en-US" dirty="0"/>
          </a:p>
        </p:txBody>
      </p:sp>
      <p:sp>
        <p:nvSpPr>
          <p:cNvPr id="19" name="Text 16"/>
          <p:cNvSpPr/>
          <p:nvPr/>
        </p:nvSpPr>
        <p:spPr>
          <a:xfrm>
            <a:off x="2788920" y="2715768"/>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EfficientNetB0</a:t>
            </a:r>
            <a:endParaRPr lang="en-US" sz="900" dirty="0"/>
          </a:p>
        </p:txBody>
      </p:sp>
      <p:sp>
        <p:nvSpPr>
          <p:cNvPr id="20" name="Text 17"/>
          <p:cNvSpPr/>
          <p:nvPr/>
        </p:nvSpPr>
        <p:spPr>
          <a:xfrm>
            <a:off x="2788920" y="2953512"/>
            <a:ext cx="1901952" cy="384048"/>
          </a:xfrm>
          <a:prstGeom prst="rect">
            <a:avLst/>
          </a:prstGeom>
          <a:noFill/>
          <a:ln/>
        </p:spPr>
        <p:txBody>
          <a:bodyPr wrap="square" rtlCol="0" anchor="ctr"/>
          <a:lstStyle/>
          <a:p>
            <a:pPr marL="0" indent="0" algn="ctr">
              <a:buNone/>
            </a:pPr>
            <a:r>
              <a:rPr lang="en-US" b="1" dirty="0">
                <a:solidFill>
                  <a:srgbClr val="D8432E"/>
                </a:solidFill>
                <a:latin typeface="Times New Roman" pitchFamily="34" charset="0"/>
                <a:ea typeface="Times New Roman" pitchFamily="34" charset="-122"/>
                <a:cs typeface="Times New Roman" pitchFamily="34" charset="-120"/>
              </a:rPr>
              <a:t>94.90%</a:t>
            </a:r>
            <a:endParaRPr lang="en-US" dirty="0"/>
          </a:p>
        </p:txBody>
      </p:sp>
      <p:sp>
        <p:nvSpPr>
          <p:cNvPr id="21" name="Text 18"/>
          <p:cNvSpPr/>
          <p:nvPr/>
        </p:nvSpPr>
        <p:spPr>
          <a:xfrm>
            <a:off x="2788920" y="3319272"/>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DenseNet121</a:t>
            </a:r>
            <a:endParaRPr lang="en-US" sz="900" dirty="0"/>
          </a:p>
        </p:txBody>
      </p:sp>
      <p:sp>
        <p:nvSpPr>
          <p:cNvPr id="22" name="Shape 19"/>
          <p:cNvSpPr/>
          <p:nvPr/>
        </p:nvSpPr>
        <p:spPr>
          <a:xfrm>
            <a:off x="4892040" y="1819656"/>
            <a:ext cx="2084832" cy="1691640"/>
          </a:xfrm>
          <a:prstGeom prst="roundRect">
            <a:avLst>
              <a:gd name="adj" fmla="val 540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3" name="Text 20"/>
          <p:cNvSpPr/>
          <p:nvPr/>
        </p:nvSpPr>
        <p:spPr>
          <a:xfrm>
            <a:off x="4983480" y="1929384"/>
            <a:ext cx="1901952" cy="292608"/>
          </a:xfrm>
          <a:prstGeom prst="rect">
            <a:avLst/>
          </a:prstGeom>
          <a:noFill/>
          <a:ln/>
        </p:spPr>
        <p:txBody>
          <a:bodyPr wrap="square" rtlCol="0" anchor="ctr"/>
          <a:lstStyle/>
          <a:p>
            <a:pPr marL="0" indent="0" algn="ctr">
              <a:buNone/>
            </a:pPr>
            <a:r>
              <a:rPr lang="en-US" sz="1200" b="1" dirty="0">
                <a:solidFill>
                  <a:srgbClr val="0B1E3D"/>
                </a:solidFill>
                <a:latin typeface="Times New Roman" pitchFamily="34" charset="0"/>
                <a:ea typeface="Times New Roman" pitchFamily="34" charset="-122"/>
                <a:cs typeface="Times New Roman" pitchFamily="34" charset="-120"/>
              </a:rPr>
              <a:t>Precision</a:t>
            </a:r>
            <a:endParaRPr lang="en-US" sz="1200" dirty="0"/>
          </a:p>
        </p:txBody>
      </p:sp>
      <p:sp>
        <p:nvSpPr>
          <p:cNvPr id="24" name="Shape 21"/>
          <p:cNvSpPr/>
          <p:nvPr/>
        </p:nvSpPr>
        <p:spPr>
          <a:xfrm>
            <a:off x="5120640" y="2258568"/>
            <a:ext cx="1627632" cy="0"/>
          </a:xfrm>
          <a:prstGeom prst="line">
            <a:avLst/>
          </a:prstGeom>
          <a:noFill/>
          <a:ln w="9525">
            <a:solidFill>
              <a:srgbClr val="E2E6EC"/>
            </a:solidFill>
            <a:prstDash val="solid"/>
          </a:ln>
        </p:spPr>
      </p:sp>
      <p:sp>
        <p:nvSpPr>
          <p:cNvPr id="25" name="Text 22"/>
          <p:cNvSpPr/>
          <p:nvPr/>
        </p:nvSpPr>
        <p:spPr>
          <a:xfrm>
            <a:off x="4983480" y="2295144"/>
            <a:ext cx="1901952" cy="438912"/>
          </a:xfrm>
          <a:prstGeom prst="rect">
            <a:avLst/>
          </a:prstGeom>
          <a:noFill/>
          <a:ln/>
        </p:spPr>
        <p:txBody>
          <a:bodyPr wrap="square" rtlCol="0" anchor="ctr"/>
          <a:lstStyle/>
          <a:p>
            <a:pPr marL="0" indent="0" algn="ctr">
              <a:buNone/>
            </a:pPr>
            <a:r>
              <a:rPr lang="en-US" b="1" dirty="0">
                <a:solidFill>
                  <a:srgbClr val="158C94"/>
                </a:solidFill>
                <a:latin typeface="Times New Roman" pitchFamily="34" charset="0"/>
                <a:ea typeface="Times New Roman" pitchFamily="34" charset="-122"/>
                <a:cs typeface="Times New Roman" pitchFamily="34" charset="-120"/>
              </a:rPr>
              <a:t>95.06%</a:t>
            </a:r>
            <a:endParaRPr lang="en-US" dirty="0"/>
          </a:p>
        </p:txBody>
      </p:sp>
      <p:sp>
        <p:nvSpPr>
          <p:cNvPr id="26" name="Text 23"/>
          <p:cNvSpPr/>
          <p:nvPr/>
        </p:nvSpPr>
        <p:spPr>
          <a:xfrm>
            <a:off x="4983480" y="2715768"/>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EfficientNetB0</a:t>
            </a:r>
            <a:endParaRPr lang="en-US" sz="900" dirty="0"/>
          </a:p>
        </p:txBody>
      </p:sp>
      <p:sp>
        <p:nvSpPr>
          <p:cNvPr id="27" name="Text 24"/>
          <p:cNvSpPr/>
          <p:nvPr/>
        </p:nvSpPr>
        <p:spPr>
          <a:xfrm>
            <a:off x="4983480" y="2953512"/>
            <a:ext cx="1901952" cy="384048"/>
          </a:xfrm>
          <a:prstGeom prst="rect">
            <a:avLst/>
          </a:prstGeom>
          <a:noFill/>
          <a:ln/>
        </p:spPr>
        <p:txBody>
          <a:bodyPr wrap="square" rtlCol="0" anchor="ctr"/>
          <a:lstStyle/>
          <a:p>
            <a:pPr marL="0" indent="0" algn="ctr">
              <a:buNone/>
            </a:pPr>
            <a:r>
              <a:rPr lang="en-US" b="1" dirty="0">
                <a:solidFill>
                  <a:srgbClr val="D8432E"/>
                </a:solidFill>
                <a:latin typeface="Times New Roman" pitchFamily="34" charset="0"/>
                <a:ea typeface="Times New Roman" pitchFamily="34" charset="-122"/>
                <a:cs typeface="Times New Roman" pitchFamily="34" charset="-120"/>
              </a:rPr>
              <a:t>95.39%</a:t>
            </a:r>
            <a:endParaRPr lang="en-US" dirty="0"/>
          </a:p>
        </p:txBody>
      </p:sp>
      <p:sp>
        <p:nvSpPr>
          <p:cNvPr id="28" name="Text 25"/>
          <p:cNvSpPr/>
          <p:nvPr/>
        </p:nvSpPr>
        <p:spPr>
          <a:xfrm>
            <a:off x="4983480" y="3319272"/>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DenseNet121</a:t>
            </a:r>
            <a:endParaRPr lang="en-US" sz="900" dirty="0"/>
          </a:p>
        </p:txBody>
      </p:sp>
      <p:sp>
        <p:nvSpPr>
          <p:cNvPr id="29" name="Shape 26"/>
          <p:cNvSpPr/>
          <p:nvPr/>
        </p:nvSpPr>
        <p:spPr>
          <a:xfrm>
            <a:off x="7086600" y="1819656"/>
            <a:ext cx="2084832" cy="1691640"/>
          </a:xfrm>
          <a:prstGeom prst="roundRect">
            <a:avLst>
              <a:gd name="adj" fmla="val 540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30" name="Text 27"/>
          <p:cNvSpPr/>
          <p:nvPr/>
        </p:nvSpPr>
        <p:spPr>
          <a:xfrm>
            <a:off x="7178040" y="1929384"/>
            <a:ext cx="1901952" cy="292608"/>
          </a:xfrm>
          <a:prstGeom prst="rect">
            <a:avLst/>
          </a:prstGeom>
          <a:noFill/>
          <a:ln/>
        </p:spPr>
        <p:txBody>
          <a:bodyPr wrap="square" rtlCol="0" anchor="ctr"/>
          <a:lstStyle/>
          <a:p>
            <a:pPr marL="0" indent="0" algn="ctr">
              <a:buNone/>
            </a:pPr>
            <a:r>
              <a:rPr lang="en-US" sz="1200" b="1" dirty="0">
                <a:solidFill>
                  <a:srgbClr val="0B1E3D"/>
                </a:solidFill>
                <a:latin typeface="Times New Roman" pitchFamily="34" charset="0"/>
                <a:ea typeface="Times New Roman" pitchFamily="34" charset="-122"/>
                <a:cs typeface="Times New Roman" pitchFamily="34" charset="-120"/>
              </a:rPr>
              <a:t>Recall</a:t>
            </a:r>
            <a:endParaRPr lang="en-US" sz="1200" dirty="0"/>
          </a:p>
        </p:txBody>
      </p:sp>
      <p:sp>
        <p:nvSpPr>
          <p:cNvPr id="31" name="Shape 28"/>
          <p:cNvSpPr/>
          <p:nvPr/>
        </p:nvSpPr>
        <p:spPr>
          <a:xfrm>
            <a:off x="7315200" y="2258568"/>
            <a:ext cx="1627632" cy="0"/>
          </a:xfrm>
          <a:prstGeom prst="line">
            <a:avLst/>
          </a:prstGeom>
          <a:noFill/>
          <a:ln w="9525">
            <a:solidFill>
              <a:srgbClr val="E2E6EC"/>
            </a:solidFill>
            <a:prstDash val="solid"/>
          </a:ln>
        </p:spPr>
      </p:sp>
      <p:sp>
        <p:nvSpPr>
          <p:cNvPr id="32" name="Text 29"/>
          <p:cNvSpPr/>
          <p:nvPr/>
        </p:nvSpPr>
        <p:spPr>
          <a:xfrm>
            <a:off x="7178040" y="2295144"/>
            <a:ext cx="1901952" cy="438912"/>
          </a:xfrm>
          <a:prstGeom prst="rect">
            <a:avLst/>
          </a:prstGeom>
          <a:noFill/>
          <a:ln/>
        </p:spPr>
        <p:txBody>
          <a:bodyPr wrap="square" rtlCol="0" anchor="ctr"/>
          <a:lstStyle/>
          <a:p>
            <a:pPr marL="0" indent="0" algn="ctr">
              <a:buNone/>
            </a:pPr>
            <a:r>
              <a:rPr lang="en-US" b="1" dirty="0">
                <a:solidFill>
                  <a:srgbClr val="158C94"/>
                </a:solidFill>
                <a:latin typeface="Times New Roman" pitchFamily="34" charset="0"/>
                <a:ea typeface="Times New Roman" pitchFamily="34" charset="-122"/>
                <a:cs typeface="Times New Roman" pitchFamily="34" charset="-120"/>
              </a:rPr>
              <a:t>94.69%</a:t>
            </a:r>
            <a:endParaRPr lang="en-US" dirty="0"/>
          </a:p>
        </p:txBody>
      </p:sp>
      <p:sp>
        <p:nvSpPr>
          <p:cNvPr id="33" name="Text 30"/>
          <p:cNvSpPr/>
          <p:nvPr/>
        </p:nvSpPr>
        <p:spPr>
          <a:xfrm>
            <a:off x="7178040" y="2715768"/>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EfficientNetB0</a:t>
            </a:r>
            <a:endParaRPr lang="en-US" sz="900" dirty="0"/>
          </a:p>
        </p:txBody>
      </p:sp>
      <p:sp>
        <p:nvSpPr>
          <p:cNvPr id="34" name="Text 31"/>
          <p:cNvSpPr/>
          <p:nvPr/>
        </p:nvSpPr>
        <p:spPr>
          <a:xfrm>
            <a:off x="7178040" y="2953512"/>
            <a:ext cx="1901952" cy="384048"/>
          </a:xfrm>
          <a:prstGeom prst="rect">
            <a:avLst/>
          </a:prstGeom>
          <a:noFill/>
          <a:ln/>
        </p:spPr>
        <p:txBody>
          <a:bodyPr wrap="square" rtlCol="0" anchor="ctr"/>
          <a:lstStyle/>
          <a:p>
            <a:pPr marL="0" indent="0" algn="ctr">
              <a:buNone/>
            </a:pPr>
            <a:r>
              <a:rPr lang="en-US" b="1" dirty="0">
                <a:solidFill>
                  <a:srgbClr val="D8432E"/>
                </a:solidFill>
                <a:latin typeface="Times New Roman" pitchFamily="34" charset="0"/>
                <a:ea typeface="Times New Roman" pitchFamily="34" charset="-122"/>
                <a:cs typeface="Times New Roman" pitchFamily="34" charset="-120"/>
              </a:rPr>
              <a:t>95.00%</a:t>
            </a:r>
            <a:endParaRPr lang="en-US" dirty="0"/>
          </a:p>
        </p:txBody>
      </p:sp>
      <p:sp>
        <p:nvSpPr>
          <p:cNvPr id="35" name="Text 32"/>
          <p:cNvSpPr/>
          <p:nvPr/>
        </p:nvSpPr>
        <p:spPr>
          <a:xfrm>
            <a:off x="7178040" y="3319272"/>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DenseNet121</a:t>
            </a:r>
            <a:endParaRPr lang="en-US" sz="900" dirty="0"/>
          </a:p>
        </p:txBody>
      </p:sp>
      <p:sp>
        <p:nvSpPr>
          <p:cNvPr id="36" name="Shape 33"/>
          <p:cNvSpPr/>
          <p:nvPr/>
        </p:nvSpPr>
        <p:spPr>
          <a:xfrm>
            <a:off x="9281160" y="1819656"/>
            <a:ext cx="2084832" cy="1691640"/>
          </a:xfrm>
          <a:prstGeom prst="roundRect">
            <a:avLst>
              <a:gd name="adj" fmla="val 5405"/>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37" name="Text 34"/>
          <p:cNvSpPr/>
          <p:nvPr/>
        </p:nvSpPr>
        <p:spPr>
          <a:xfrm>
            <a:off x="9372600" y="1929384"/>
            <a:ext cx="1901952" cy="292608"/>
          </a:xfrm>
          <a:prstGeom prst="rect">
            <a:avLst/>
          </a:prstGeom>
          <a:noFill/>
          <a:ln/>
        </p:spPr>
        <p:txBody>
          <a:bodyPr wrap="square" rtlCol="0" anchor="ctr"/>
          <a:lstStyle/>
          <a:p>
            <a:pPr marL="0" indent="0" algn="ctr">
              <a:buNone/>
            </a:pPr>
            <a:r>
              <a:rPr lang="en-US" sz="1200" b="1" dirty="0">
                <a:solidFill>
                  <a:srgbClr val="0B1E3D"/>
                </a:solidFill>
                <a:latin typeface="Times New Roman" pitchFamily="34" charset="0"/>
                <a:ea typeface="Times New Roman" pitchFamily="34" charset="-122"/>
                <a:cs typeface="Times New Roman" pitchFamily="34" charset="-120"/>
              </a:rPr>
              <a:t>Macro AUC</a:t>
            </a:r>
            <a:endParaRPr lang="en-US" sz="1200" dirty="0"/>
          </a:p>
        </p:txBody>
      </p:sp>
      <p:sp>
        <p:nvSpPr>
          <p:cNvPr id="38" name="Shape 35"/>
          <p:cNvSpPr/>
          <p:nvPr/>
        </p:nvSpPr>
        <p:spPr>
          <a:xfrm>
            <a:off x="9509760" y="2258568"/>
            <a:ext cx="1627632" cy="0"/>
          </a:xfrm>
          <a:prstGeom prst="line">
            <a:avLst/>
          </a:prstGeom>
          <a:noFill/>
          <a:ln w="9525">
            <a:solidFill>
              <a:srgbClr val="E2E6EC"/>
            </a:solidFill>
            <a:prstDash val="solid"/>
          </a:ln>
        </p:spPr>
      </p:sp>
      <p:sp>
        <p:nvSpPr>
          <p:cNvPr id="39" name="Text 36"/>
          <p:cNvSpPr/>
          <p:nvPr/>
        </p:nvSpPr>
        <p:spPr>
          <a:xfrm>
            <a:off x="9372600" y="2295144"/>
            <a:ext cx="1901952" cy="438912"/>
          </a:xfrm>
          <a:prstGeom prst="rect">
            <a:avLst/>
          </a:prstGeom>
          <a:noFill/>
          <a:ln/>
        </p:spPr>
        <p:txBody>
          <a:bodyPr wrap="square" rtlCol="0" anchor="ctr"/>
          <a:lstStyle/>
          <a:p>
            <a:pPr marL="0" indent="0" algn="ctr">
              <a:buNone/>
            </a:pPr>
            <a:r>
              <a:rPr lang="en-US" b="1" dirty="0">
                <a:solidFill>
                  <a:srgbClr val="158C94"/>
                </a:solidFill>
                <a:latin typeface="Times New Roman" pitchFamily="34" charset="0"/>
                <a:ea typeface="Times New Roman" pitchFamily="34" charset="-122"/>
                <a:cs typeface="Times New Roman" pitchFamily="34" charset="-120"/>
              </a:rPr>
              <a:t>98.85%</a:t>
            </a:r>
            <a:endParaRPr lang="en-US" dirty="0"/>
          </a:p>
        </p:txBody>
      </p:sp>
      <p:sp>
        <p:nvSpPr>
          <p:cNvPr id="40" name="Text 37"/>
          <p:cNvSpPr/>
          <p:nvPr/>
        </p:nvSpPr>
        <p:spPr>
          <a:xfrm>
            <a:off x="9372600" y="2715768"/>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EfficientNetB0</a:t>
            </a:r>
            <a:endParaRPr lang="en-US" sz="900" dirty="0"/>
          </a:p>
        </p:txBody>
      </p:sp>
      <p:sp>
        <p:nvSpPr>
          <p:cNvPr id="41" name="Text 38"/>
          <p:cNvSpPr/>
          <p:nvPr/>
        </p:nvSpPr>
        <p:spPr>
          <a:xfrm>
            <a:off x="9372600" y="2953512"/>
            <a:ext cx="1901952" cy="384048"/>
          </a:xfrm>
          <a:prstGeom prst="rect">
            <a:avLst/>
          </a:prstGeom>
          <a:noFill/>
          <a:ln/>
        </p:spPr>
        <p:txBody>
          <a:bodyPr wrap="square" rtlCol="0" anchor="ctr"/>
          <a:lstStyle/>
          <a:p>
            <a:pPr marL="0" indent="0" algn="ctr">
              <a:buNone/>
            </a:pPr>
            <a:r>
              <a:rPr lang="en-US" b="1" dirty="0">
                <a:solidFill>
                  <a:srgbClr val="D8432E"/>
                </a:solidFill>
                <a:latin typeface="Times New Roman" pitchFamily="34" charset="0"/>
                <a:ea typeface="Times New Roman" pitchFamily="34" charset="-122"/>
                <a:cs typeface="Times New Roman" pitchFamily="34" charset="-120"/>
              </a:rPr>
              <a:t>99.00%</a:t>
            </a:r>
            <a:endParaRPr lang="en-US" dirty="0"/>
          </a:p>
        </p:txBody>
      </p:sp>
      <p:sp>
        <p:nvSpPr>
          <p:cNvPr id="42" name="Text 39"/>
          <p:cNvSpPr/>
          <p:nvPr/>
        </p:nvSpPr>
        <p:spPr>
          <a:xfrm>
            <a:off x="9372600" y="3319272"/>
            <a:ext cx="1901952" cy="219456"/>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DenseNet121</a:t>
            </a:r>
            <a:endParaRPr lang="en-US" sz="900" dirty="0"/>
          </a:p>
        </p:txBody>
      </p:sp>
      <p:sp>
        <p:nvSpPr>
          <p:cNvPr id="43" name="Shape 40"/>
          <p:cNvSpPr/>
          <p:nvPr/>
        </p:nvSpPr>
        <p:spPr>
          <a:xfrm>
            <a:off x="502920" y="3694176"/>
            <a:ext cx="11183112" cy="566928"/>
          </a:xfrm>
          <a:prstGeom prst="roundRect">
            <a:avLst>
              <a:gd name="adj" fmla="val 12903"/>
            </a:avLst>
          </a:prstGeom>
          <a:solidFill>
            <a:srgbClr val="0B1E3D"/>
          </a:solidFill>
          <a:ln w="12700">
            <a:solidFill>
              <a:srgbClr val="E2E6EC"/>
            </a:solidFill>
            <a:prstDash val="solid"/>
          </a:ln>
          <a:effectLst>
            <a:outerShdw blurRad="101600" dist="25400" dir="5400000" algn="bl" rotWithShape="0">
              <a:srgbClr val="1B3760">
                <a:alpha val="10000"/>
              </a:srgbClr>
            </a:outerShdw>
          </a:effectLst>
        </p:spPr>
      </p:sp>
      <p:sp>
        <p:nvSpPr>
          <p:cNvPr id="44" name="Text 41"/>
          <p:cNvSpPr/>
          <p:nvPr/>
        </p:nvSpPr>
        <p:spPr>
          <a:xfrm>
            <a:off x="685800" y="3694176"/>
            <a:ext cx="10881360" cy="566928"/>
          </a:xfrm>
          <a:prstGeom prst="rect">
            <a:avLst/>
          </a:prstGeom>
          <a:noFill/>
          <a:ln/>
        </p:spPr>
        <p:txBody>
          <a:bodyPr wrap="square" rtlCol="0" anchor="ctr"/>
          <a:lstStyle/>
          <a:p>
            <a:pPr marL="0" indent="0">
              <a:buNone/>
            </a:pPr>
            <a:r>
              <a:rPr lang="en-US" sz="1400" dirty="0">
                <a:solidFill>
                  <a:srgbClr val="D7E1F2"/>
                </a:solidFill>
                <a:latin typeface="Times New Roman" pitchFamily="34" charset="0"/>
                <a:ea typeface="Times New Roman" pitchFamily="34" charset="-122"/>
                <a:cs typeface="Times New Roman" pitchFamily="34" charset="-120"/>
              </a:rPr>
              <a:t>  Thời gian suy luận (1.600 ảnh):  </a:t>
            </a:r>
            <a:r>
              <a:rPr lang="en-US" sz="1400" b="1" dirty="0">
                <a:solidFill>
                  <a:srgbClr val="5FBEC5"/>
                </a:solidFill>
                <a:latin typeface="Times New Roman" pitchFamily="34" charset="0"/>
                <a:ea typeface="Times New Roman" pitchFamily="34" charset="-122"/>
                <a:cs typeface="Times New Roman" pitchFamily="34" charset="-120"/>
              </a:rPr>
              <a:t>EfficientNetB0 47.23s</a:t>
            </a:r>
            <a:r>
              <a:rPr lang="en-US" sz="1400" dirty="0">
                <a:solidFill>
                  <a:srgbClr val="D7E1F2"/>
                </a:solidFill>
                <a:latin typeface="Times New Roman" pitchFamily="34" charset="0"/>
                <a:ea typeface="Times New Roman" pitchFamily="34" charset="-122"/>
                <a:cs typeface="Times New Roman" pitchFamily="34" charset="-120"/>
              </a:rPr>
              <a:t>   vs   </a:t>
            </a:r>
            <a:r>
              <a:rPr lang="en-US" sz="1400" b="1" dirty="0">
                <a:solidFill>
                  <a:srgbClr val="F3A79A"/>
                </a:solidFill>
                <a:latin typeface="Times New Roman" pitchFamily="34" charset="0"/>
                <a:ea typeface="Times New Roman" pitchFamily="34" charset="-122"/>
                <a:cs typeface="Times New Roman" pitchFamily="34" charset="-120"/>
              </a:rPr>
              <a:t>DenseNet121 442.39s</a:t>
            </a:r>
            <a:r>
              <a:rPr lang="en-US" sz="1400" i="1" dirty="0">
                <a:solidFill>
                  <a:srgbClr val="C9960B"/>
                </a:solidFill>
                <a:latin typeface="Times New Roman" pitchFamily="34" charset="0"/>
                <a:ea typeface="Times New Roman" pitchFamily="34" charset="-122"/>
                <a:cs typeface="Times New Roman" pitchFamily="34" charset="-120"/>
              </a:rPr>
              <a:t>   →  EfficientNetB0 nhanh hơn 9.4 lần</a:t>
            </a:r>
            <a:endParaRPr lang="en-US" sz="1400" dirty="0"/>
          </a:p>
        </p:txBody>
      </p:sp>
      <p:sp>
        <p:nvSpPr>
          <p:cNvPr id="45" name="Shape 42"/>
          <p:cNvSpPr/>
          <p:nvPr/>
        </p:nvSpPr>
        <p:spPr>
          <a:xfrm>
            <a:off x="3854566" y="4343400"/>
            <a:ext cx="4482563" cy="2130552"/>
          </a:xfrm>
          <a:prstGeom prst="roundRect">
            <a:avLst>
              <a:gd name="adj" fmla="val 3004"/>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pic>
        <p:nvPicPr>
          <p:cNvPr id="46" name="Image 1" descr="/home/claude/work/build/image11.png"/>
          <p:cNvPicPr>
            <a:picLocks noChangeAspect="1"/>
          </p:cNvPicPr>
          <p:nvPr/>
        </p:nvPicPr>
        <p:blipFill>
          <a:blip r:embed="rId3"/>
          <a:stretch>
            <a:fillRect/>
          </a:stretch>
        </p:blipFill>
        <p:spPr>
          <a:xfrm>
            <a:off x="3936862" y="4425696"/>
            <a:ext cx="4317971" cy="1965960"/>
          </a:xfrm>
          <a:prstGeom prst="rect">
            <a:avLst/>
          </a:prstGeom>
        </p:spPr>
      </p:pic>
      <p:sp>
        <p:nvSpPr>
          <p:cNvPr id="47" name="Text 43"/>
          <p:cNvSpPr/>
          <p:nvPr/>
        </p:nvSpPr>
        <p:spPr>
          <a:xfrm>
            <a:off x="3854566" y="6510528"/>
            <a:ext cx="4482563"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3.2 — So sánh Accuracy / Precision / Recall / F1 / AUC giữa hai mô hình</a:t>
            </a:r>
            <a:endParaRPr lang="en-US" sz="1050" dirty="0"/>
          </a:p>
        </p:txBody>
      </p:sp>
      <p:sp>
        <p:nvSpPr>
          <p:cNvPr id="48" name="Shape 44"/>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49" name="Text 45"/>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16</a:t>
            </a:r>
            <a:endParaRPr lang="en-US" sz="1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39469"/>
            <a:ext cx="566928" cy="292608"/>
          </a:xfrm>
          <a:prstGeom prst="roundRect">
            <a:avLst>
              <a:gd name="adj" fmla="val 50000"/>
            </a:avLst>
          </a:prstGeom>
          <a:solidFill>
            <a:srgbClr val="D8432E"/>
          </a:solidFill>
          <a:ln/>
        </p:spPr>
      </p:sp>
      <p:sp>
        <p:nvSpPr>
          <p:cNvPr id="5" name="Text 2"/>
          <p:cNvSpPr/>
          <p:nvPr/>
        </p:nvSpPr>
        <p:spPr>
          <a:xfrm>
            <a:off x="502920" y="939469"/>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03</a:t>
            </a:r>
            <a:endParaRPr lang="en-US" sz="1200" dirty="0"/>
          </a:p>
        </p:txBody>
      </p:sp>
      <p:sp>
        <p:nvSpPr>
          <p:cNvPr id="6" name="Text 3"/>
          <p:cNvSpPr/>
          <p:nvPr/>
        </p:nvSpPr>
        <p:spPr>
          <a:xfrm>
            <a:off x="1179576" y="939469"/>
            <a:ext cx="9601200" cy="292608"/>
          </a:xfrm>
          <a:prstGeom prst="rect">
            <a:avLst/>
          </a:prstGeom>
          <a:noFill/>
          <a:ln/>
        </p:spPr>
        <p:txBody>
          <a:bodyPr wrap="square" rtlCol="0" anchor="ctr"/>
          <a:lstStyle/>
          <a:p>
            <a:pPr marL="0" indent="0">
              <a:buNone/>
            </a:pPr>
            <a:r>
              <a:rPr lang="en-US" sz="1250" b="1" kern="0" spc="120" dirty="0">
                <a:solidFill>
                  <a:srgbClr val="D8432E"/>
                </a:solidFill>
                <a:latin typeface="Times New Roman" pitchFamily="34" charset="0"/>
                <a:ea typeface="Times New Roman" pitchFamily="34" charset="-122"/>
                <a:cs typeface="Times New Roman" pitchFamily="34" charset="-120"/>
              </a:rPr>
              <a:t>HUẤN LUYỆN &amp; ĐÁNH GIÁ MÔ HÌNH</a:t>
            </a:r>
            <a:endParaRPr lang="en-US" sz="1250" dirty="0"/>
          </a:p>
        </p:txBody>
      </p:sp>
      <p:sp>
        <p:nvSpPr>
          <p:cNvPr id="7" name="Text 4"/>
          <p:cNvSpPr/>
          <p:nvPr/>
        </p:nvSpPr>
        <p:spPr>
          <a:xfrm>
            <a:off x="502920" y="1201992"/>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Phân tích lỗi theo từng lớp bệnh</a:t>
            </a:r>
            <a:endParaRPr lang="en-US" sz="2500" dirty="0"/>
          </a:p>
        </p:txBody>
      </p:sp>
      <p:sp>
        <p:nvSpPr>
          <p:cNvPr id="8" name="Shape 5"/>
          <p:cNvSpPr/>
          <p:nvPr/>
        </p:nvSpPr>
        <p:spPr>
          <a:xfrm>
            <a:off x="420624" y="1737360"/>
            <a:ext cx="5650992" cy="2874519"/>
          </a:xfrm>
          <a:prstGeom prst="roundRect">
            <a:avLst>
              <a:gd name="adj" fmla="val 2227"/>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pic>
        <p:nvPicPr>
          <p:cNvPr id="9" name="Image 1" descr="/home/claude/work/build/image12.png"/>
          <p:cNvPicPr>
            <a:picLocks noChangeAspect="1"/>
          </p:cNvPicPr>
          <p:nvPr/>
        </p:nvPicPr>
        <p:blipFill>
          <a:blip r:embed="rId3"/>
          <a:stretch>
            <a:fillRect/>
          </a:stretch>
        </p:blipFill>
        <p:spPr>
          <a:xfrm>
            <a:off x="502920" y="1819656"/>
            <a:ext cx="5486400" cy="2709927"/>
          </a:xfrm>
          <a:prstGeom prst="rect">
            <a:avLst/>
          </a:prstGeom>
        </p:spPr>
      </p:pic>
      <p:sp>
        <p:nvSpPr>
          <p:cNvPr id="10" name="Text 6"/>
          <p:cNvSpPr/>
          <p:nvPr/>
        </p:nvSpPr>
        <p:spPr>
          <a:xfrm>
            <a:off x="420624" y="4648455"/>
            <a:ext cx="565099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3.3 — F1-score theo từng lớp</a:t>
            </a:r>
            <a:endParaRPr lang="en-US" sz="1050" dirty="0"/>
          </a:p>
        </p:txBody>
      </p:sp>
      <p:sp>
        <p:nvSpPr>
          <p:cNvPr id="11" name="Shape 7"/>
          <p:cNvSpPr/>
          <p:nvPr/>
        </p:nvSpPr>
        <p:spPr>
          <a:xfrm>
            <a:off x="6181344" y="1837513"/>
            <a:ext cx="5650992" cy="2674213"/>
          </a:xfrm>
          <a:prstGeom prst="roundRect">
            <a:avLst>
              <a:gd name="adj" fmla="val 2394"/>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pic>
        <p:nvPicPr>
          <p:cNvPr id="12" name="Image 2" descr="/home/claude/work/build/image13.png"/>
          <p:cNvPicPr>
            <a:picLocks noChangeAspect="1"/>
          </p:cNvPicPr>
          <p:nvPr/>
        </p:nvPicPr>
        <p:blipFill>
          <a:blip r:embed="rId4"/>
          <a:stretch>
            <a:fillRect/>
          </a:stretch>
        </p:blipFill>
        <p:spPr>
          <a:xfrm>
            <a:off x="6263640" y="1919809"/>
            <a:ext cx="5486400" cy="2509621"/>
          </a:xfrm>
          <a:prstGeom prst="rect">
            <a:avLst/>
          </a:prstGeom>
        </p:spPr>
      </p:pic>
      <p:sp>
        <p:nvSpPr>
          <p:cNvPr id="13" name="Text 8"/>
          <p:cNvSpPr/>
          <p:nvPr/>
        </p:nvSpPr>
        <p:spPr>
          <a:xfrm>
            <a:off x="6181344" y="4548302"/>
            <a:ext cx="565099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3.4 — Ma trận nhầm lẫn (Confusion Matrix)</a:t>
            </a:r>
            <a:endParaRPr lang="en-US" sz="1050" dirty="0"/>
          </a:p>
        </p:txBody>
      </p:sp>
      <p:sp>
        <p:nvSpPr>
          <p:cNvPr id="14" name="Shape 9"/>
          <p:cNvSpPr/>
          <p:nvPr/>
        </p:nvSpPr>
        <p:spPr>
          <a:xfrm>
            <a:off x="502920" y="5123943"/>
            <a:ext cx="11183112" cy="1051560"/>
          </a:xfrm>
          <a:prstGeom prst="roundRect">
            <a:avLst>
              <a:gd name="adj" fmla="val 8696"/>
            </a:avLst>
          </a:prstGeom>
          <a:solidFill>
            <a:srgbClr val="FBEAE7"/>
          </a:solidFill>
          <a:ln w="12700">
            <a:solidFill>
              <a:srgbClr val="D8432E"/>
            </a:solidFill>
            <a:prstDash val="solid"/>
          </a:ln>
          <a:effectLst>
            <a:outerShdw blurRad="101600" dist="25400" dir="5400000" algn="bl" rotWithShape="0">
              <a:srgbClr val="1B3760">
                <a:alpha val="10000"/>
              </a:srgbClr>
            </a:outerShdw>
          </a:effectLst>
        </p:spPr>
      </p:sp>
      <p:sp>
        <p:nvSpPr>
          <p:cNvPr id="17" name="Text 11"/>
          <p:cNvSpPr/>
          <p:nvPr/>
        </p:nvSpPr>
        <p:spPr>
          <a:xfrm>
            <a:off x="1417320" y="5233671"/>
            <a:ext cx="10058400" cy="841248"/>
          </a:xfrm>
          <a:prstGeom prst="rect">
            <a:avLst/>
          </a:prstGeom>
          <a:noFill/>
          <a:ln/>
        </p:spPr>
        <p:txBody>
          <a:bodyPr wrap="square" rtlCol="0" anchor="ctr"/>
          <a:lstStyle/>
          <a:p>
            <a:pPr marL="0" indent="0">
              <a:lnSpc>
                <a:spcPct val="122000"/>
              </a:lnSpc>
              <a:buNone/>
            </a:pPr>
            <a:r>
              <a:rPr lang="en-US" sz="1600" b="1" dirty="0">
                <a:solidFill>
                  <a:srgbClr val="D8432E"/>
                </a:solidFill>
                <a:latin typeface="Times New Roman" pitchFamily="34" charset="0"/>
                <a:ea typeface="Times New Roman" pitchFamily="34" charset="-122"/>
                <a:cs typeface="Times New Roman" pitchFamily="34" charset="-120"/>
              </a:rPr>
              <a:t>Rủi ro lâm sàng cần lưu ý:  </a:t>
            </a:r>
            <a:r>
              <a:rPr lang="en-US" sz="1600" dirty="0">
                <a:solidFill>
                  <a:srgbClr val="1C2430"/>
                </a:solidFill>
                <a:latin typeface="Times New Roman" pitchFamily="34" charset="0"/>
                <a:ea typeface="Times New Roman" pitchFamily="34" charset="-122"/>
                <a:cs typeface="Times New Roman" pitchFamily="34" charset="-120"/>
              </a:rPr>
              <a:t>Glioma có Precision cao (&gt;99%) nhưng Recall chỉ ~82% — mô hình bỏ sót gần 1/5 số ca Glioma thực sự. Notumor có Recall 100% nhưng Precision thấp (90.5–94.8%) — một số bệnh nhân có khối u bị chẩn đoán nhầm thành “khoẻ mạnh”.</a:t>
            </a:r>
            <a:endParaRPr lang="en-US" sz="1600" dirty="0"/>
          </a:p>
        </p:txBody>
      </p:sp>
      <p:sp>
        <p:nvSpPr>
          <p:cNvPr id="18" name="Shape 12"/>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19" name="Text 13"/>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17</a:t>
            </a:r>
            <a:endParaRPr lang="en-US" sz="10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24720"/>
            <a:ext cx="566928" cy="292608"/>
          </a:xfrm>
          <a:prstGeom prst="roundRect">
            <a:avLst>
              <a:gd name="adj" fmla="val 50000"/>
            </a:avLst>
          </a:prstGeom>
          <a:solidFill>
            <a:srgbClr val="D8432E"/>
          </a:solidFill>
          <a:ln/>
        </p:spPr>
      </p:sp>
      <p:sp>
        <p:nvSpPr>
          <p:cNvPr id="5" name="Text 2"/>
          <p:cNvSpPr/>
          <p:nvPr/>
        </p:nvSpPr>
        <p:spPr>
          <a:xfrm>
            <a:off x="502920" y="924720"/>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03</a:t>
            </a:r>
            <a:endParaRPr lang="en-US" sz="1200" dirty="0"/>
          </a:p>
        </p:txBody>
      </p:sp>
      <p:sp>
        <p:nvSpPr>
          <p:cNvPr id="6" name="Text 3"/>
          <p:cNvSpPr/>
          <p:nvPr/>
        </p:nvSpPr>
        <p:spPr>
          <a:xfrm>
            <a:off x="1179576" y="924720"/>
            <a:ext cx="9601200" cy="292608"/>
          </a:xfrm>
          <a:prstGeom prst="rect">
            <a:avLst/>
          </a:prstGeom>
          <a:noFill/>
          <a:ln/>
        </p:spPr>
        <p:txBody>
          <a:bodyPr wrap="square" rtlCol="0" anchor="ctr"/>
          <a:lstStyle/>
          <a:p>
            <a:pPr marL="0" indent="0">
              <a:buNone/>
            </a:pPr>
            <a:r>
              <a:rPr lang="en-US" sz="1250" b="1" kern="0" spc="120" dirty="0">
                <a:solidFill>
                  <a:srgbClr val="D8432E"/>
                </a:solidFill>
                <a:latin typeface="Times New Roman" pitchFamily="34" charset="0"/>
                <a:ea typeface="Times New Roman" pitchFamily="34" charset="-122"/>
                <a:cs typeface="Times New Roman" pitchFamily="34" charset="-120"/>
              </a:rPr>
              <a:t>HUẤN LUYỆN &amp; ĐÁNH GIÁ MÔ HÌNH</a:t>
            </a:r>
            <a:endParaRPr lang="en-US" sz="1250" dirty="0"/>
          </a:p>
        </p:txBody>
      </p:sp>
      <p:sp>
        <p:nvSpPr>
          <p:cNvPr id="7" name="Text 4"/>
          <p:cNvSpPr/>
          <p:nvPr/>
        </p:nvSpPr>
        <p:spPr>
          <a:xfrm>
            <a:off x="502920" y="1393720"/>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Đường cong ROC theo từng lớp</a:t>
            </a:r>
            <a:endParaRPr lang="en-US" sz="2500" dirty="0"/>
          </a:p>
        </p:txBody>
      </p:sp>
      <p:sp>
        <p:nvSpPr>
          <p:cNvPr id="8" name="Shape 5"/>
          <p:cNvSpPr/>
          <p:nvPr/>
        </p:nvSpPr>
        <p:spPr>
          <a:xfrm>
            <a:off x="527152" y="2017575"/>
            <a:ext cx="11137392" cy="2747605"/>
          </a:xfrm>
          <a:prstGeom prst="roundRect">
            <a:avLst>
              <a:gd name="adj" fmla="val 2330"/>
            </a:avLst>
          </a:prstGeom>
          <a:solidFill>
            <a:srgbClr val="FFFFFF"/>
          </a:solidFill>
          <a:ln w="12700">
            <a:solidFill>
              <a:srgbClr val="E2E6EC"/>
            </a:solidFill>
            <a:prstDash val="solid"/>
          </a:ln>
          <a:effectLst>
            <a:outerShdw blurRad="127000" dist="38100" dir="5400000" algn="bl" rotWithShape="0">
              <a:srgbClr val="1B3760">
                <a:alpha val="16000"/>
              </a:srgbClr>
            </a:outerShdw>
          </a:effectLst>
        </p:spPr>
      </p:sp>
      <p:pic>
        <p:nvPicPr>
          <p:cNvPr id="9" name="Image 1" descr="/home/claude/work/build/image14.png"/>
          <p:cNvPicPr>
            <a:picLocks noChangeAspect="1"/>
          </p:cNvPicPr>
          <p:nvPr/>
        </p:nvPicPr>
        <p:blipFill>
          <a:blip r:embed="rId3"/>
          <a:stretch>
            <a:fillRect/>
          </a:stretch>
        </p:blipFill>
        <p:spPr>
          <a:xfrm>
            <a:off x="609448" y="2099871"/>
            <a:ext cx="10972800" cy="2583013"/>
          </a:xfrm>
          <a:prstGeom prst="rect">
            <a:avLst/>
          </a:prstGeom>
        </p:spPr>
      </p:pic>
      <p:sp>
        <p:nvSpPr>
          <p:cNvPr id="10" name="Text 6"/>
          <p:cNvSpPr/>
          <p:nvPr/>
        </p:nvSpPr>
        <p:spPr>
          <a:xfrm>
            <a:off x="527152" y="4801756"/>
            <a:ext cx="1113739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3.5 — ROC Curves per Class — EfficientNetB0 vs DenseNet121</a:t>
            </a:r>
            <a:endParaRPr lang="en-US" sz="1050" dirty="0"/>
          </a:p>
        </p:txBody>
      </p:sp>
      <p:sp>
        <p:nvSpPr>
          <p:cNvPr id="11" name="Shape 7"/>
          <p:cNvSpPr/>
          <p:nvPr/>
        </p:nvSpPr>
        <p:spPr>
          <a:xfrm>
            <a:off x="463144" y="5249812"/>
            <a:ext cx="2651760" cy="960120"/>
          </a:xfrm>
          <a:prstGeom prst="roundRect">
            <a:avLst>
              <a:gd name="adj" fmla="val 8571"/>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2" name="Text 8"/>
          <p:cNvSpPr/>
          <p:nvPr/>
        </p:nvSpPr>
        <p:spPr>
          <a:xfrm>
            <a:off x="600304" y="5322964"/>
            <a:ext cx="2377440" cy="274320"/>
          </a:xfrm>
          <a:prstGeom prst="rect">
            <a:avLst/>
          </a:prstGeom>
          <a:noFill/>
          <a:ln/>
        </p:spPr>
        <p:txBody>
          <a:bodyPr wrap="square" rtlCol="0" anchor="ctr"/>
          <a:lstStyle/>
          <a:p>
            <a:pPr marL="0" indent="0" algn="ctr">
              <a:buNone/>
            </a:pPr>
            <a:r>
              <a:rPr lang="en-US" sz="1150" b="1" dirty="0">
                <a:solidFill>
                  <a:srgbClr val="0B1E3D"/>
                </a:solidFill>
                <a:latin typeface="Times New Roman" pitchFamily="34" charset="0"/>
                <a:ea typeface="Times New Roman" pitchFamily="34" charset="-122"/>
                <a:cs typeface="Times New Roman" pitchFamily="34" charset="-120"/>
              </a:rPr>
              <a:t>Glioma</a:t>
            </a:r>
            <a:endParaRPr lang="en-US" sz="1150" dirty="0"/>
          </a:p>
        </p:txBody>
      </p:sp>
      <p:sp>
        <p:nvSpPr>
          <p:cNvPr id="13" name="Text 9"/>
          <p:cNvSpPr/>
          <p:nvPr/>
        </p:nvSpPr>
        <p:spPr>
          <a:xfrm>
            <a:off x="554584" y="5633860"/>
            <a:ext cx="1234440" cy="457200"/>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AUC </a:t>
            </a:r>
            <a:r>
              <a:rPr lang="en-US" sz="1400" b="1" dirty="0">
                <a:solidFill>
                  <a:srgbClr val="158C94"/>
                </a:solidFill>
                <a:latin typeface="Times New Roman" pitchFamily="34" charset="0"/>
                <a:ea typeface="Times New Roman" pitchFamily="34" charset="-122"/>
                <a:cs typeface="Times New Roman" pitchFamily="34" charset="-120"/>
              </a:rPr>
              <a:t>0.961</a:t>
            </a:r>
            <a:endParaRPr lang="en-US" sz="900" dirty="0"/>
          </a:p>
        </p:txBody>
      </p:sp>
      <p:sp>
        <p:nvSpPr>
          <p:cNvPr id="14" name="Text 10"/>
          <p:cNvSpPr/>
          <p:nvPr/>
        </p:nvSpPr>
        <p:spPr>
          <a:xfrm>
            <a:off x="1789024" y="5633860"/>
            <a:ext cx="1234440" cy="457200"/>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AUC </a:t>
            </a:r>
            <a:r>
              <a:rPr lang="en-US" sz="1400" b="1" dirty="0">
                <a:solidFill>
                  <a:srgbClr val="D8432E"/>
                </a:solidFill>
                <a:latin typeface="Times New Roman" pitchFamily="34" charset="0"/>
                <a:ea typeface="Times New Roman" pitchFamily="34" charset="-122"/>
                <a:cs typeface="Times New Roman" pitchFamily="34" charset="-120"/>
              </a:rPr>
              <a:t>0.967</a:t>
            </a:r>
            <a:endParaRPr lang="en-US" sz="900" dirty="0"/>
          </a:p>
        </p:txBody>
      </p:sp>
      <p:sp>
        <p:nvSpPr>
          <p:cNvPr id="15" name="Shape 11"/>
          <p:cNvSpPr/>
          <p:nvPr/>
        </p:nvSpPr>
        <p:spPr>
          <a:xfrm>
            <a:off x="3334360" y="5249812"/>
            <a:ext cx="2651760" cy="960120"/>
          </a:xfrm>
          <a:prstGeom prst="roundRect">
            <a:avLst>
              <a:gd name="adj" fmla="val 8571"/>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6" name="Text 12"/>
          <p:cNvSpPr/>
          <p:nvPr/>
        </p:nvSpPr>
        <p:spPr>
          <a:xfrm>
            <a:off x="3471520" y="5322964"/>
            <a:ext cx="2377440" cy="274320"/>
          </a:xfrm>
          <a:prstGeom prst="rect">
            <a:avLst/>
          </a:prstGeom>
          <a:noFill/>
          <a:ln/>
        </p:spPr>
        <p:txBody>
          <a:bodyPr wrap="square" rtlCol="0" anchor="ctr"/>
          <a:lstStyle/>
          <a:p>
            <a:pPr marL="0" indent="0" algn="ctr">
              <a:buNone/>
            </a:pPr>
            <a:r>
              <a:rPr lang="en-US" sz="1150" b="1" dirty="0">
                <a:solidFill>
                  <a:srgbClr val="0B1E3D"/>
                </a:solidFill>
                <a:latin typeface="Times New Roman" pitchFamily="34" charset="0"/>
                <a:ea typeface="Times New Roman" pitchFamily="34" charset="-122"/>
                <a:cs typeface="Times New Roman" pitchFamily="34" charset="-120"/>
              </a:rPr>
              <a:t>Meningioma</a:t>
            </a:r>
            <a:endParaRPr lang="en-US" sz="1150" dirty="0"/>
          </a:p>
        </p:txBody>
      </p:sp>
      <p:sp>
        <p:nvSpPr>
          <p:cNvPr id="17" name="Text 13"/>
          <p:cNvSpPr/>
          <p:nvPr/>
        </p:nvSpPr>
        <p:spPr>
          <a:xfrm>
            <a:off x="3425800" y="5633860"/>
            <a:ext cx="1234440" cy="457200"/>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AUC </a:t>
            </a:r>
            <a:r>
              <a:rPr lang="en-US" sz="1400" b="1" dirty="0">
                <a:solidFill>
                  <a:srgbClr val="158C94"/>
                </a:solidFill>
                <a:latin typeface="Times New Roman" pitchFamily="34" charset="0"/>
                <a:ea typeface="Times New Roman" pitchFamily="34" charset="-122"/>
                <a:cs typeface="Times New Roman" pitchFamily="34" charset="-120"/>
              </a:rPr>
              <a:t>0.995</a:t>
            </a:r>
            <a:endParaRPr lang="en-US" sz="900" dirty="0"/>
          </a:p>
        </p:txBody>
      </p:sp>
      <p:sp>
        <p:nvSpPr>
          <p:cNvPr id="18" name="Text 14"/>
          <p:cNvSpPr/>
          <p:nvPr/>
        </p:nvSpPr>
        <p:spPr>
          <a:xfrm>
            <a:off x="4660240" y="5633860"/>
            <a:ext cx="1234440" cy="457200"/>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AUC </a:t>
            </a:r>
            <a:r>
              <a:rPr lang="en-US" sz="1400" b="1" dirty="0">
                <a:solidFill>
                  <a:srgbClr val="D8432E"/>
                </a:solidFill>
                <a:latin typeface="Times New Roman" pitchFamily="34" charset="0"/>
                <a:ea typeface="Times New Roman" pitchFamily="34" charset="-122"/>
                <a:cs typeface="Times New Roman" pitchFamily="34" charset="-120"/>
              </a:rPr>
              <a:t>0.993</a:t>
            </a:r>
            <a:endParaRPr lang="en-US" sz="900" dirty="0"/>
          </a:p>
        </p:txBody>
      </p:sp>
      <p:sp>
        <p:nvSpPr>
          <p:cNvPr id="19" name="Shape 15"/>
          <p:cNvSpPr/>
          <p:nvPr/>
        </p:nvSpPr>
        <p:spPr>
          <a:xfrm>
            <a:off x="6205576" y="5249812"/>
            <a:ext cx="2651760" cy="960120"/>
          </a:xfrm>
          <a:prstGeom prst="roundRect">
            <a:avLst>
              <a:gd name="adj" fmla="val 8571"/>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0" name="Text 16"/>
          <p:cNvSpPr/>
          <p:nvPr/>
        </p:nvSpPr>
        <p:spPr>
          <a:xfrm>
            <a:off x="6342736" y="5322964"/>
            <a:ext cx="2377440" cy="274320"/>
          </a:xfrm>
          <a:prstGeom prst="rect">
            <a:avLst/>
          </a:prstGeom>
          <a:noFill/>
          <a:ln/>
        </p:spPr>
        <p:txBody>
          <a:bodyPr wrap="square" rtlCol="0" anchor="ctr"/>
          <a:lstStyle/>
          <a:p>
            <a:pPr marL="0" indent="0" algn="ctr">
              <a:buNone/>
            </a:pPr>
            <a:r>
              <a:rPr lang="en-US" sz="1150" b="1" dirty="0">
                <a:solidFill>
                  <a:srgbClr val="0B1E3D"/>
                </a:solidFill>
                <a:latin typeface="Times New Roman" pitchFamily="34" charset="0"/>
                <a:ea typeface="Times New Roman" pitchFamily="34" charset="-122"/>
                <a:cs typeface="Times New Roman" pitchFamily="34" charset="-120"/>
              </a:rPr>
              <a:t>Notumor</a:t>
            </a:r>
            <a:endParaRPr lang="en-US" sz="1150" dirty="0"/>
          </a:p>
        </p:txBody>
      </p:sp>
      <p:sp>
        <p:nvSpPr>
          <p:cNvPr id="21" name="Text 17"/>
          <p:cNvSpPr/>
          <p:nvPr/>
        </p:nvSpPr>
        <p:spPr>
          <a:xfrm>
            <a:off x="6297016" y="5633860"/>
            <a:ext cx="1234440" cy="457200"/>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AUC </a:t>
            </a:r>
            <a:r>
              <a:rPr lang="en-US" sz="1400" b="1" dirty="0">
                <a:solidFill>
                  <a:srgbClr val="158C94"/>
                </a:solidFill>
                <a:latin typeface="Times New Roman" pitchFamily="34" charset="0"/>
                <a:ea typeface="Times New Roman" pitchFamily="34" charset="-122"/>
                <a:cs typeface="Times New Roman" pitchFamily="34" charset="-120"/>
              </a:rPr>
              <a:t>0.999</a:t>
            </a:r>
            <a:endParaRPr lang="en-US" sz="900" dirty="0"/>
          </a:p>
        </p:txBody>
      </p:sp>
      <p:sp>
        <p:nvSpPr>
          <p:cNvPr id="22" name="Text 18"/>
          <p:cNvSpPr/>
          <p:nvPr/>
        </p:nvSpPr>
        <p:spPr>
          <a:xfrm>
            <a:off x="7531456" y="5633860"/>
            <a:ext cx="1234440" cy="457200"/>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AUC </a:t>
            </a:r>
            <a:r>
              <a:rPr lang="en-US" sz="1400" b="1" dirty="0">
                <a:solidFill>
                  <a:srgbClr val="D8432E"/>
                </a:solidFill>
                <a:latin typeface="Times New Roman" pitchFamily="34" charset="0"/>
                <a:ea typeface="Times New Roman" pitchFamily="34" charset="-122"/>
                <a:cs typeface="Times New Roman" pitchFamily="34" charset="-120"/>
              </a:rPr>
              <a:t>1.000</a:t>
            </a:r>
            <a:endParaRPr lang="en-US" sz="900" dirty="0"/>
          </a:p>
        </p:txBody>
      </p:sp>
      <p:sp>
        <p:nvSpPr>
          <p:cNvPr id="23" name="Shape 19"/>
          <p:cNvSpPr/>
          <p:nvPr/>
        </p:nvSpPr>
        <p:spPr>
          <a:xfrm>
            <a:off x="9076792" y="5249812"/>
            <a:ext cx="2651760" cy="960120"/>
          </a:xfrm>
          <a:prstGeom prst="roundRect">
            <a:avLst>
              <a:gd name="adj" fmla="val 8571"/>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4" name="Text 20"/>
          <p:cNvSpPr/>
          <p:nvPr/>
        </p:nvSpPr>
        <p:spPr>
          <a:xfrm>
            <a:off x="9213952" y="5322964"/>
            <a:ext cx="2377440" cy="274320"/>
          </a:xfrm>
          <a:prstGeom prst="rect">
            <a:avLst/>
          </a:prstGeom>
          <a:noFill/>
          <a:ln/>
        </p:spPr>
        <p:txBody>
          <a:bodyPr wrap="square" rtlCol="0" anchor="ctr"/>
          <a:lstStyle/>
          <a:p>
            <a:pPr marL="0" indent="0" algn="ctr">
              <a:buNone/>
            </a:pPr>
            <a:r>
              <a:rPr lang="en-US" sz="1150" b="1" dirty="0">
                <a:solidFill>
                  <a:srgbClr val="0B1E3D"/>
                </a:solidFill>
                <a:latin typeface="Times New Roman" pitchFamily="34" charset="0"/>
                <a:ea typeface="Times New Roman" pitchFamily="34" charset="-122"/>
                <a:cs typeface="Times New Roman" pitchFamily="34" charset="-120"/>
              </a:rPr>
              <a:t>Pituitary</a:t>
            </a:r>
            <a:endParaRPr lang="en-US" sz="1150" dirty="0"/>
          </a:p>
        </p:txBody>
      </p:sp>
      <p:sp>
        <p:nvSpPr>
          <p:cNvPr id="25" name="Text 21"/>
          <p:cNvSpPr/>
          <p:nvPr/>
        </p:nvSpPr>
        <p:spPr>
          <a:xfrm>
            <a:off x="9168232" y="5633860"/>
            <a:ext cx="1234440" cy="457200"/>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AUC </a:t>
            </a:r>
            <a:r>
              <a:rPr lang="en-US" sz="1400" b="1" dirty="0">
                <a:solidFill>
                  <a:srgbClr val="158C94"/>
                </a:solidFill>
                <a:latin typeface="Times New Roman" pitchFamily="34" charset="0"/>
                <a:ea typeface="Times New Roman" pitchFamily="34" charset="-122"/>
                <a:cs typeface="Times New Roman" pitchFamily="34" charset="-120"/>
              </a:rPr>
              <a:t>1.000</a:t>
            </a:r>
            <a:endParaRPr lang="en-US" sz="900" dirty="0"/>
          </a:p>
        </p:txBody>
      </p:sp>
      <p:sp>
        <p:nvSpPr>
          <p:cNvPr id="26" name="Text 22"/>
          <p:cNvSpPr/>
          <p:nvPr/>
        </p:nvSpPr>
        <p:spPr>
          <a:xfrm>
            <a:off x="10402672" y="5633860"/>
            <a:ext cx="1234440" cy="457200"/>
          </a:xfrm>
          <a:prstGeom prst="rect">
            <a:avLst/>
          </a:prstGeom>
          <a:noFill/>
          <a:ln/>
        </p:spPr>
        <p:txBody>
          <a:bodyPr wrap="square" rtlCol="0" anchor="ctr"/>
          <a:lstStyle/>
          <a:p>
            <a:pPr marL="0" indent="0" algn="ctr">
              <a:buNone/>
            </a:pPr>
            <a:r>
              <a:rPr lang="en-US" sz="900" dirty="0">
                <a:solidFill>
                  <a:srgbClr val="8992A0"/>
                </a:solidFill>
                <a:latin typeface="Times New Roman" pitchFamily="34" charset="0"/>
                <a:ea typeface="Times New Roman" pitchFamily="34" charset="-122"/>
                <a:cs typeface="Times New Roman" pitchFamily="34" charset="-120"/>
              </a:rPr>
              <a:t>AUC </a:t>
            </a:r>
            <a:r>
              <a:rPr lang="en-US" sz="1400" b="1" dirty="0">
                <a:solidFill>
                  <a:srgbClr val="D8432E"/>
                </a:solidFill>
                <a:latin typeface="Times New Roman" pitchFamily="34" charset="0"/>
                <a:ea typeface="Times New Roman" pitchFamily="34" charset="-122"/>
                <a:cs typeface="Times New Roman" pitchFamily="34" charset="-120"/>
              </a:rPr>
              <a:t>1.000</a:t>
            </a:r>
            <a:endParaRPr lang="en-US" sz="900" dirty="0"/>
          </a:p>
        </p:txBody>
      </p:sp>
      <p:sp>
        <p:nvSpPr>
          <p:cNvPr id="27" name="Shape 23"/>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28" name="Text 24"/>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18</a:t>
            </a:r>
            <a:endParaRPr lang="en-US" sz="10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50677"/>
            <a:ext cx="566928" cy="292608"/>
          </a:xfrm>
          <a:prstGeom prst="roundRect">
            <a:avLst>
              <a:gd name="adj" fmla="val 50000"/>
            </a:avLst>
          </a:prstGeom>
          <a:solidFill>
            <a:srgbClr val="5B6472"/>
          </a:solidFill>
          <a:ln/>
        </p:spPr>
      </p:sp>
      <p:sp>
        <p:nvSpPr>
          <p:cNvPr id="5" name="Text 2"/>
          <p:cNvSpPr/>
          <p:nvPr/>
        </p:nvSpPr>
        <p:spPr>
          <a:xfrm>
            <a:off x="502920" y="950677"/>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04</a:t>
            </a:r>
            <a:endParaRPr lang="en-US" sz="1200" dirty="0"/>
          </a:p>
        </p:txBody>
      </p:sp>
      <p:sp>
        <p:nvSpPr>
          <p:cNvPr id="6" name="Text 3"/>
          <p:cNvSpPr/>
          <p:nvPr/>
        </p:nvSpPr>
        <p:spPr>
          <a:xfrm>
            <a:off x="1179576" y="950677"/>
            <a:ext cx="9601200" cy="292608"/>
          </a:xfrm>
          <a:prstGeom prst="rect">
            <a:avLst/>
          </a:prstGeom>
          <a:noFill/>
          <a:ln/>
        </p:spPr>
        <p:txBody>
          <a:bodyPr wrap="square" rtlCol="0" anchor="ctr"/>
          <a:lstStyle/>
          <a:p>
            <a:pPr marL="0" indent="0">
              <a:buNone/>
            </a:pPr>
            <a:r>
              <a:rPr lang="en-US" sz="1250" b="1" kern="0" spc="120" dirty="0">
                <a:solidFill>
                  <a:srgbClr val="5B6472"/>
                </a:solidFill>
                <a:latin typeface="Times New Roman" pitchFamily="34" charset="0"/>
                <a:ea typeface="Times New Roman" pitchFamily="34" charset="-122"/>
                <a:cs typeface="Times New Roman" pitchFamily="34" charset="-120"/>
              </a:rPr>
              <a:t>TRIỂN KHAI HỆ THỐNG</a:t>
            </a:r>
            <a:endParaRPr lang="en-US" sz="1250" dirty="0"/>
          </a:p>
        </p:txBody>
      </p:sp>
      <p:sp>
        <p:nvSpPr>
          <p:cNvPr id="7" name="Text 4"/>
          <p:cNvSpPr/>
          <p:nvPr/>
        </p:nvSpPr>
        <p:spPr>
          <a:xfrm>
            <a:off x="502920" y="1289005"/>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Từ mô hình đến sản phẩm demo</a:t>
            </a:r>
            <a:endParaRPr lang="en-US" sz="2500" dirty="0"/>
          </a:p>
        </p:txBody>
      </p:sp>
      <p:sp>
        <p:nvSpPr>
          <p:cNvPr id="8" name="Shape 5"/>
          <p:cNvSpPr/>
          <p:nvPr/>
        </p:nvSpPr>
        <p:spPr>
          <a:xfrm>
            <a:off x="861060" y="1849150"/>
            <a:ext cx="5074920" cy="914400"/>
          </a:xfrm>
          <a:prstGeom prst="roundRect">
            <a:avLst>
              <a:gd name="adj" fmla="val 9000"/>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9" name="Shape 6"/>
          <p:cNvSpPr/>
          <p:nvPr/>
        </p:nvSpPr>
        <p:spPr>
          <a:xfrm>
            <a:off x="1043940" y="2050318"/>
            <a:ext cx="512064" cy="512064"/>
          </a:xfrm>
          <a:prstGeom prst="ellipse">
            <a:avLst/>
          </a:prstGeom>
          <a:solidFill>
            <a:srgbClr val="5B6472"/>
          </a:solidFill>
          <a:ln/>
          <a:effectLst>
            <a:outerShdw blurRad="76200" dist="25400" dir="5400000" algn="bl" rotWithShape="0">
              <a:srgbClr val="1B3760">
                <a:alpha val="18000"/>
              </a:srgbClr>
            </a:outerShdw>
          </a:effectLst>
        </p:spPr>
      </p:sp>
      <p:pic>
        <p:nvPicPr>
          <p:cNvPr id="10" name="Image 1" descr="/home/claude/work/build/server_white.png"/>
          <p:cNvPicPr>
            <a:picLocks noChangeAspect="1"/>
          </p:cNvPicPr>
          <p:nvPr/>
        </p:nvPicPr>
        <p:blipFill>
          <a:blip r:embed="rId3"/>
          <a:stretch>
            <a:fillRect/>
          </a:stretch>
        </p:blipFill>
        <p:spPr>
          <a:xfrm>
            <a:off x="1171956" y="2178334"/>
            <a:ext cx="256032" cy="256032"/>
          </a:xfrm>
          <a:prstGeom prst="rect">
            <a:avLst/>
          </a:prstGeom>
        </p:spPr>
      </p:pic>
      <p:sp>
        <p:nvSpPr>
          <p:cNvPr id="11" name="Text 7"/>
          <p:cNvSpPr/>
          <p:nvPr/>
        </p:nvSpPr>
        <p:spPr>
          <a:xfrm>
            <a:off x="1702308" y="1940590"/>
            <a:ext cx="4069080" cy="329184"/>
          </a:xfrm>
          <a:prstGeom prst="rect">
            <a:avLst/>
          </a:prstGeom>
          <a:noFill/>
          <a:ln/>
        </p:spPr>
        <p:txBody>
          <a:bodyPr wrap="square" rtlCol="0" anchor="b"/>
          <a:lstStyle/>
          <a:p>
            <a:pPr marL="0" indent="0">
              <a:buNone/>
            </a:pPr>
            <a:r>
              <a:rPr lang="en-US" sz="1300" b="1" dirty="0">
                <a:solidFill>
                  <a:srgbClr val="0B1E3D"/>
                </a:solidFill>
                <a:latin typeface="Times New Roman" pitchFamily="34" charset="0"/>
                <a:ea typeface="Times New Roman" pitchFamily="34" charset="-122"/>
                <a:cs typeface="Times New Roman" pitchFamily="34" charset="-120"/>
              </a:rPr>
              <a:t>FastAPI Backend</a:t>
            </a:r>
            <a:endParaRPr lang="en-US" sz="1300" dirty="0"/>
          </a:p>
        </p:txBody>
      </p:sp>
      <p:sp>
        <p:nvSpPr>
          <p:cNvPr id="12" name="Text 8"/>
          <p:cNvSpPr/>
          <p:nvPr/>
        </p:nvSpPr>
        <p:spPr>
          <a:xfrm>
            <a:off x="1702308" y="2269774"/>
            <a:ext cx="4069080" cy="438912"/>
          </a:xfrm>
          <a:prstGeom prst="rect">
            <a:avLst/>
          </a:prstGeom>
          <a:noFill/>
          <a:ln/>
        </p:spPr>
        <p:txBody>
          <a:bodyPr wrap="square" rtlCol="0" anchor="t"/>
          <a:lstStyle/>
          <a:p>
            <a:pPr marL="0" indent="0">
              <a:lnSpc>
                <a:spcPct val="112000"/>
              </a:lnSpc>
              <a:buNone/>
            </a:pPr>
            <a:r>
              <a:rPr lang="en-US" sz="1030" dirty="0">
                <a:solidFill>
                  <a:srgbClr val="5B6472"/>
                </a:solidFill>
                <a:latin typeface="Times New Roman" pitchFamily="34" charset="0"/>
                <a:ea typeface="Times New Roman" pitchFamily="34" charset="-122"/>
                <a:cs typeface="Times New Roman" pitchFamily="34" charset="-120"/>
              </a:rPr>
              <a:t>REST API — /predict trả nhãn, xác suất &amp; Grad-CAM (Base64)</a:t>
            </a:r>
            <a:endParaRPr lang="en-US" sz="1030" dirty="0"/>
          </a:p>
        </p:txBody>
      </p:sp>
      <p:sp>
        <p:nvSpPr>
          <p:cNvPr id="13" name="Shape 9"/>
          <p:cNvSpPr/>
          <p:nvPr/>
        </p:nvSpPr>
        <p:spPr>
          <a:xfrm>
            <a:off x="6256020" y="1849150"/>
            <a:ext cx="5074920" cy="914400"/>
          </a:xfrm>
          <a:prstGeom prst="roundRect">
            <a:avLst>
              <a:gd name="adj" fmla="val 9000"/>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4" name="Shape 10"/>
          <p:cNvSpPr/>
          <p:nvPr/>
        </p:nvSpPr>
        <p:spPr>
          <a:xfrm>
            <a:off x="6438900" y="2050318"/>
            <a:ext cx="512064" cy="512064"/>
          </a:xfrm>
          <a:prstGeom prst="ellipse">
            <a:avLst/>
          </a:prstGeom>
          <a:solidFill>
            <a:srgbClr val="5B6472"/>
          </a:solidFill>
          <a:ln/>
          <a:effectLst>
            <a:outerShdw blurRad="76200" dist="25400" dir="5400000" algn="bl" rotWithShape="0">
              <a:srgbClr val="1B3760">
                <a:alpha val="18000"/>
              </a:srgbClr>
            </a:outerShdw>
          </a:effectLst>
        </p:spPr>
      </p:sp>
      <p:pic>
        <p:nvPicPr>
          <p:cNvPr id="15" name="Image 2" descr="/home/claude/work/build/desktop_white.png"/>
          <p:cNvPicPr>
            <a:picLocks noChangeAspect="1"/>
          </p:cNvPicPr>
          <p:nvPr/>
        </p:nvPicPr>
        <p:blipFill>
          <a:blip r:embed="rId4"/>
          <a:stretch>
            <a:fillRect/>
          </a:stretch>
        </p:blipFill>
        <p:spPr>
          <a:xfrm>
            <a:off x="6566916" y="2178334"/>
            <a:ext cx="256032" cy="256032"/>
          </a:xfrm>
          <a:prstGeom prst="rect">
            <a:avLst/>
          </a:prstGeom>
        </p:spPr>
      </p:pic>
      <p:sp>
        <p:nvSpPr>
          <p:cNvPr id="16" name="Text 11"/>
          <p:cNvSpPr/>
          <p:nvPr/>
        </p:nvSpPr>
        <p:spPr>
          <a:xfrm>
            <a:off x="7097268" y="1940590"/>
            <a:ext cx="4069080" cy="329184"/>
          </a:xfrm>
          <a:prstGeom prst="rect">
            <a:avLst/>
          </a:prstGeom>
          <a:noFill/>
          <a:ln/>
        </p:spPr>
        <p:txBody>
          <a:bodyPr wrap="square" rtlCol="0" anchor="b"/>
          <a:lstStyle/>
          <a:p>
            <a:pPr marL="0" indent="0">
              <a:buNone/>
            </a:pPr>
            <a:r>
              <a:rPr lang="en-US" sz="1300" b="1" dirty="0">
                <a:solidFill>
                  <a:srgbClr val="0B1E3D"/>
                </a:solidFill>
                <a:latin typeface="Times New Roman" pitchFamily="34" charset="0"/>
                <a:ea typeface="Times New Roman" pitchFamily="34" charset="-122"/>
                <a:cs typeface="Times New Roman" pitchFamily="34" charset="-120"/>
              </a:rPr>
              <a:t>Next.js Frontend</a:t>
            </a:r>
            <a:endParaRPr lang="en-US" sz="1300" dirty="0"/>
          </a:p>
        </p:txBody>
      </p:sp>
      <p:sp>
        <p:nvSpPr>
          <p:cNvPr id="17" name="Text 12"/>
          <p:cNvSpPr/>
          <p:nvPr/>
        </p:nvSpPr>
        <p:spPr>
          <a:xfrm>
            <a:off x="7097268" y="2269774"/>
            <a:ext cx="4069080" cy="438912"/>
          </a:xfrm>
          <a:prstGeom prst="rect">
            <a:avLst/>
          </a:prstGeom>
          <a:noFill/>
          <a:ln/>
        </p:spPr>
        <p:txBody>
          <a:bodyPr wrap="square" rtlCol="0" anchor="t"/>
          <a:lstStyle/>
          <a:p>
            <a:pPr marL="0" indent="0">
              <a:lnSpc>
                <a:spcPct val="112000"/>
              </a:lnSpc>
              <a:buNone/>
            </a:pPr>
            <a:r>
              <a:rPr lang="en-US" sz="1030" dirty="0">
                <a:solidFill>
                  <a:srgbClr val="5B6472"/>
                </a:solidFill>
                <a:latin typeface="Times New Roman" pitchFamily="34" charset="0"/>
                <a:ea typeface="Times New Roman" pitchFamily="34" charset="-122"/>
                <a:cs typeface="Times New Roman" pitchFamily="34" charset="-120"/>
              </a:rPr>
              <a:t>App Router + Tailwind CSS — upload, xem trước, hiển thị kết quả</a:t>
            </a:r>
            <a:endParaRPr lang="en-US" sz="1030" dirty="0"/>
          </a:p>
        </p:txBody>
      </p:sp>
      <p:sp>
        <p:nvSpPr>
          <p:cNvPr id="18" name="Shape 13"/>
          <p:cNvSpPr/>
          <p:nvPr/>
        </p:nvSpPr>
        <p:spPr>
          <a:xfrm>
            <a:off x="861060" y="2964718"/>
            <a:ext cx="5074920" cy="914400"/>
          </a:xfrm>
          <a:prstGeom prst="roundRect">
            <a:avLst>
              <a:gd name="adj" fmla="val 9000"/>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9" name="Shape 14"/>
          <p:cNvSpPr/>
          <p:nvPr/>
        </p:nvSpPr>
        <p:spPr>
          <a:xfrm>
            <a:off x="1043940" y="3165886"/>
            <a:ext cx="512064" cy="512064"/>
          </a:xfrm>
          <a:prstGeom prst="ellipse">
            <a:avLst/>
          </a:prstGeom>
          <a:solidFill>
            <a:srgbClr val="5B6472"/>
          </a:solidFill>
          <a:ln/>
          <a:effectLst>
            <a:outerShdw blurRad="76200" dist="25400" dir="5400000" algn="bl" rotWithShape="0">
              <a:srgbClr val="1B3760">
                <a:alpha val="18000"/>
              </a:srgbClr>
            </a:outerShdw>
          </a:effectLst>
        </p:spPr>
      </p:sp>
      <p:pic>
        <p:nvPicPr>
          <p:cNvPr id="20" name="Image 3" descr="/home/claude/work/build/docker_white.png"/>
          <p:cNvPicPr>
            <a:picLocks noChangeAspect="1"/>
          </p:cNvPicPr>
          <p:nvPr/>
        </p:nvPicPr>
        <p:blipFill>
          <a:blip r:embed="rId5"/>
          <a:stretch>
            <a:fillRect/>
          </a:stretch>
        </p:blipFill>
        <p:spPr>
          <a:xfrm>
            <a:off x="1171956" y="3293902"/>
            <a:ext cx="256032" cy="256032"/>
          </a:xfrm>
          <a:prstGeom prst="rect">
            <a:avLst/>
          </a:prstGeom>
        </p:spPr>
      </p:pic>
      <p:sp>
        <p:nvSpPr>
          <p:cNvPr id="21" name="Text 15"/>
          <p:cNvSpPr/>
          <p:nvPr/>
        </p:nvSpPr>
        <p:spPr>
          <a:xfrm>
            <a:off x="1702308" y="3056158"/>
            <a:ext cx="4069080" cy="329184"/>
          </a:xfrm>
          <a:prstGeom prst="rect">
            <a:avLst/>
          </a:prstGeom>
          <a:noFill/>
          <a:ln/>
        </p:spPr>
        <p:txBody>
          <a:bodyPr wrap="square" rtlCol="0" anchor="b"/>
          <a:lstStyle/>
          <a:p>
            <a:pPr marL="0" indent="0">
              <a:buNone/>
            </a:pPr>
            <a:r>
              <a:rPr lang="en-US" sz="1300" b="1" dirty="0">
                <a:solidFill>
                  <a:srgbClr val="0B1E3D"/>
                </a:solidFill>
                <a:latin typeface="Times New Roman" pitchFamily="34" charset="0"/>
                <a:ea typeface="Times New Roman" pitchFamily="34" charset="-122"/>
                <a:cs typeface="Times New Roman" pitchFamily="34" charset="-120"/>
              </a:rPr>
              <a:t>Docker</a:t>
            </a:r>
            <a:endParaRPr lang="en-US" sz="1300" dirty="0"/>
          </a:p>
        </p:txBody>
      </p:sp>
      <p:sp>
        <p:nvSpPr>
          <p:cNvPr id="22" name="Text 16"/>
          <p:cNvSpPr/>
          <p:nvPr/>
        </p:nvSpPr>
        <p:spPr>
          <a:xfrm>
            <a:off x="1702308" y="3385342"/>
            <a:ext cx="4069080" cy="438912"/>
          </a:xfrm>
          <a:prstGeom prst="rect">
            <a:avLst/>
          </a:prstGeom>
          <a:noFill/>
          <a:ln/>
        </p:spPr>
        <p:txBody>
          <a:bodyPr wrap="square" rtlCol="0" anchor="t"/>
          <a:lstStyle/>
          <a:p>
            <a:pPr marL="0" indent="0">
              <a:lnSpc>
                <a:spcPct val="112000"/>
              </a:lnSpc>
              <a:buNone/>
            </a:pPr>
            <a:r>
              <a:rPr lang="en-US" sz="1030" dirty="0">
                <a:solidFill>
                  <a:srgbClr val="5B6472"/>
                </a:solidFill>
                <a:latin typeface="Times New Roman" pitchFamily="34" charset="0"/>
                <a:ea typeface="Times New Roman" pitchFamily="34" charset="-122"/>
                <a:cs typeface="Times New Roman" pitchFamily="34" charset="-120"/>
              </a:rPr>
              <a:t>docker-compose — khởi chạy toàn bộ hệ thống bằng 1 lệnh</a:t>
            </a:r>
            <a:endParaRPr lang="en-US" sz="1030" dirty="0"/>
          </a:p>
        </p:txBody>
      </p:sp>
      <p:sp>
        <p:nvSpPr>
          <p:cNvPr id="23" name="Shape 17"/>
          <p:cNvSpPr/>
          <p:nvPr/>
        </p:nvSpPr>
        <p:spPr>
          <a:xfrm>
            <a:off x="6256020" y="2964718"/>
            <a:ext cx="5074920" cy="914400"/>
          </a:xfrm>
          <a:prstGeom prst="roundRect">
            <a:avLst>
              <a:gd name="adj" fmla="val 9000"/>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4" name="Shape 18"/>
          <p:cNvSpPr/>
          <p:nvPr/>
        </p:nvSpPr>
        <p:spPr>
          <a:xfrm>
            <a:off x="6438900" y="3165886"/>
            <a:ext cx="512064" cy="512064"/>
          </a:xfrm>
          <a:prstGeom prst="ellipse">
            <a:avLst/>
          </a:prstGeom>
          <a:solidFill>
            <a:srgbClr val="5B6472"/>
          </a:solidFill>
          <a:ln/>
          <a:effectLst>
            <a:outerShdw blurRad="76200" dist="25400" dir="5400000" algn="bl" rotWithShape="0">
              <a:srgbClr val="1B3760">
                <a:alpha val="18000"/>
              </a:srgbClr>
            </a:outerShdw>
          </a:effectLst>
        </p:spPr>
      </p:sp>
      <p:pic>
        <p:nvPicPr>
          <p:cNvPr id="25" name="Image 4" descr="/home/claude/work/build/check_white.png"/>
          <p:cNvPicPr>
            <a:picLocks noChangeAspect="1"/>
          </p:cNvPicPr>
          <p:nvPr/>
        </p:nvPicPr>
        <p:blipFill>
          <a:blip r:embed="rId6"/>
          <a:stretch>
            <a:fillRect/>
          </a:stretch>
        </p:blipFill>
        <p:spPr>
          <a:xfrm>
            <a:off x="6566916" y="3293902"/>
            <a:ext cx="256032" cy="256032"/>
          </a:xfrm>
          <a:prstGeom prst="rect">
            <a:avLst/>
          </a:prstGeom>
        </p:spPr>
      </p:pic>
      <p:sp>
        <p:nvSpPr>
          <p:cNvPr id="26" name="Text 19"/>
          <p:cNvSpPr/>
          <p:nvPr/>
        </p:nvSpPr>
        <p:spPr>
          <a:xfrm>
            <a:off x="7097268" y="3056158"/>
            <a:ext cx="4069080" cy="329184"/>
          </a:xfrm>
          <a:prstGeom prst="rect">
            <a:avLst/>
          </a:prstGeom>
          <a:noFill/>
          <a:ln/>
        </p:spPr>
        <p:txBody>
          <a:bodyPr wrap="square" rtlCol="0" anchor="b"/>
          <a:lstStyle/>
          <a:p>
            <a:pPr marL="0" indent="0">
              <a:buNone/>
            </a:pPr>
            <a:r>
              <a:rPr lang="en-US" sz="1300" b="1" dirty="0">
                <a:solidFill>
                  <a:srgbClr val="0B1E3D"/>
                </a:solidFill>
                <a:latin typeface="Times New Roman" pitchFamily="34" charset="0"/>
                <a:ea typeface="Times New Roman" pitchFamily="34" charset="-122"/>
                <a:cs typeface="Times New Roman" pitchFamily="34" charset="-120"/>
              </a:rPr>
              <a:t>Pytest</a:t>
            </a:r>
            <a:endParaRPr lang="en-US" sz="1300" dirty="0"/>
          </a:p>
        </p:txBody>
      </p:sp>
      <p:sp>
        <p:nvSpPr>
          <p:cNvPr id="27" name="Text 20"/>
          <p:cNvSpPr/>
          <p:nvPr/>
        </p:nvSpPr>
        <p:spPr>
          <a:xfrm>
            <a:off x="7097268" y="3385342"/>
            <a:ext cx="4069080" cy="438912"/>
          </a:xfrm>
          <a:prstGeom prst="rect">
            <a:avLst/>
          </a:prstGeom>
          <a:noFill/>
          <a:ln/>
        </p:spPr>
        <p:txBody>
          <a:bodyPr wrap="square" rtlCol="0" anchor="t"/>
          <a:lstStyle/>
          <a:p>
            <a:pPr marL="0" indent="0">
              <a:lnSpc>
                <a:spcPct val="112000"/>
              </a:lnSpc>
              <a:buNone/>
            </a:pPr>
            <a:r>
              <a:rPr lang="en-US" sz="1030" dirty="0">
                <a:solidFill>
                  <a:srgbClr val="5B6472"/>
                </a:solidFill>
                <a:latin typeface="Times New Roman" pitchFamily="34" charset="0"/>
                <a:ea typeface="Times New Roman" pitchFamily="34" charset="-122"/>
                <a:cs typeface="Times New Roman" pitchFamily="34" charset="-120"/>
              </a:rPr>
              <a:t>6 file kiểm thử tự động — bao phủ toàn bộ pipeline</a:t>
            </a:r>
            <a:endParaRPr lang="en-US" sz="1030" dirty="0"/>
          </a:p>
        </p:txBody>
      </p:sp>
      <p:sp>
        <p:nvSpPr>
          <p:cNvPr id="30" name="Text 22"/>
          <p:cNvSpPr/>
          <p:nvPr/>
        </p:nvSpPr>
        <p:spPr>
          <a:xfrm>
            <a:off x="3837071" y="6391656"/>
            <a:ext cx="4517552" cy="274320"/>
          </a:xfrm>
          <a:prstGeom prst="rect">
            <a:avLst/>
          </a:prstGeom>
          <a:noFill/>
          <a:ln/>
        </p:spPr>
        <p:txBody>
          <a:bodyPr wrap="square" rtlCol="0" anchor="ctr"/>
          <a:lstStyle/>
          <a:p>
            <a:pPr marL="0" indent="0" algn="ctr">
              <a:buNone/>
            </a:pPr>
            <a:r>
              <a:rPr lang="en-US" sz="1050" i="1" dirty="0">
                <a:solidFill>
                  <a:srgbClr val="5B6472"/>
                </a:solidFill>
                <a:latin typeface="Times New Roman" pitchFamily="34" charset="0"/>
                <a:ea typeface="Times New Roman" pitchFamily="34" charset="-122"/>
                <a:cs typeface="Times New Roman" pitchFamily="34" charset="-120"/>
              </a:rPr>
              <a:t>Hình 4.1 — Giao diện phân tích ảnh MRI (NeuroScan Web Demo)</a:t>
            </a:r>
            <a:endParaRPr lang="en-US" sz="1050" dirty="0"/>
          </a:p>
        </p:txBody>
      </p:sp>
      <p:sp>
        <p:nvSpPr>
          <p:cNvPr id="31" name="Shape 23"/>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32" name="Text 24"/>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19</a:t>
            </a:r>
            <a:endParaRPr lang="en-US" sz="1000" dirty="0"/>
          </a:p>
        </p:txBody>
      </p:sp>
      <p:pic>
        <p:nvPicPr>
          <p:cNvPr id="2" name="Picture 1"/>
          <p:cNvPicPr>
            <a:picLocks noChangeAspect="1"/>
          </p:cNvPicPr>
          <p:nvPr/>
        </p:nvPicPr>
        <p:blipFill>
          <a:blip r:embed="rId7"/>
          <a:stretch>
            <a:fillRect/>
          </a:stretch>
        </p:blipFill>
        <p:spPr>
          <a:xfrm>
            <a:off x="3356600" y="3970558"/>
            <a:ext cx="5277949" cy="2405249"/>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998462"/>
            <a:ext cx="566928" cy="292608"/>
          </a:xfrm>
          <a:prstGeom prst="roundRect">
            <a:avLst>
              <a:gd name="adj" fmla="val 50000"/>
            </a:avLst>
          </a:prstGeom>
          <a:solidFill>
            <a:srgbClr val="C9960B"/>
          </a:solidFill>
          <a:ln/>
        </p:spPr>
      </p:sp>
      <p:sp>
        <p:nvSpPr>
          <p:cNvPr id="5" name="Text 2"/>
          <p:cNvSpPr/>
          <p:nvPr/>
        </p:nvSpPr>
        <p:spPr>
          <a:xfrm>
            <a:off x="502920" y="998462"/>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05</a:t>
            </a:r>
            <a:endParaRPr lang="en-US" sz="1200" dirty="0"/>
          </a:p>
        </p:txBody>
      </p:sp>
      <p:sp>
        <p:nvSpPr>
          <p:cNvPr id="6" name="Text 3"/>
          <p:cNvSpPr/>
          <p:nvPr/>
        </p:nvSpPr>
        <p:spPr>
          <a:xfrm>
            <a:off x="1179576" y="998462"/>
            <a:ext cx="9601200" cy="292608"/>
          </a:xfrm>
          <a:prstGeom prst="rect">
            <a:avLst/>
          </a:prstGeom>
          <a:noFill/>
          <a:ln/>
        </p:spPr>
        <p:txBody>
          <a:bodyPr wrap="square" rtlCol="0" anchor="ctr"/>
          <a:lstStyle/>
          <a:p>
            <a:pPr marL="0" indent="0">
              <a:buNone/>
            </a:pPr>
            <a:r>
              <a:rPr lang="en-US" sz="1250" b="1" kern="0" spc="120" dirty="0">
                <a:solidFill>
                  <a:srgbClr val="C9960B"/>
                </a:solidFill>
                <a:latin typeface="Times New Roman" pitchFamily="34" charset="0"/>
                <a:ea typeface="Times New Roman" pitchFamily="34" charset="-122"/>
                <a:cs typeface="Times New Roman" pitchFamily="34" charset="-120"/>
              </a:rPr>
              <a:t>ĐÁNH GIÁ, THẢO LUẬN &amp; HƯỚNG PHÁT TRIỂN</a:t>
            </a:r>
            <a:endParaRPr lang="en-US" sz="1250" dirty="0"/>
          </a:p>
        </p:txBody>
      </p:sp>
      <p:sp>
        <p:nvSpPr>
          <p:cNvPr id="7" name="Text 4"/>
          <p:cNvSpPr/>
          <p:nvPr/>
        </p:nvSpPr>
        <p:spPr>
          <a:xfrm>
            <a:off x="502920" y="1304431"/>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Điểm mạnh &amp; Hạn chế cần lưu ý</a:t>
            </a:r>
            <a:endParaRPr lang="en-US" sz="2500" dirty="0"/>
          </a:p>
        </p:txBody>
      </p:sp>
      <p:sp>
        <p:nvSpPr>
          <p:cNvPr id="8" name="Shape 5"/>
          <p:cNvSpPr/>
          <p:nvPr/>
        </p:nvSpPr>
        <p:spPr>
          <a:xfrm>
            <a:off x="502920" y="1819656"/>
            <a:ext cx="5257800" cy="4385201"/>
          </a:xfrm>
          <a:prstGeom prst="roundRect">
            <a:avLst>
              <a:gd name="adj" fmla="val 1923"/>
            </a:avLst>
          </a:prstGeom>
          <a:solidFill>
            <a:srgbClr val="FFFFFF"/>
          </a:solidFill>
          <a:ln w="12700">
            <a:solidFill>
              <a:srgbClr val="158C94"/>
            </a:solidFill>
            <a:prstDash val="solid"/>
          </a:ln>
          <a:effectLst>
            <a:outerShdw blurRad="101600" dist="25400" dir="5400000" algn="bl" rotWithShape="0">
              <a:srgbClr val="1B3760">
                <a:alpha val="10000"/>
              </a:srgbClr>
            </a:outerShdw>
          </a:effectLst>
        </p:spPr>
      </p:sp>
      <p:sp>
        <p:nvSpPr>
          <p:cNvPr id="9" name="Shape 6"/>
          <p:cNvSpPr/>
          <p:nvPr/>
        </p:nvSpPr>
        <p:spPr>
          <a:xfrm>
            <a:off x="777240" y="2093976"/>
            <a:ext cx="548640" cy="548640"/>
          </a:xfrm>
          <a:prstGeom prst="ellipse">
            <a:avLst/>
          </a:prstGeom>
          <a:solidFill>
            <a:srgbClr val="158C94"/>
          </a:solidFill>
          <a:ln/>
          <a:effectLst>
            <a:outerShdw blurRad="76200" dist="25400" dir="5400000" algn="bl" rotWithShape="0">
              <a:srgbClr val="1B3760">
                <a:alpha val="18000"/>
              </a:srgbClr>
            </a:outerShdw>
          </a:effectLst>
        </p:spPr>
      </p:sp>
      <p:pic>
        <p:nvPicPr>
          <p:cNvPr id="10" name="Image 1" descr="/home/claude/work/build/check_white.png"/>
          <p:cNvPicPr>
            <a:picLocks noChangeAspect="1"/>
          </p:cNvPicPr>
          <p:nvPr/>
        </p:nvPicPr>
        <p:blipFill>
          <a:blip r:embed="rId3"/>
          <a:stretch>
            <a:fillRect/>
          </a:stretch>
        </p:blipFill>
        <p:spPr>
          <a:xfrm>
            <a:off x="914400" y="2231136"/>
            <a:ext cx="274320" cy="274320"/>
          </a:xfrm>
          <a:prstGeom prst="rect">
            <a:avLst/>
          </a:prstGeom>
        </p:spPr>
      </p:pic>
      <p:sp>
        <p:nvSpPr>
          <p:cNvPr id="11" name="Text 7"/>
          <p:cNvSpPr/>
          <p:nvPr/>
        </p:nvSpPr>
        <p:spPr>
          <a:xfrm>
            <a:off x="1463040" y="2093976"/>
            <a:ext cx="4069080" cy="548640"/>
          </a:xfrm>
          <a:prstGeom prst="rect">
            <a:avLst/>
          </a:prstGeom>
          <a:noFill/>
          <a:ln/>
        </p:spPr>
        <p:txBody>
          <a:bodyPr wrap="square" rtlCol="0" anchor="ctr"/>
          <a:lstStyle/>
          <a:p>
            <a:pPr marL="0" indent="0">
              <a:buNone/>
            </a:pPr>
            <a:r>
              <a:rPr lang="en-US" sz="1650" b="1" dirty="0">
                <a:solidFill>
                  <a:srgbClr val="0B1E3D"/>
                </a:solidFill>
                <a:latin typeface="Times New Roman" pitchFamily="34" charset="0"/>
                <a:ea typeface="Times New Roman" pitchFamily="34" charset="-122"/>
                <a:cs typeface="Times New Roman" pitchFamily="34" charset="-120"/>
              </a:rPr>
              <a:t>Điểm mạnh</a:t>
            </a:r>
            <a:endParaRPr lang="en-US" sz="1650" dirty="0"/>
          </a:p>
        </p:txBody>
      </p:sp>
      <p:sp>
        <p:nvSpPr>
          <p:cNvPr id="12" name="Shape 8"/>
          <p:cNvSpPr/>
          <p:nvPr/>
        </p:nvSpPr>
        <p:spPr>
          <a:xfrm>
            <a:off x="822960" y="2889504"/>
            <a:ext cx="82296" cy="82296"/>
          </a:xfrm>
          <a:prstGeom prst="ellipse">
            <a:avLst/>
          </a:prstGeom>
          <a:solidFill>
            <a:srgbClr val="158C94"/>
          </a:solidFill>
          <a:ln/>
        </p:spPr>
      </p:sp>
      <p:sp>
        <p:nvSpPr>
          <p:cNvPr id="13" name="Text 9"/>
          <p:cNvSpPr/>
          <p:nvPr/>
        </p:nvSpPr>
        <p:spPr>
          <a:xfrm>
            <a:off x="1051560" y="2752344"/>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Chiến lược 2-phase transfer learning đúng chuẩn, ổn định.</a:t>
            </a:r>
            <a:endParaRPr lang="en-US" sz="1200" dirty="0"/>
          </a:p>
        </p:txBody>
      </p:sp>
      <p:sp>
        <p:nvSpPr>
          <p:cNvPr id="14" name="Shape 10"/>
          <p:cNvSpPr/>
          <p:nvPr/>
        </p:nvSpPr>
        <p:spPr>
          <a:xfrm>
            <a:off x="822960" y="3493008"/>
            <a:ext cx="82296" cy="82296"/>
          </a:xfrm>
          <a:prstGeom prst="ellipse">
            <a:avLst/>
          </a:prstGeom>
          <a:solidFill>
            <a:srgbClr val="158C94"/>
          </a:solidFill>
          <a:ln/>
        </p:spPr>
      </p:sp>
      <p:sp>
        <p:nvSpPr>
          <p:cNvPr id="15" name="Text 11"/>
          <p:cNvSpPr/>
          <p:nvPr/>
        </p:nvSpPr>
        <p:spPr>
          <a:xfrm>
            <a:off x="1051560" y="3355848"/>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Dữ liệu huấn luyện cân bằng tuyệt đối giữa 4 lớp.</a:t>
            </a:r>
            <a:endParaRPr lang="en-US" sz="1200" dirty="0"/>
          </a:p>
        </p:txBody>
      </p:sp>
      <p:sp>
        <p:nvSpPr>
          <p:cNvPr id="16" name="Shape 12"/>
          <p:cNvSpPr/>
          <p:nvPr/>
        </p:nvSpPr>
        <p:spPr>
          <a:xfrm>
            <a:off x="822960" y="4096512"/>
            <a:ext cx="82296" cy="82296"/>
          </a:xfrm>
          <a:prstGeom prst="ellipse">
            <a:avLst/>
          </a:prstGeom>
          <a:solidFill>
            <a:srgbClr val="158C94"/>
          </a:solidFill>
          <a:ln/>
        </p:spPr>
      </p:sp>
      <p:sp>
        <p:nvSpPr>
          <p:cNvPr id="17" name="Text 13"/>
          <p:cNvSpPr/>
          <p:nvPr/>
        </p:nvSpPr>
        <p:spPr>
          <a:xfrm>
            <a:off x="1051560" y="3959352"/>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Macro AUC-ROC &gt; 98.8% ở cả hai mô hình.</a:t>
            </a:r>
            <a:endParaRPr lang="en-US" sz="1200" dirty="0"/>
          </a:p>
        </p:txBody>
      </p:sp>
      <p:sp>
        <p:nvSpPr>
          <p:cNvPr id="18" name="Shape 14"/>
          <p:cNvSpPr/>
          <p:nvPr/>
        </p:nvSpPr>
        <p:spPr>
          <a:xfrm>
            <a:off x="822960" y="4700016"/>
            <a:ext cx="82296" cy="82296"/>
          </a:xfrm>
          <a:prstGeom prst="ellipse">
            <a:avLst/>
          </a:prstGeom>
          <a:solidFill>
            <a:srgbClr val="158C94"/>
          </a:solidFill>
          <a:ln/>
        </p:spPr>
      </p:sp>
      <p:sp>
        <p:nvSpPr>
          <p:cNvPr id="19" name="Text 15"/>
          <p:cNvSpPr/>
          <p:nvPr/>
        </p:nvSpPr>
        <p:spPr>
          <a:xfrm>
            <a:off x="1051560" y="4562856"/>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Đánh giá nghiêm túc trên tập test độc lập (1.600 ảnh).</a:t>
            </a:r>
            <a:endParaRPr lang="en-US" sz="1200" dirty="0"/>
          </a:p>
        </p:txBody>
      </p:sp>
      <p:sp>
        <p:nvSpPr>
          <p:cNvPr id="20" name="Shape 16"/>
          <p:cNvSpPr/>
          <p:nvPr/>
        </p:nvSpPr>
        <p:spPr>
          <a:xfrm>
            <a:off x="822960" y="5303520"/>
            <a:ext cx="82296" cy="82296"/>
          </a:xfrm>
          <a:prstGeom prst="ellipse">
            <a:avLst/>
          </a:prstGeom>
          <a:solidFill>
            <a:srgbClr val="158C94"/>
          </a:solidFill>
          <a:ln/>
        </p:spPr>
      </p:sp>
      <p:sp>
        <p:nvSpPr>
          <p:cNvPr id="21" name="Text 17"/>
          <p:cNvSpPr/>
          <p:nvPr/>
        </p:nvSpPr>
        <p:spPr>
          <a:xfrm>
            <a:off x="1051560" y="5166360"/>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Tích hợp Explainable AI (Grad-CAM) hỗ trợ tin cậy lâm sàng.</a:t>
            </a:r>
            <a:endParaRPr lang="en-US" sz="1200" dirty="0"/>
          </a:p>
        </p:txBody>
      </p:sp>
      <p:sp>
        <p:nvSpPr>
          <p:cNvPr id="22" name="Shape 18"/>
          <p:cNvSpPr/>
          <p:nvPr/>
        </p:nvSpPr>
        <p:spPr>
          <a:xfrm>
            <a:off x="822960" y="5907024"/>
            <a:ext cx="82296" cy="82296"/>
          </a:xfrm>
          <a:prstGeom prst="ellipse">
            <a:avLst/>
          </a:prstGeom>
          <a:solidFill>
            <a:srgbClr val="158C94"/>
          </a:solidFill>
          <a:ln/>
        </p:spPr>
      </p:sp>
      <p:sp>
        <p:nvSpPr>
          <p:cNvPr id="23" name="Text 19"/>
          <p:cNvSpPr/>
          <p:nvPr/>
        </p:nvSpPr>
        <p:spPr>
          <a:xfrm>
            <a:off x="1051560" y="5769864"/>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Kiến trúc module hoá, có bộ kiểm thử (pytest) tự động.</a:t>
            </a:r>
            <a:endParaRPr lang="en-US" sz="1200" dirty="0"/>
          </a:p>
        </p:txBody>
      </p:sp>
      <p:sp>
        <p:nvSpPr>
          <p:cNvPr id="24" name="Shape 20"/>
          <p:cNvSpPr/>
          <p:nvPr/>
        </p:nvSpPr>
        <p:spPr>
          <a:xfrm>
            <a:off x="6217920" y="1819656"/>
            <a:ext cx="5257800" cy="4385201"/>
          </a:xfrm>
          <a:prstGeom prst="roundRect">
            <a:avLst>
              <a:gd name="adj" fmla="val 1923"/>
            </a:avLst>
          </a:prstGeom>
          <a:solidFill>
            <a:srgbClr val="FFFFFF"/>
          </a:solidFill>
          <a:ln w="12700">
            <a:solidFill>
              <a:srgbClr val="D8432E"/>
            </a:solidFill>
            <a:prstDash val="solid"/>
          </a:ln>
          <a:effectLst>
            <a:outerShdw blurRad="101600" dist="25400" dir="5400000" algn="bl" rotWithShape="0">
              <a:srgbClr val="1B3760">
                <a:alpha val="10000"/>
              </a:srgbClr>
            </a:outerShdw>
          </a:effectLst>
        </p:spPr>
      </p:sp>
      <p:sp>
        <p:nvSpPr>
          <p:cNvPr id="25" name="Shape 21"/>
          <p:cNvSpPr/>
          <p:nvPr/>
        </p:nvSpPr>
        <p:spPr>
          <a:xfrm>
            <a:off x="6492240" y="2093976"/>
            <a:ext cx="548640" cy="548640"/>
          </a:xfrm>
          <a:prstGeom prst="ellipse">
            <a:avLst/>
          </a:prstGeom>
          <a:solidFill>
            <a:srgbClr val="D8432E"/>
          </a:solidFill>
          <a:ln/>
          <a:effectLst>
            <a:outerShdw blurRad="76200" dist="25400" dir="5400000" algn="bl" rotWithShape="0">
              <a:srgbClr val="1B3760">
                <a:alpha val="18000"/>
              </a:srgbClr>
            </a:outerShdw>
          </a:effectLst>
        </p:spPr>
      </p:sp>
      <p:pic>
        <p:nvPicPr>
          <p:cNvPr id="26" name="Image 2" descr="/home/claude/work/build/warn_white.png"/>
          <p:cNvPicPr>
            <a:picLocks noChangeAspect="1"/>
          </p:cNvPicPr>
          <p:nvPr/>
        </p:nvPicPr>
        <p:blipFill>
          <a:blip r:embed="rId4"/>
          <a:stretch>
            <a:fillRect/>
          </a:stretch>
        </p:blipFill>
        <p:spPr>
          <a:xfrm>
            <a:off x="6629400" y="2231136"/>
            <a:ext cx="274320" cy="274320"/>
          </a:xfrm>
          <a:prstGeom prst="rect">
            <a:avLst/>
          </a:prstGeom>
        </p:spPr>
      </p:pic>
      <p:sp>
        <p:nvSpPr>
          <p:cNvPr id="27" name="Text 22"/>
          <p:cNvSpPr/>
          <p:nvPr/>
        </p:nvSpPr>
        <p:spPr>
          <a:xfrm>
            <a:off x="7178040" y="2093976"/>
            <a:ext cx="4069080" cy="548640"/>
          </a:xfrm>
          <a:prstGeom prst="rect">
            <a:avLst/>
          </a:prstGeom>
          <a:noFill/>
          <a:ln/>
        </p:spPr>
        <p:txBody>
          <a:bodyPr wrap="square" rtlCol="0" anchor="ctr"/>
          <a:lstStyle/>
          <a:p>
            <a:pPr marL="0" indent="0">
              <a:buNone/>
            </a:pPr>
            <a:r>
              <a:rPr lang="en-US" sz="1650" b="1" dirty="0">
                <a:solidFill>
                  <a:srgbClr val="0B1E3D"/>
                </a:solidFill>
                <a:latin typeface="Times New Roman" pitchFamily="34" charset="0"/>
                <a:ea typeface="Times New Roman" pitchFamily="34" charset="-122"/>
                <a:cs typeface="Times New Roman" pitchFamily="34" charset="-120"/>
              </a:rPr>
              <a:t>Hạn chế / Rủi ro lâm sàng</a:t>
            </a:r>
            <a:endParaRPr lang="en-US" sz="1650" dirty="0"/>
          </a:p>
        </p:txBody>
      </p:sp>
      <p:sp>
        <p:nvSpPr>
          <p:cNvPr id="28" name="Shape 23"/>
          <p:cNvSpPr/>
          <p:nvPr/>
        </p:nvSpPr>
        <p:spPr>
          <a:xfrm>
            <a:off x="6537960" y="2889504"/>
            <a:ext cx="82296" cy="82296"/>
          </a:xfrm>
          <a:prstGeom prst="ellipse">
            <a:avLst/>
          </a:prstGeom>
          <a:solidFill>
            <a:srgbClr val="D8432E"/>
          </a:solidFill>
          <a:ln/>
        </p:spPr>
      </p:sp>
      <p:sp>
        <p:nvSpPr>
          <p:cNvPr id="29" name="Text 24"/>
          <p:cNvSpPr/>
          <p:nvPr/>
        </p:nvSpPr>
        <p:spPr>
          <a:xfrm>
            <a:off x="6766560" y="2752344"/>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Generalization gap Val → Test khoảng 4–4.5%.</a:t>
            </a:r>
            <a:endParaRPr lang="en-US" sz="1200" dirty="0"/>
          </a:p>
        </p:txBody>
      </p:sp>
      <p:sp>
        <p:nvSpPr>
          <p:cNvPr id="30" name="Shape 25"/>
          <p:cNvSpPr/>
          <p:nvPr/>
        </p:nvSpPr>
        <p:spPr>
          <a:xfrm>
            <a:off x="6537960" y="3493008"/>
            <a:ext cx="82296" cy="82296"/>
          </a:xfrm>
          <a:prstGeom prst="ellipse">
            <a:avLst/>
          </a:prstGeom>
          <a:solidFill>
            <a:srgbClr val="D8432E"/>
          </a:solidFill>
          <a:ln/>
        </p:spPr>
      </p:sp>
      <p:sp>
        <p:nvSpPr>
          <p:cNvPr id="31" name="Text 26"/>
          <p:cNvSpPr/>
          <p:nvPr/>
        </p:nvSpPr>
        <p:spPr>
          <a:xfrm>
            <a:off x="6766560" y="3355848"/>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Recall Glioma thấp (~82%) — dễ bỏ sót ca bệnh thật.</a:t>
            </a:r>
            <a:endParaRPr lang="en-US" sz="1200" dirty="0"/>
          </a:p>
        </p:txBody>
      </p:sp>
      <p:sp>
        <p:nvSpPr>
          <p:cNvPr id="32" name="Shape 27"/>
          <p:cNvSpPr/>
          <p:nvPr/>
        </p:nvSpPr>
        <p:spPr>
          <a:xfrm>
            <a:off x="6537960" y="4096512"/>
            <a:ext cx="82296" cy="82296"/>
          </a:xfrm>
          <a:prstGeom prst="ellipse">
            <a:avLst/>
          </a:prstGeom>
          <a:solidFill>
            <a:srgbClr val="D8432E"/>
          </a:solidFill>
          <a:ln/>
        </p:spPr>
      </p:sp>
      <p:sp>
        <p:nvSpPr>
          <p:cNvPr id="33" name="Text 28"/>
          <p:cNvSpPr/>
          <p:nvPr/>
        </p:nvSpPr>
        <p:spPr>
          <a:xfrm>
            <a:off x="6766560" y="3959352"/>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Precision Notumor thấp (90.5–94.8%) — có thể báo nhầm khối u.</a:t>
            </a:r>
            <a:endParaRPr lang="en-US" sz="1200" dirty="0"/>
          </a:p>
        </p:txBody>
      </p:sp>
      <p:sp>
        <p:nvSpPr>
          <p:cNvPr id="34" name="Shape 29"/>
          <p:cNvSpPr/>
          <p:nvPr/>
        </p:nvSpPr>
        <p:spPr>
          <a:xfrm>
            <a:off x="6537960" y="4700016"/>
            <a:ext cx="82296" cy="82296"/>
          </a:xfrm>
          <a:prstGeom prst="ellipse">
            <a:avLst/>
          </a:prstGeom>
          <a:solidFill>
            <a:srgbClr val="D8432E"/>
          </a:solidFill>
          <a:ln/>
        </p:spPr>
      </p:sp>
      <p:sp>
        <p:nvSpPr>
          <p:cNvPr id="35" name="Text 30"/>
          <p:cNvSpPr/>
          <p:nvPr/>
        </p:nvSpPr>
        <p:spPr>
          <a:xfrm>
            <a:off x="6766560" y="4562856"/>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EfficientNetB0 bỏ lọt ~42 ca, DenseNet121 ~22 ca / 1.600 ảnh.</a:t>
            </a:r>
            <a:endParaRPr lang="en-US" sz="1200" dirty="0"/>
          </a:p>
        </p:txBody>
      </p:sp>
      <p:sp>
        <p:nvSpPr>
          <p:cNvPr id="36" name="Shape 31"/>
          <p:cNvSpPr/>
          <p:nvPr/>
        </p:nvSpPr>
        <p:spPr>
          <a:xfrm>
            <a:off x="6537960" y="5303520"/>
            <a:ext cx="82296" cy="82296"/>
          </a:xfrm>
          <a:prstGeom prst="ellipse">
            <a:avLst/>
          </a:prstGeom>
          <a:solidFill>
            <a:srgbClr val="D8432E"/>
          </a:solidFill>
          <a:ln/>
        </p:spPr>
      </p:sp>
      <p:sp>
        <p:nvSpPr>
          <p:cNvPr id="37" name="Text 32"/>
          <p:cNvSpPr/>
          <p:nvPr/>
        </p:nvSpPr>
        <p:spPr>
          <a:xfrm>
            <a:off x="6766560" y="5166360"/>
            <a:ext cx="4434840" cy="566928"/>
          </a:xfrm>
          <a:prstGeom prst="rect">
            <a:avLst/>
          </a:prstGeom>
          <a:noFill/>
          <a:ln/>
        </p:spPr>
        <p:txBody>
          <a:bodyPr wrap="square" rtlCol="0" anchor="t"/>
          <a:lstStyle/>
          <a:p>
            <a:pPr marL="0" indent="0">
              <a:lnSpc>
                <a:spcPct val="115000"/>
              </a:lnSpc>
              <a:buNone/>
            </a:pPr>
            <a:r>
              <a:rPr lang="en-US" sz="1200" dirty="0">
                <a:solidFill>
                  <a:srgbClr val="1C2430"/>
                </a:solidFill>
                <a:latin typeface="Times New Roman" pitchFamily="34" charset="0"/>
                <a:ea typeface="Times New Roman" pitchFamily="34" charset="-122"/>
                <a:cs typeface="Times New Roman" pitchFamily="34" charset="-120"/>
              </a:rPr>
              <a:t>DenseNet121 suy luận chậm hơn 9.4 lần (vẫn &lt; 1s/ảnh).</a:t>
            </a:r>
            <a:endParaRPr lang="en-US" sz="1200" dirty="0"/>
          </a:p>
        </p:txBody>
      </p:sp>
      <p:sp>
        <p:nvSpPr>
          <p:cNvPr id="38" name="Shape 33"/>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39" name="Text 34"/>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20</a:t>
            </a:r>
            <a:endParaRPr lang="en-US" sz="10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894807"/>
            <a:ext cx="566928" cy="292608"/>
          </a:xfrm>
          <a:prstGeom prst="roundRect">
            <a:avLst>
              <a:gd name="adj" fmla="val 50000"/>
            </a:avLst>
          </a:prstGeom>
          <a:solidFill>
            <a:srgbClr val="C9960B"/>
          </a:solidFill>
          <a:ln/>
        </p:spPr>
      </p:sp>
      <p:sp>
        <p:nvSpPr>
          <p:cNvPr id="5" name="Text 2"/>
          <p:cNvSpPr/>
          <p:nvPr/>
        </p:nvSpPr>
        <p:spPr>
          <a:xfrm>
            <a:off x="502920" y="894807"/>
            <a:ext cx="566928" cy="292608"/>
          </a:xfrm>
          <a:prstGeom prst="rect">
            <a:avLst/>
          </a:prstGeom>
          <a:no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05</a:t>
            </a:r>
            <a:endParaRPr lang="en-US" sz="1200" dirty="0"/>
          </a:p>
        </p:txBody>
      </p:sp>
      <p:sp>
        <p:nvSpPr>
          <p:cNvPr id="6" name="Text 3"/>
          <p:cNvSpPr/>
          <p:nvPr/>
        </p:nvSpPr>
        <p:spPr>
          <a:xfrm>
            <a:off x="1179576" y="894807"/>
            <a:ext cx="9601200" cy="292608"/>
          </a:xfrm>
          <a:prstGeom prst="rect">
            <a:avLst/>
          </a:prstGeom>
          <a:noFill/>
          <a:ln/>
        </p:spPr>
        <p:txBody>
          <a:bodyPr wrap="square" rtlCol="0" anchor="ctr"/>
          <a:lstStyle/>
          <a:p>
            <a:pPr marL="0" indent="0">
              <a:buNone/>
            </a:pPr>
            <a:r>
              <a:rPr lang="en-US" sz="1250" b="1" kern="0" spc="120" dirty="0">
                <a:solidFill>
                  <a:srgbClr val="C9960B"/>
                </a:solidFill>
                <a:latin typeface="Times New Roman" pitchFamily="34" charset="0"/>
                <a:ea typeface="Times New Roman" pitchFamily="34" charset="-122"/>
                <a:cs typeface="Times New Roman" pitchFamily="34" charset="-120"/>
              </a:rPr>
              <a:t>ĐÁNH GIÁ, THẢO LUẬN &amp; HƯỚNG PHÁT TRIỂN</a:t>
            </a:r>
            <a:endParaRPr lang="en-US" sz="1250" dirty="0"/>
          </a:p>
        </p:txBody>
      </p:sp>
      <p:sp>
        <p:nvSpPr>
          <p:cNvPr id="7" name="Text 4"/>
          <p:cNvSpPr/>
          <p:nvPr/>
        </p:nvSpPr>
        <p:spPr>
          <a:xfrm>
            <a:off x="502920" y="1143000"/>
            <a:ext cx="11155680" cy="603504"/>
          </a:xfrm>
          <a:prstGeom prst="rect">
            <a:avLst/>
          </a:prstGeom>
          <a:noFill/>
          <a:ln/>
        </p:spPr>
        <p:txBody>
          <a:bodyPr wrap="square" rtlCol="0" anchor="t"/>
          <a:lstStyle/>
          <a:p>
            <a:pPr marL="0" indent="0">
              <a:lnSpc>
                <a:spcPct val="102000"/>
              </a:lnSpc>
              <a:buNone/>
            </a:pPr>
            <a:r>
              <a:rPr lang="en-US" sz="2500" b="1" dirty="0">
                <a:solidFill>
                  <a:srgbClr val="0B1E3D"/>
                </a:solidFill>
                <a:latin typeface="Times New Roman" pitchFamily="34" charset="0"/>
                <a:ea typeface="Times New Roman" pitchFamily="34" charset="-122"/>
                <a:cs typeface="Times New Roman" pitchFamily="34" charset="-120"/>
              </a:rPr>
              <a:t>Khuyến nghị mô hình &amp; hướng phát triển</a:t>
            </a:r>
            <a:endParaRPr lang="en-US" sz="2500" dirty="0"/>
          </a:p>
        </p:txBody>
      </p:sp>
      <p:sp>
        <p:nvSpPr>
          <p:cNvPr id="8" name="Shape 5"/>
          <p:cNvSpPr/>
          <p:nvPr/>
        </p:nvSpPr>
        <p:spPr>
          <a:xfrm>
            <a:off x="502920" y="1819656"/>
            <a:ext cx="11183112" cy="1051560"/>
          </a:xfrm>
          <a:prstGeom prst="roundRect">
            <a:avLst>
              <a:gd name="adj" fmla="val 8696"/>
            </a:avLst>
          </a:prstGeom>
          <a:solidFill>
            <a:srgbClr val="FBF2DD"/>
          </a:solidFill>
          <a:ln w="12700">
            <a:solidFill>
              <a:srgbClr val="C9960B"/>
            </a:solidFill>
            <a:prstDash val="solid"/>
          </a:ln>
          <a:effectLst>
            <a:outerShdw blurRad="101600" dist="25400" dir="5400000" algn="bl" rotWithShape="0">
              <a:srgbClr val="1B3760">
                <a:alpha val="10000"/>
              </a:srgbClr>
            </a:outerShdw>
          </a:effectLst>
        </p:spPr>
      </p:sp>
      <p:sp>
        <p:nvSpPr>
          <p:cNvPr id="9" name="Shape 6"/>
          <p:cNvSpPr/>
          <p:nvPr/>
        </p:nvSpPr>
        <p:spPr>
          <a:xfrm>
            <a:off x="713232" y="2066544"/>
            <a:ext cx="548640" cy="548640"/>
          </a:xfrm>
          <a:prstGeom prst="ellipse">
            <a:avLst/>
          </a:prstGeom>
          <a:solidFill>
            <a:srgbClr val="C9960B"/>
          </a:solidFill>
          <a:ln/>
          <a:effectLst>
            <a:outerShdw blurRad="76200" dist="25400" dir="5400000" algn="bl" rotWithShape="0">
              <a:srgbClr val="1B3760">
                <a:alpha val="18000"/>
              </a:srgbClr>
            </a:outerShdw>
          </a:effectLst>
        </p:spPr>
      </p:sp>
      <p:pic>
        <p:nvPicPr>
          <p:cNvPr id="10" name="Image 1" descr="/home/claude/work/build/award_white.png"/>
          <p:cNvPicPr>
            <a:picLocks noChangeAspect="1"/>
          </p:cNvPicPr>
          <p:nvPr/>
        </p:nvPicPr>
        <p:blipFill>
          <a:blip r:embed="rId3"/>
          <a:stretch>
            <a:fillRect/>
          </a:stretch>
        </p:blipFill>
        <p:spPr>
          <a:xfrm>
            <a:off x="889581" y="2177578"/>
            <a:ext cx="274320" cy="274320"/>
          </a:xfrm>
          <a:prstGeom prst="rect">
            <a:avLst/>
          </a:prstGeom>
        </p:spPr>
      </p:pic>
      <p:sp>
        <p:nvSpPr>
          <p:cNvPr id="11" name="Text 7"/>
          <p:cNvSpPr/>
          <p:nvPr/>
        </p:nvSpPr>
        <p:spPr>
          <a:xfrm>
            <a:off x="1417320" y="1929384"/>
            <a:ext cx="10058400" cy="841248"/>
          </a:xfrm>
          <a:prstGeom prst="rect">
            <a:avLst/>
          </a:prstGeom>
          <a:noFill/>
          <a:ln/>
        </p:spPr>
        <p:txBody>
          <a:bodyPr wrap="square" rtlCol="0" anchor="ctr"/>
          <a:lstStyle/>
          <a:p>
            <a:pPr marL="0" indent="0">
              <a:lnSpc>
                <a:spcPct val="120000"/>
              </a:lnSpc>
              <a:buNone/>
            </a:pPr>
            <a:r>
              <a:rPr lang="en-US" sz="1230" b="1" dirty="0">
                <a:solidFill>
                  <a:srgbClr val="C9960B"/>
                </a:solidFill>
                <a:latin typeface="Times New Roman" pitchFamily="34" charset="0"/>
                <a:ea typeface="Times New Roman" pitchFamily="34" charset="-122"/>
                <a:cs typeface="Times New Roman" pitchFamily="34" charset="-120"/>
              </a:rPr>
              <a:t>Khuyến nghị:  </a:t>
            </a:r>
            <a:r>
              <a:rPr lang="en-US" sz="1230" dirty="0">
                <a:solidFill>
                  <a:srgbClr val="1C2430"/>
                </a:solidFill>
                <a:latin typeface="Times New Roman" pitchFamily="34" charset="0"/>
                <a:ea typeface="Times New Roman" pitchFamily="34" charset="-122"/>
                <a:cs typeface="Times New Roman" pitchFamily="34" charset="-120"/>
              </a:rPr>
              <a:t>Ưu tiên DenseNet121 cho triển khai thực tế — giảm gần một nửa số ca bỏ lọt khối u so với EfficientNetB0, trong khi đánh đổi tốc độ suy luận không đáng kể (0.28s so với 0.03s / ảnh).</a:t>
            </a:r>
            <a:endParaRPr lang="en-US" sz="1230" dirty="0"/>
          </a:p>
        </p:txBody>
      </p:sp>
      <p:sp>
        <p:nvSpPr>
          <p:cNvPr id="12" name="Shape 8"/>
          <p:cNvSpPr/>
          <p:nvPr/>
        </p:nvSpPr>
        <p:spPr>
          <a:xfrm>
            <a:off x="502920" y="3145536"/>
            <a:ext cx="5257800" cy="3429000"/>
          </a:xfrm>
          <a:prstGeom prst="roundRect">
            <a:avLst>
              <a:gd name="adj" fmla="val 2667"/>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13" name="Text 9"/>
          <p:cNvSpPr/>
          <p:nvPr/>
        </p:nvSpPr>
        <p:spPr>
          <a:xfrm>
            <a:off x="822960" y="3346704"/>
            <a:ext cx="4617720" cy="365760"/>
          </a:xfrm>
          <a:prstGeom prst="rect">
            <a:avLst/>
          </a:prstGeom>
          <a:noFill/>
          <a:ln/>
        </p:spPr>
        <p:txBody>
          <a:bodyPr wrap="square" rtlCol="0" anchor="ctr"/>
          <a:lstStyle/>
          <a:p>
            <a:pPr marL="0" indent="0">
              <a:buNone/>
            </a:pPr>
            <a:r>
              <a:rPr lang="en-US" sz="1500" b="1" dirty="0">
                <a:solidFill>
                  <a:srgbClr val="D8432E"/>
                </a:solidFill>
                <a:latin typeface="Times New Roman" pitchFamily="34" charset="0"/>
                <a:ea typeface="Times New Roman" pitchFamily="34" charset="-122"/>
                <a:cs typeface="Times New Roman" pitchFamily="34" charset="-120"/>
              </a:rPr>
              <a:t>Ưu tiên cao</a:t>
            </a:r>
            <a:endParaRPr lang="en-US" sz="1500" dirty="0"/>
          </a:p>
        </p:txBody>
      </p:sp>
      <p:sp>
        <p:nvSpPr>
          <p:cNvPr id="14" name="Shape 10"/>
          <p:cNvSpPr/>
          <p:nvPr/>
        </p:nvSpPr>
        <p:spPr>
          <a:xfrm>
            <a:off x="822960" y="3858768"/>
            <a:ext cx="329184" cy="329184"/>
          </a:xfrm>
          <a:prstGeom prst="ellipse">
            <a:avLst/>
          </a:prstGeom>
          <a:solidFill>
            <a:srgbClr val="D8432E"/>
          </a:solidFill>
          <a:ln/>
          <a:effectLst>
            <a:outerShdw blurRad="76200" dist="25400" dir="5400000" algn="bl" rotWithShape="0">
              <a:srgbClr val="1B3760">
                <a:alpha val="18000"/>
              </a:srgbClr>
            </a:outerShdw>
          </a:effectLst>
        </p:spPr>
      </p:sp>
      <p:pic>
        <p:nvPicPr>
          <p:cNvPr id="15" name="Image 2" descr="/home/claude/work/build/rocket_white.png"/>
          <p:cNvPicPr>
            <a:picLocks noChangeAspect="1"/>
          </p:cNvPicPr>
          <p:nvPr/>
        </p:nvPicPr>
        <p:blipFill>
          <a:blip r:embed="rId4"/>
          <a:stretch>
            <a:fillRect/>
          </a:stretch>
        </p:blipFill>
        <p:spPr>
          <a:xfrm>
            <a:off x="905256" y="3941064"/>
            <a:ext cx="164592" cy="164592"/>
          </a:xfrm>
          <a:prstGeom prst="rect">
            <a:avLst/>
          </a:prstGeom>
        </p:spPr>
      </p:pic>
      <p:sp>
        <p:nvSpPr>
          <p:cNvPr id="16" name="Text 11"/>
          <p:cNvSpPr/>
          <p:nvPr/>
        </p:nvSpPr>
        <p:spPr>
          <a:xfrm>
            <a:off x="1280160" y="3803904"/>
            <a:ext cx="4160520" cy="566928"/>
          </a:xfrm>
          <a:prstGeom prst="rect">
            <a:avLst/>
          </a:prstGeom>
          <a:noFill/>
          <a:ln/>
        </p:spPr>
        <p:txBody>
          <a:bodyPr wrap="square" rtlCol="0" anchor="ctr"/>
          <a:lstStyle/>
          <a:p>
            <a:pPr marL="0" indent="0">
              <a:lnSpc>
                <a:spcPct val="115000"/>
              </a:lnSpc>
              <a:buNone/>
            </a:pPr>
            <a:r>
              <a:rPr lang="en-US" sz="1180" dirty="0">
                <a:solidFill>
                  <a:srgbClr val="1C2430"/>
                </a:solidFill>
                <a:latin typeface="Times New Roman" pitchFamily="34" charset="0"/>
                <a:ea typeface="Times New Roman" pitchFamily="34" charset="-122"/>
                <a:cs typeface="Times New Roman" pitchFamily="34" charset="-120"/>
              </a:rPr>
              <a:t>Threshold tuning riêng cho lớp Glioma để tăng Recall.</a:t>
            </a:r>
            <a:endParaRPr lang="en-US" sz="1180" dirty="0"/>
          </a:p>
        </p:txBody>
      </p:sp>
      <p:sp>
        <p:nvSpPr>
          <p:cNvPr id="17" name="Shape 12"/>
          <p:cNvSpPr/>
          <p:nvPr/>
        </p:nvSpPr>
        <p:spPr>
          <a:xfrm>
            <a:off x="822960" y="4517136"/>
            <a:ext cx="329184" cy="329184"/>
          </a:xfrm>
          <a:prstGeom prst="ellipse">
            <a:avLst/>
          </a:prstGeom>
          <a:solidFill>
            <a:srgbClr val="D8432E"/>
          </a:solidFill>
          <a:ln/>
          <a:effectLst>
            <a:outerShdw blurRad="76200" dist="25400" dir="5400000" algn="bl" rotWithShape="0">
              <a:srgbClr val="1B3760">
                <a:alpha val="18000"/>
              </a:srgbClr>
            </a:outerShdw>
          </a:effectLst>
        </p:spPr>
      </p:sp>
      <p:pic>
        <p:nvPicPr>
          <p:cNvPr id="18" name="Image 3" descr="/home/claude/work/build/rocket_white.png"/>
          <p:cNvPicPr>
            <a:picLocks noChangeAspect="1"/>
          </p:cNvPicPr>
          <p:nvPr/>
        </p:nvPicPr>
        <p:blipFill>
          <a:blip r:embed="rId4"/>
          <a:stretch>
            <a:fillRect/>
          </a:stretch>
        </p:blipFill>
        <p:spPr>
          <a:xfrm>
            <a:off x="905256" y="4599432"/>
            <a:ext cx="164592" cy="164592"/>
          </a:xfrm>
          <a:prstGeom prst="rect">
            <a:avLst/>
          </a:prstGeom>
        </p:spPr>
      </p:pic>
      <p:sp>
        <p:nvSpPr>
          <p:cNvPr id="19" name="Text 13"/>
          <p:cNvSpPr/>
          <p:nvPr/>
        </p:nvSpPr>
        <p:spPr>
          <a:xfrm>
            <a:off x="1280160" y="4462272"/>
            <a:ext cx="4160520" cy="566928"/>
          </a:xfrm>
          <a:prstGeom prst="rect">
            <a:avLst/>
          </a:prstGeom>
          <a:noFill/>
          <a:ln/>
        </p:spPr>
        <p:txBody>
          <a:bodyPr wrap="square" rtlCol="0" anchor="ctr"/>
          <a:lstStyle/>
          <a:p>
            <a:pPr marL="0" indent="0">
              <a:lnSpc>
                <a:spcPct val="115000"/>
              </a:lnSpc>
              <a:buNone/>
            </a:pPr>
            <a:r>
              <a:rPr lang="en-US" sz="1180" dirty="0">
                <a:solidFill>
                  <a:srgbClr val="1C2430"/>
                </a:solidFill>
                <a:latin typeface="Times New Roman" pitchFamily="34" charset="0"/>
                <a:ea typeface="Times New Roman" pitchFamily="34" charset="-122"/>
                <a:cs typeface="Times New Roman" pitchFamily="34" charset="-120"/>
              </a:rPr>
              <a:t>Áp dụng Focal Loss giải quyết mất cân bằng lỗi giữa các lớp.</a:t>
            </a:r>
            <a:endParaRPr lang="en-US" sz="1180" dirty="0"/>
          </a:p>
        </p:txBody>
      </p:sp>
      <p:sp>
        <p:nvSpPr>
          <p:cNvPr id="20" name="Shape 14"/>
          <p:cNvSpPr/>
          <p:nvPr/>
        </p:nvSpPr>
        <p:spPr>
          <a:xfrm>
            <a:off x="822960" y="5175504"/>
            <a:ext cx="329184" cy="329184"/>
          </a:xfrm>
          <a:prstGeom prst="ellipse">
            <a:avLst/>
          </a:prstGeom>
          <a:solidFill>
            <a:srgbClr val="D8432E"/>
          </a:solidFill>
          <a:ln/>
          <a:effectLst>
            <a:outerShdw blurRad="76200" dist="25400" dir="5400000" algn="bl" rotWithShape="0">
              <a:srgbClr val="1B3760">
                <a:alpha val="18000"/>
              </a:srgbClr>
            </a:outerShdw>
          </a:effectLst>
        </p:spPr>
      </p:sp>
      <p:pic>
        <p:nvPicPr>
          <p:cNvPr id="21" name="Image 4" descr="/home/claude/work/build/rocket_white.png"/>
          <p:cNvPicPr>
            <a:picLocks noChangeAspect="1"/>
          </p:cNvPicPr>
          <p:nvPr/>
        </p:nvPicPr>
        <p:blipFill>
          <a:blip r:embed="rId4"/>
          <a:stretch>
            <a:fillRect/>
          </a:stretch>
        </p:blipFill>
        <p:spPr>
          <a:xfrm>
            <a:off x="905256" y="5257800"/>
            <a:ext cx="164592" cy="164592"/>
          </a:xfrm>
          <a:prstGeom prst="rect">
            <a:avLst/>
          </a:prstGeom>
        </p:spPr>
      </p:pic>
      <p:sp>
        <p:nvSpPr>
          <p:cNvPr id="22" name="Text 15"/>
          <p:cNvSpPr/>
          <p:nvPr/>
        </p:nvSpPr>
        <p:spPr>
          <a:xfrm>
            <a:off x="1280160" y="5120640"/>
            <a:ext cx="4160520" cy="566928"/>
          </a:xfrm>
          <a:prstGeom prst="rect">
            <a:avLst/>
          </a:prstGeom>
          <a:noFill/>
          <a:ln/>
        </p:spPr>
        <p:txBody>
          <a:bodyPr wrap="square" rtlCol="0" anchor="ctr"/>
          <a:lstStyle/>
          <a:p>
            <a:pPr marL="0" indent="0">
              <a:lnSpc>
                <a:spcPct val="115000"/>
              </a:lnSpc>
              <a:buNone/>
            </a:pPr>
            <a:r>
              <a:rPr lang="en-US" sz="1180" dirty="0">
                <a:solidFill>
                  <a:srgbClr val="1C2430"/>
                </a:solidFill>
                <a:latin typeface="Times New Roman" pitchFamily="34" charset="0"/>
                <a:ea typeface="Times New Roman" pitchFamily="34" charset="-122"/>
                <a:cs typeface="Times New Roman" pitchFamily="34" charset="-120"/>
              </a:rPr>
              <a:t>Test Time Augmentation (TTA) + Label Smoothing.</a:t>
            </a:r>
            <a:endParaRPr lang="en-US" sz="1180" dirty="0"/>
          </a:p>
        </p:txBody>
      </p:sp>
      <p:sp>
        <p:nvSpPr>
          <p:cNvPr id="23" name="Shape 16"/>
          <p:cNvSpPr/>
          <p:nvPr/>
        </p:nvSpPr>
        <p:spPr>
          <a:xfrm>
            <a:off x="822960" y="5833872"/>
            <a:ext cx="329184" cy="329184"/>
          </a:xfrm>
          <a:prstGeom prst="ellipse">
            <a:avLst/>
          </a:prstGeom>
          <a:solidFill>
            <a:srgbClr val="D8432E"/>
          </a:solidFill>
          <a:ln/>
          <a:effectLst>
            <a:outerShdw blurRad="76200" dist="25400" dir="5400000" algn="bl" rotWithShape="0">
              <a:srgbClr val="1B3760">
                <a:alpha val="18000"/>
              </a:srgbClr>
            </a:outerShdw>
          </a:effectLst>
        </p:spPr>
      </p:sp>
      <p:pic>
        <p:nvPicPr>
          <p:cNvPr id="24" name="Image 5" descr="/home/claude/work/build/rocket_white.png"/>
          <p:cNvPicPr>
            <a:picLocks noChangeAspect="1"/>
          </p:cNvPicPr>
          <p:nvPr/>
        </p:nvPicPr>
        <p:blipFill>
          <a:blip r:embed="rId4"/>
          <a:stretch>
            <a:fillRect/>
          </a:stretch>
        </p:blipFill>
        <p:spPr>
          <a:xfrm>
            <a:off x="905256" y="5916168"/>
            <a:ext cx="164592" cy="164592"/>
          </a:xfrm>
          <a:prstGeom prst="rect">
            <a:avLst/>
          </a:prstGeom>
        </p:spPr>
      </p:pic>
      <p:sp>
        <p:nvSpPr>
          <p:cNvPr id="25" name="Text 17"/>
          <p:cNvSpPr/>
          <p:nvPr/>
        </p:nvSpPr>
        <p:spPr>
          <a:xfrm>
            <a:off x="1280160" y="5779008"/>
            <a:ext cx="4160520" cy="566928"/>
          </a:xfrm>
          <a:prstGeom prst="rect">
            <a:avLst/>
          </a:prstGeom>
          <a:noFill/>
          <a:ln/>
        </p:spPr>
        <p:txBody>
          <a:bodyPr wrap="square" rtlCol="0" anchor="ctr"/>
          <a:lstStyle/>
          <a:p>
            <a:pPr marL="0" indent="0">
              <a:lnSpc>
                <a:spcPct val="115000"/>
              </a:lnSpc>
              <a:buNone/>
            </a:pPr>
            <a:r>
              <a:rPr lang="en-US" sz="1180" dirty="0">
                <a:solidFill>
                  <a:srgbClr val="1C2430"/>
                </a:solidFill>
                <a:latin typeface="Times New Roman" pitchFamily="34" charset="0"/>
                <a:ea typeface="Times New Roman" pitchFamily="34" charset="-122"/>
                <a:cs typeface="Times New Roman" pitchFamily="34" charset="-120"/>
              </a:rPr>
              <a:t>Kiểm chứng ngoài (external validation) trên tập BraTS.</a:t>
            </a:r>
            <a:endParaRPr lang="en-US" sz="1180" dirty="0"/>
          </a:p>
        </p:txBody>
      </p:sp>
      <p:sp>
        <p:nvSpPr>
          <p:cNvPr id="26" name="Shape 18"/>
          <p:cNvSpPr/>
          <p:nvPr/>
        </p:nvSpPr>
        <p:spPr>
          <a:xfrm>
            <a:off x="6217920" y="3145536"/>
            <a:ext cx="5257800" cy="3429000"/>
          </a:xfrm>
          <a:prstGeom prst="roundRect">
            <a:avLst>
              <a:gd name="adj" fmla="val 2667"/>
            </a:avLst>
          </a:prstGeom>
          <a:solidFill>
            <a:srgbClr val="FFFFFF"/>
          </a:solidFill>
          <a:ln w="12700">
            <a:solidFill>
              <a:srgbClr val="E2E6EC"/>
            </a:solidFill>
            <a:prstDash val="solid"/>
          </a:ln>
          <a:effectLst>
            <a:outerShdw blurRad="101600" dist="25400" dir="5400000" algn="bl" rotWithShape="0">
              <a:srgbClr val="1B3760">
                <a:alpha val="10000"/>
              </a:srgbClr>
            </a:outerShdw>
          </a:effectLst>
        </p:spPr>
      </p:sp>
      <p:sp>
        <p:nvSpPr>
          <p:cNvPr id="27" name="Text 19"/>
          <p:cNvSpPr/>
          <p:nvPr/>
        </p:nvSpPr>
        <p:spPr>
          <a:xfrm>
            <a:off x="6537960" y="3346704"/>
            <a:ext cx="4617720" cy="365760"/>
          </a:xfrm>
          <a:prstGeom prst="rect">
            <a:avLst/>
          </a:prstGeom>
          <a:noFill/>
          <a:ln/>
        </p:spPr>
        <p:txBody>
          <a:bodyPr wrap="square" rtlCol="0" anchor="ctr"/>
          <a:lstStyle/>
          <a:p>
            <a:pPr marL="0" indent="0">
              <a:buNone/>
            </a:pPr>
            <a:r>
              <a:rPr lang="en-US" sz="1500" b="1" dirty="0">
                <a:solidFill>
                  <a:srgbClr val="158C94"/>
                </a:solidFill>
                <a:latin typeface="Times New Roman" pitchFamily="34" charset="0"/>
                <a:ea typeface="Times New Roman" pitchFamily="34" charset="-122"/>
                <a:cs typeface="Times New Roman" pitchFamily="34" charset="-120"/>
              </a:rPr>
              <a:t>Ưu tiên trung bình / thấp</a:t>
            </a:r>
            <a:endParaRPr lang="en-US" sz="1500" dirty="0"/>
          </a:p>
        </p:txBody>
      </p:sp>
      <p:sp>
        <p:nvSpPr>
          <p:cNvPr id="28" name="Shape 20"/>
          <p:cNvSpPr/>
          <p:nvPr/>
        </p:nvSpPr>
        <p:spPr>
          <a:xfrm>
            <a:off x="6537960" y="3858768"/>
            <a:ext cx="329184" cy="329184"/>
          </a:xfrm>
          <a:prstGeom prst="ellipse">
            <a:avLst/>
          </a:prstGeom>
          <a:solidFill>
            <a:srgbClr val="158C94"/>
          </a:solidFill>
          <a:ln/>
          <a:effectLst>
            <a:outerShdw blurRad="76200" dist="25400" dir="5400000" algn="bl" rotWithShape="0">
              <a:srgbClr val="1B3760">
                <a:alpha val="18000"/>
              </a:srgbClr>
            </a:outerShdw>
          </a:effectLst>
        </p:spPr>
      </p:sp>
      <p:pic>
        <p:nvPicPr>
          <p:cNvPr id="29" name="Image 6" descr="/home/claude/work/build/rocket_white.png"/>
          <p:cNvPicPr>
            <a:picLocks noChangeAspect="1"/>
          </p:cNvPicPr>
          <p:nvPr/>
        </p:nvPicPr>
        <p:blipFill>
          <a:blip r:embed="rId4"/>
          <a:stretch>
            <a:fillRect/>
          </a:stretch>
        </p:blipFill>
        <p:spPr>
          <a:xfrm>
            <a:off x="6620256" y="3941064"/>
            <a:ext cx="164592" cy="164592"/>
          </a:xfrm>
          <a:prstGeom prst="rect">
            <a:avLst/>
          </a:prstGeom>
        </p:spPr>
      </p:pic>
      <p:sp>
        <p:nvSpPr>
          <p:cNvPr id="30" name="Text 21"/>
          <p:cNvSpPr/>
          <p:nvPr/>
        </p:nvSpPr>
        <p:spPr>
          <a:xfrm>
            <a:off x="6995160" y="3803904"/>
            <a:ext cx="4160520" cy="566928"/>
          </a:xfrm>
          <a:prstGeom prst="rect">
            <a:avLst/>
          </a:prstGeom>
          <a:noFill/>
          <a:ln/>
        </p:spPr>
        <p:txBody>
          <a:bodyPr wrap="square" rtlCol="0" anchor="ctr"/>
          <a:lstStyle/>
          <a:p>
            <a:pPr marL="0" indent="0">
              <a:lnSpc>
                <a:spcPct val="115000"/>
              </a:lnSpc>
              <a:buNone/>
            </a:pPr>
            <a:r>
              <a:rPr lang="en-US" sz="1180" dirty="0">
                <a:solidFill>
                  <a:srgbClr val="1C2430"/>
                </a:solidFill>
                <a:latin typeface="Times New Roman" pitchFamily="34" charset="0"/>
                <a:ea typeface="Times New Roman" pitchFamily="34" charset="-122"/>
                <a:cs typeface="Times New Roman" pitchFamily="34" charset="-120"/>
              </a:rPr>
              <a:t>K-Fold Cross Validation để đánh giá độ ổn định.</a:t>
            </a:r>
            <a:endParaRPr lang="en-US" sz="1180" dirty="0"/>
          </a:p>
        </p:txBody>
      </p:sp>
      <p:sp>
        <p:nvSpPr>
          <p:cNvPr id="31" name="Shape 22"/>
          <p:cNvSpPr/>
          <p:nvPr/>
        </p:nvSpPr>
        <p:spPr>
          <a:xfrm>
            <a:off x="6537960" y="4517136"/>
            <a:ext cx="329184" cy="329184"/>
          </a:xfrm>
          <a:prstGeom prst="ellipse">
            <a:avLst/>
          </a:prstGeom>
          <a:solidFill>
            <a:srgbClr val="158C94"/>
          </a:solidFill>
          <a:ln/>
          <a:effectLst>
            <a:outerShdw blurRad="76200" dist="25400" dir="5400000" algn="bl" rotWithShape="0">
              <a:srgbClr val="1B3760">
                <a:alpha val="18000"/>
              </a:srgbClr>
            </a:outerShdw>
          </a:effectLst>
        </p:spPr>
      </p:sp>
      <p:pic>
        <p:nvPicPr>
          <p:cNvPr id="32" name="Image 7" descr="/home/claude/work/build/rocket_white.png"/>
          <p:cNvPicPr>
            <a:picLocks noChangeAspect="1"/>
          </p:cNvPicPr>
          <p:nvPr/>
        </p:nvPicPr>
        <p:blipFill>
          <a:blip r:embed="rId4"/>
          <a:stretch>
            <a:fillRect/>
          </a:stretch>
        </p:blipFill>
        <p:spPr>
          <a:xfrm>
            <a:off x="6620256" y="4599432"/>
            <a:ext cx="164592" cy="164592"/>
          </a:xfrm>
          <a:prstGeom prst="rect">
            <a:avLst/>
          </a:prstGeom>
        </p:spPr>
      </p:pic>
      <p:sp>
        <p:nvSpPr>
          <p:cNvPr id="33" name="Text 23"/>
          <p:cNvSpPr/>
          <p:nvPr/>
        </p:nvSpPr>
        <p:spPr>
          <a:xfrm>
            <a:off x="6995160" y="4462272"/>
            <a:ext cx="4160520" cy="566928"/>
          </a:xfrm>
          <a:prstGeom prst="rect">
            <a:avLst/>
          </a:prstGeom>
          <a:noFill/>
          <a:ln/>
        </p:spPr>
        <p:txBody>
          <a:bodyPr wrap="square" rtlCol="0" anchor="ctr"/>
          <a:lstStyle/>
          <a:p>
            <a:pPr marL="0" indent="0">
              <a:lnSpc>
                <a:spcPct val="115000"/>
              </a:lnSpc>
              <a:buNone/>
            </a:pPr>
            <a:r>
              <a:rPr lang="en-US" sz="1180" dirty="0">
                <a:solidFill>
                  <a:srgbClr val="1C2430"/>
                </a:solidFill>
                <a:latin typeface="Times New Roman" pitchFamily="34" charset="0"/>
                <a:ea typeface="Times New Roman" pitchFamily="34" charset="-122"/>
                <a:cs typeface="Times New Roman" pitchFamily="34" charset="-120"/>
              </a:rPr>
              <a:t>Uncertainty Quantification cho từng dự đoán.</a:t>
            </a:r>
            <a:endParaRPr lang="en-US" sz="1180" dirty="0"/>
          </a:p>
        </p:txBody>
      </p:sp>
      <p:sp>
        <p:nvSpPr>
          <p:cNvPr id="34" name="Shape 24"/>
          <p:cNvSpPr/>
          <p:nvPr/>
        </p:nvSpPr>
        <p:spPr>
          <a:xfrm>
            <a:off x="6537960" y="5175504"/>
            <a:ext cx="329184" cy="329184"/>
          </a:xfrm>
          <a:prstGeom prst="ellipse">
            <a:avLst/>
          </a:prstGeom>
          <a:solidFill>
            <a:srgbClr val="158C94"/>
          </a:solidFill>
          <a:ln/>
          <a:effectLst>
            <a:outerShdw blurRad="76200" dist="25400" dir="5400000" algn="bl" rotWithShape="0">
              <a:srgbClr val="1B3760">
                <a:alpha val="18000"/>
              </a:srgbClr>
            </a:outerShdw>
          </a:effectLst>
        </p:spPr>
      </p:sp>
      <p:pic>
        <p:nvPicPr>
          <p:cNvPr id="35" name="Image 8" descr="/home/claude/work/build/rocket_white.png"/>
          <p:cNvPicPr>
            <a:picLocks noChangeAspect="1"/>
          </p:cNvPicPr>
          <p:nvPr/>
        </p:nvPicPr>
        <p:blipFill>
          <a:blip r:embed="rId4"/>
          <a:stretch>
            <a:fillRect/>
          </a:stretch>
        </p:blipFill>
        <p:spPr>
          <a:xfrm>
            <a:off x="6620256" y="5257800"/>
            <a:ext cx="164592" cy="164592"/>
          </a:xfrm>
          <a:prstGeom prst="rect">
            <a:avLst/>
          </a:prstGeom>
        </p:spPr>
      </p:pic>
      <p:sp>
        <p:nvSpPr>
          <p:cNvPr id="36" name="Text 25"/>
          <p:cNvSpPr/>
          <p:nvPr/>
        </p:nvSpPr>
        <p:spPr>
          <a:xfrm>
            <a:off x="6995160" y="5120640"/>
            <a:ext cx="4160520" cy="566928"/>
          </a:xfrm>
          <a:prstGeom prst="rect">
            <a:avLst/>
          </a:prstGeom>
          <a:noFill/>
          <a:ln/>
        </p:spPr>
        <p:txBody>
          <a:bodyPr wrap="square" rtlCol="0" anchor="ctr"/>
          <a:lstStyle/>
          <a:p>
            <a:pPr marL="0" indent="0">
              <a:lnSpc>
                <a:spcPct val="115000"/>
              </a:lnSpc>
              <a:buNone/>
            </a:pPr>
            <a:r>
              <a:rPr lang="en-US" sz="1180" dirty="0">
                <a:solidFill>
                  <a:srgbClr val="1C2430"/>
                </a:solidFill>
                <a:latin typeface="Times New Roman" pitchFamily="34" charset="0"/>
                <a:ea typeface="Times New Roman" pitchFamily="34" charset="-122"/>
                <a:cs typeface="Times New Roman" pitchFamily="34" charset="-120"/>
              </a:rPr>
              <a:t>Mở rộng sang Segmentation / Object Detection.</a:t>
            </a:r>
            <a:endParaRPr lang="en-US" sz="1180" dirty="0"/>
          </a:p>
        </p:txBody>
      </p:sp>
      <p:sp>
        <p:nvSpPr>
          <p:cNvPr id="37" name="Shape 26"/>
          <p:cNvSpPr/>
          <p:nvPr/>
        </p:nvSpPr>
        <p:spPr>
          <a:xfrm>
            <a:off x="6537960" y="5833872"/>
            <a:ext cx="329184" cy="329184"/>
          </a:xfrm>
          <a:prstGeom prst="ellipse">
            <a:avLst/>
          </a:prstGeom>
          <a:solidFill>
            <a:srgbClr val="158C94"/>
          </a:solidFill>
          <a:ln/>
          <a:effectLst>
            <a:outerShdw blurRad="76200" dist="25400" dir="5400000" algn="bl" rotWithShape="0">
              <a:srgbClr val="1B3760">
                <a:alpha val="18000"/>
              </a:srgbClr>
            </a:outerShdw>
          </a:effectLst>
        </p:spPr>
      </p:sp>
      <p:pic>
        <p:nvPicPr>
          <p:cNvPr id="38" name="Image 9" descr="/home/claude/work/build/rocket_white.png"/>
          <p:cNvPicPr>
            <a:picLocks noChangeAspect="1"/>
          </p:cNvPicPr>
          <p:nvPr/>
        </p:nvPicPr>
        <p:blipFill>
          <a:blip r:embed="rId4"/>
          <a:stretch>
            <a:fillRect/>
          </a:stretch>
        </p:blipFill>
        <p:spPr>
          <a:xfrm>
            <a:off x="6620256" y="5916168"/>
            <a:ext cx="164592" cy="164592"/>
          </a:xfrm>
          <a:prstGeom prst="rect">
            <a:avLst/>
          </a:prstGeom>
        </p:spPr>
      </p:pic>
      <p:sp>
        <p:nvSpPr>
          <p:cNvPr id="39" name="Text 27"/>
          <p:cNvSpPr/>
          <p:nvPr/>
        </p:nvSpPr>
        <p:spPr>
          <a:xfrm>
            <a:off x="6995160" y="5779008"/>
            <a:ext cx="4160520" cy="566928"/>
          </a:xfrm>
          <a:prstGeom prst="rect">
            <a:avLst/>
          </a:prstGeom>
          <a:noFill/>
          <a:ln/>
        </p:spPr>
        <p:txBody>
          <a:bodyPr wrap="square" rtlCol="0" anchor="ctr"/>
          <a:lstStyle/>
          <a:p>
            <a:pPr marL="0" indent="0">
              <a:lnSpc>
                <a:spcPct val="115000"/>
              </a:lnSpc>
              <a:buNone/>
            </a:pPr>
            <a:r>
              <a:rPr lang="en-US" sz="1180" dirty="0">
                <a:solidFill>
                  <a:srgbClr val="1C2430"/>
                </a:solidFill>
                <a:latin typeface="Times New Roman" pitchFamily="34" charset="0"/>
                <a:ea typeface="Times New Roman" pitchFamily="34" charset="-122"/>
                <a:cs typeface="Times New Roman" pitchFamily="34" charset="-120"/>
              </a:rPr>
              <a:t>Ensemble hoặc Knowledge Distillation hai mô hình.</a:t>
            </a:r>
            <a:endParaRPr lang="en-US" sz="1180" dirty="0"/>
          </a:p>
        </p:txBody>
      </p:sp>
      <p:sp>
        <p:nvSpPr>
          <p:cNvPr id="40" name="Shape 28"/>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41" name="Text 29"/>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21</a:t>
            </a:r>
            <a:endParaRPr lang="en-US" sz="10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3" name="Shape 0"/>
          <p:cNvSpPr/>
          <p:nvPr/>
        </p:nvSpPr>
        <p:spPr>
          <a:xfrm>
            <a:off x="0" y="0"/>
            <a:ext cx="12191695" cy="128016"/>
          </a:xfrm>
          <a:prstGeom prst="rect">
            <a:avLst/>
          </a:prstGeom>
          <a:solidFill>
            <a:srgbClr val="FFFFFF"/>
          </a:solidFill>
          <a:ln/>
        </p:spPr>
      </p:sp>
      <p:sp>
        <p:nvSpPr>
          <p:cNvPr id="4" name="Shape 1"/>
          <p:cNvSpPr/>
          <p:nvPr/>
        </p:nvSpPr>
        <p:spPr>
          <a:xfrm>
            <a:off x="502920" y="1391192"/>
            <a:ext cx="566928" cy="292608"/>
          </a:xfrm>
          <a:prstGeom prst="roundRect">
            <a:avLst>
              <a:gd name="adj" fmla="val 50000"/>
            </a:avLst>
          </a:prstGeom>
          <a:solidFill>
            <a:srgbClr val="C9960B"/>
          </a:solidFill>
          <a:ln/>
        </p:spPr>
      </p:sp>
      <p:sp>
        <p:nvSpPr>
          <p:cNvPr id="5" name="Text 2"/>
          <p:cNvSpPr/>
          <p:nvPr/>
        </p:nvSpPr>
        <p:spPr>
          <a:xfrm>
            <a:off x="502920" y="1391192"/>
            <a:ext cx="566928" cy="292608"/>
          </a:xfrm>
          <a:prstGeom prst="rect">
            <a:avLst/>
          </a:prstGeom>
          <a:solidFill>
            <a:srgbClr val="002060"/>
          </a:solidFill>
          <a:ln/>
        </p:spPr>
        <p:txBody>
          <a:bodyPr wrap="square"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06</a:t>
            </a:r>
            <a:endParaRPr lang="en-US" sz="1200" dirty="0"/>
          </a:p>
        </p:txBody>
      </p:sp>
      <p:sp>
        <p:nvSpPr>
          <p:cNvPr id="6" name="Text 3"/>
          <p:cNvSpPr/>
          <p:nvPr/>
        </p:nvSpPr>
        <p:spPr>
          <a:xfrm>
            <a:off x="1179576" y="1391192"/>
            <a:ext cx="9144000" cy="292608"/>
          </a:xfrm>
          <a:prstGeom prst="rect">
            <a:avLst/>
          </a:prstGeom>
          <a:noFill/>
          <a:ln/>
        </p:spPr>
        <p:txBody>
          <a:bodyPr wrap="square" rtlCol="0" anchor="ctr"/>
          <a:lstStyle/>
          <a:p>
            <a:pPr marL="0" indent="0">
              <a:buNone/>
            </a:pPr>
            <a:r>
              <a:rPr lang="en-US" sz="1250" b="1" kern="0" spc="120" dirty="0">
                <a:solidFill>
                  <a:srgbClr val="002060"/>
                </a:solidFill>
                <a:latin typeface="Times New Roman" pitchFamily="34" charset="0"/>
                <a:ea typeface="Times New Roman" pitchFamily="34" charset="-122"/>
                <a:cs typeface="Times New Roman" pitchFamily="34" charset="-120"/>
              </a:rPr>
              <a:t>KẾT LUẬN</a:t>
            </a:r>
            <a:endParaRPr lang="en-US" sz="1250" dirty="0">
              <a:solidFill>
                <a:srgbClr val="002060"/>
              </a:solidFill>
            </a:endParaRPr>
          </a:p>
        </p:txBody>
      </p:sp>
      <p:sp>
        <p:nvSpPr>
          <p:cNvPr id="7" name="Text 4"/>
          <p:cNvSpPr/>
          <p:nvPr/>
        </p:nvSpPr>
        <p:spPr>
          <a:xfrm>
            <a:off x="4690870" y="1783908"/>
            <a:ext cx="2532890" cy="603504"/>
          </a:xfrm>
          <a:prstGeom prst="rect">
            <a:avLst/>
          </a:prstGeom>
          <a:noFill/>
          <a:ln/>
        </p:spPr>
        <p:txBody>
          <a:bodyPr wrap="square" rtlCol="0" anchor="ctr"/>
          <a:lstStyle/>
          <a:p>
            <a:pPr marL="0" indent="0" algn="ctr">
              <a:buNone/>
            </a:pPr>
            <a:r>
              <a:rPr lang="en-US" sz="2800" b="1" dirty="0" err="1">
                <a:solidFill>
                  <a:srgbClr val="0B1E3D"/>
                </a:solidFill>
                <a:latin typeface="Times New Roman" pitchFamily="34" charset="0"/>
                <a:ea typeface="Times New Roman" pitchFamily="34" charset="-122"/>
                <a:cs typeface="Times New Roman" pitchFamily="34" charset="-120"/>
              </a:rPr>
              <a:t>Tổng</a:t>
            </a:r>
            <a:r>
              <a:rPr lang="en-US" sz="2800" b="1" dirty="0">
                <a:solidFill>
                  <a:srgbClr val="0B1E3D"/>
                </a:solidFill>
                <a:latin typeface="Times New Roman" pitchFamily="34" charset="0"/>
                <a:ea typeface="Times New Roman" pitchFamily="34" charset="-122"/>
                <a:cs typeface="Times New Roman" pitchFamily="34" charset="-120"/>
              </a:rPr>
              <a:t> </a:t>
            </a:r>
            <a:r>
              <a:rPr lang="en-US" sz="2800" b="1" dirty="0" err="1">
                <a:solidFill>
                  <a:srgbClr val="0B1E3D"/>
                </a:solidFill>
                <a:latin typeface="Times New Roman" pitchFamily="34" charset="0"/>
                <a:ea typeface="Times New Roman" pitchFamily="34" charset="-122"/>
                <a:cs typeface="Times New Roman" pitchFamily="34" charset="-120"/>
              </a:rPr>
              <a:t>kết</a:t>
            </a:r>
            <a:r>
              <a:rPr lang="en-US" sz="2800" b="1" dirty="0">
                <a:solidFill>
                  <a:srgbClr val="0B1E3D"/>
                </a:solidFill>
                <a:latin typeface="Times New Roman" pitchFamily="34" charset="0"/>
                <a:ea typeface="Times New Roman" pitchFamily="34" charset="-122"/>
                <a:cs typeface="Times New Roman" pitchFamily="34" charset="-120"/>
              </a:rPr>
              <a:t> </a:t>
            </a:r>
            <a:r>
              <a:rPr lang="en-US" sz="2800" b="1" dirty="0" err="1">
                <a:solidFill>
                  <a:srgbClr val="0B1E3D"/>
                </a:solidFill>
                <a:latin typeface="Times New Roman" pitchFamily="34" charset="0"/>
                <a:ea typeface="Times New Roman" pitchFamily="34" charset="-122"/>
                <a:cs typeface="Times New Roman" pitchFamily="34" charset="-120"/>
              </a:rPr>
              <a:t>đề</a:t>
            </a:r>
            <a:r>
              <a:rPr lang="en-US" sz="2800" b="1" dirty="0">
                <a:solidFill>
                  <a:srgbClr val="0B1E3D"/>
                </a:solidFill>
                <a:latin typeface="Times New Roman" pitchFamily="34" charset="0"/>
                <a:ea typeface="Times New Roman" pitchFamily="34" charset="-122"/>
                <a:cs typeface="Times New Roman" pitchFamily="34" charset="-120"/>
              </a:rPr>
              <a:t> </a:t>
            </a:r>
            <a:r>
              <a:rPr lang="en-US" sz="2800" b="1" dirty="0" err="1">
                <a:solidFill>
                  <a:srgbClr val="0B1E3D"/>
                </a:solidFill>
                <a:latin typeface="Times New Roman" pitchFamily="34" charset="0"/>
                <a:ea typeface="Times New Roman" pitchFamily="34" charset="-122"/>
                <a:cs typeface="Times New Roman" pitchFamily="34" charset="-120"/>
              </a:rPr>
              <a:t>tài</a:t>
            </a:r>
            <a:endParaRPr lang="en-US" sz="2800" dirty="0"/>
          </a:p>
        </p:txBody>
      </p:sp>
      <p:sp>
        <p:nvSpPr>
          <p:cNvPr id="11" name="Text 7"/>
          <p:cNvSpPr/>
          <p:nvPr/>
        </p:nvSpPr>
        <p:spPr>
          <a:xfrm>
            <a:off x="1368987" y="2505456"/>
            <a:ext cx="9326880" cy="914400"/>
          </a:xfrm>
          <a:prstGeom prst="rect">
            <a:avLst/>
          </a:prstGeom>
          <a:noFill/>
          <a:ln/>
        </p:spPr>
        <p:txBody>
          <a:bodyPr wrap="square" rtlCol="0" anchor="t"/>
          <a:lstStyle/>
          <a:p>
            <a:pPr marL="0" indent="0" algn="ctr">
              <a:lnSpc>
                <a:spcPct val="128000"/>
              </a:lnSpc>
              <a:buNone/>
            </a:pPr>
            <a:r>
              <a:rPr lang="en-US" sz="1600" dirty="0">
                <a:solidFill>
                  <a:srgbClr val="1C2430"/>
                </a:solidFill>
                <a:latin typeface="Times New Roman" pitchFamily="34" charset="0"/>
                <a:ea typeface="Times New Roman" pitchFamily="34" charset="-122"/>
                <a:cs typeface="Times New Roman" pitchFamily="34" charset="-120"/>
              </a:rPr>
              <a:t>Hệ thống BrainTumorAI đạt Test Accuracy 94.69–95.00% và Macro AUC-ROC vượt 98.8% — mức hiệu năng cạnh tranh với nhiều hệ thống production-grade giai đoạn 2023–2024, với sự đánh đổi rõ ràng giữa tốc độ suy luận (EfficientNetB0) và độ an toàn lâm sàng (DenseNet121).</a:t>
            </a:r>
            <a:endParaRPr lang="en-US" sz="1600" dirty="0"/>
          </a:p>
        </p:txBody>
      </p:sp>
      <p:sp>
        <p:nvSpPr>
          <p:cNvPr id="12" name="Text 8"/>
          <p:cNvSpPr/>
          <p:nvPr/>
        </p:nvSpPr>
        <p:spPr>
          <a:xfrm>
            <a:off x="1417320" y="3913632"/>
            <a:ext cx="9326880" cy="411480"/>
          </a:xfrm>
          <a:prstGeom prst="rect">
            <a:avLst/>
          </a:prstGeom>
          <a:noFill/>
          <a:ln/>
        </p:spPr>
        <p:txBody>
          <a:bodyPr wrap="square" rtlCol="0" anchor="t"/>
          <a:lstStyle/>
          <a:p>
            <a:pPr marL="0" indent="0" algn="ctr">
              <a:buNone/>
            </a:pPr>
            <a:r>
              <a:rPr lang="en-US" sz="1200" i="1" dirty="0">
                <a:solidFill>
                  <a:srgbClr val="C9960B"/>
                </a:solidFill>
                <a:latin typeface="Times New Roman" pitchFamily="34" charset="0"/>
                <a:ea typeface="Times New Roman" pitchFamily="34" charset="-122"/>
                <a:cs typeface="Times New Roman" pitchFamily="34" charset="-120"/>
              </a:rPr>
              <a:t>Đây hiện là công cụ học thuật và hỗ trợ sàng lọc sơ bộ — không thay thế chẩn đoán chuyên khoa.</a:t>
            </a:r>
            <a:endParaRPr lang="en-US" sz="1200" dirty="0"/>
          </a:p>
        </p:txBody>
      </p:sp>
      <p:sp>
        <p:nvSpPr>
          <p:cNvPr id="13" name="Shape 9"/>
          <p:cNvSpPr/>
          <p:nvPr/>
        </p:nvSpPr>
        <p:spPr>
          <a:xfrm>
            <a:off x="4206238" y="4676502"/>
            <a:ext cx="365760" cy="365760"/>
          </a:xfrm>
          <a:prstGeom prst="ellipse">
            <a:avLst/>
          </a:prstGeom>
          <a:solidFill>
            <a:srgbClr val="E4F3F3"/>
          </a:solidFill>
          <a:ln/>
          <a:effectLst>
            <a:outerShdw blurRad="76200" dist="25400" dir="5400000" algn="bl" rotWithShape="0">
              <a:srgbClr val="1B3760">
                <a:alpha val="18000"/>
              </a:srgbClr>
            </a:outerShdw>
          </a:effectLst>
        </p:spPr>
      </p:sp>
      <p:pic>
        <p:nvPicPr>
          <p:cNvPr id="14" name="Image 2" descr="/home/claude/work/build/github_navy.png"/>
          <p:cNvPicPr>
            <a:picLocks noChangeAspect="1"/>
          </p:cNvPicPr>
          <p:nvPr/>
        </p:nvPicPr>
        <p:blipFill>
          <a:blip r:embed="rId3"/>
          <a:stretch>
            <a:fillRect/>
          </a:stretch>
        </p:blipFill>
        <p:spPr>
          <a:xfrm>
            <a:off x="4288534" y="4758798"/>
            <a:ext cx="201168" cy="201168"/>
          </a:xfrm>
          <a:prstGeom prst="rect">
            <a:avLst/>
          </a:prstGeom>
        </p:spPr>
      </p:pic>
      <p:sp>
        <p:nvSpPr>
          <p:cNvPr id="15" name="Text 10"/>
          <p:cNvSpPr/>
          <p:nvPr/>
        </p:nvSpPr>
        <p:spPr>
          <a:xfrm>
            <a:off x="4690870" y="4676502"/>
            <a:ext cx="3108960" cy="365760"/>
          </a:xfrm>
          <a:prstGeom prst="rect">
            <a:avLst/>
          </a:prstGeom>
          <a:noFill/>
          <a:ln/>
        </p:spPr>
        <p:txBody>
          <a:bodyPr wrap="square" rtlCol="0" anchor="ctr"/>
          <a:lstStyle/>
          <a:p>
            <a:pPr marL="0" indent="0">
              <a:buNone/>
            </a:pPr>
            <a:r>
              <a:rPr lang="en-US" sz="1100" dirty="0">
                <a:solidFill>
                  <a:srgbClr val="5B6472"/>
                </a:solidFill>
                <a:latin typeface="Times New Roman" pitchFamily="34" charset="0"/>
                <a:ea typeface="Times New Roman" pitchFamily="34" charset="-122"/>
                <a:cs typeface="Times New Roman" pitchFamily="34" charset="-120"/>
              </a:rPr>
              <a:t>github.com/Thehy-IT/DS_filnal_Brain</a:t>
            </a:r>
            <a:endParaRPr lang="en-US" sz="1100" dirty="0"/>
          </a:p>
        </p:txBody>
      </p:sp>
      <p:sp>
        <p:nvSpPr>
          <p:cNvPr id="19" name="Text 13"/>
          <p:cNvSpPr/>
          <p:nvPr/>
        </p:nvSpPr>
        <p:spPr>
          <a:xfrm>
            <a:off x="731520" y="5440680"/>
            <a:ext cx="10698480" cy="457200"/>
          </a:xfrm>
          <a:prstGeom prst="rect">
            <a:avLst/>
          </a:prstGeom>
          <a:noFill/>
          <a:ln/>
        </p:spPr>
        <p:txBody>
          <a:bodyPr wrap="square" rtlCol="0" anchor="ctr"/>
          <a:lstStyle/>
          <a:p>
            <a:pPr marL="0" indent="0" algn="ctr">
              <a:buNone/>
            </a:pPr>
            <a:r>
              <a:rPr lang="en-US" sz="1800" b="1" dirty="0">
                <a:solidFill>
                  <a:srgbClr val="0B1E3D"/>
                </a:solidFill>
                <a:latin typeface="Times New Roman" pitchFamily="34" charset="0"/>
                <a:ea typeface="Times New Roman" pitchFamily="34" charset="-122"/>
                <a:cs typeface="Times New Roman" pitchFamily="34" charset="-120"/>
              </a:rPr>
              <a:t>Cảm </a:t>
            </a:r>
            <a:r>
              <a:rPr lang="en-US" sz="1800" b="1" dirty="0" err="1">
                <a:solidFill>
                  <a:srgbClr val="0B1E3D"/>
                </a:solidFill>
                <a:latin typeface="Times New Roman" pitchFamily="34" charset="0"/>
                <a:ea typeface="Times New Roman" pitchFamily="34" charset="-122"/>
                <a:cs typeface="Times New Roman" pitchFamily="34" charset="-120"/>
              </a:rPr>
              <a:t>ơn</a:t>
            </a:r>
            <a:r>
              <a:rPr lang="en-US" sz="1800" b="1" dirty="0">
                <a:solidFill>
                  <a:srgbClr val="0B1E3D"/>
                </a:solidFill>
                <a:latin typeface="Times New Roman" pitchFamily="34" charset="0"/>
                <a:ea typeface="Times New Roman" pitchFamily="34" charset="-122"/>
                <a:cs typeface="Times New Roman" pitchFamily="34" charset="-120"/>
              </a:rPr>
              <a:t> </a:t>
            </a:r>
            <a:r>
              <a:rPr lang="en-US" sz="1800" b="1" dirty="0" err="1">
                <a:solidFill>
                  <a:srgbClr val="0B1E3D"/>
                </a:solidFill>
                <a:latin typeface="Times New Roman" pitchFamily="34" charset="0"/>
                <a:ea typeface="Times New Roman" pitchFamily="34" charset="-122"/>
                <a:cs typeface="Times New Roman" pitchFamily="34" charset="-120"/>
              </a:rPr>
              <a:t>Thầy</a:t>
            </a:r>
            <a:r>
              <a:rPr lang="en-US" sz="1800" b="1" dirty="0">
                <a:solidFill>
                  <a:srgbClr val="0B1E3D"/>
                </a:solidFill>
                <a:latin typeface="Times New Roman" pitchFamily="34" charset="0"/>
                <a:ea typeface="Times New Roman" pitchFamily="34" charset="-122"/>
                <a:cs typeface="Times New Roman" pitchFamily="34" charset="-120"/>
              </a:rPr>
              <a:t> và các bạn đã lắng nghe!</a:t>
            </a:r>
            <a:endParaRPr lang="en-US" sz="1800" dirty="0"/>
          </a:p>
        </p:txBody>
      </p:sp>
      <p:sp>
        <p:nvSpPr>
          <p:cNvPr id="20" name="Shape 14"/>
          <p:cNvSpPr/>
          <p:nvPr/>
        </p:nvSpPr>
        <p:spPr>
          <a:xfrm>
            <a:off x="11430000" y="6419088"/>
            <a:ext cx="329184" cy="329184"/>
          </a:xfrm>
          <a:prstGeom prst="ellipse">
            <a:avLst/>
          </a:prstGeom>
          <a:solidFill>
            <a:srgbClr val="0B1E3D"/>
          </a:solidFill>
          <a:ln/>
          <a:effectLst>
            <a:outerShdw blurRad="50800" dist="12700" dir="5400000" algn="bl" rotWithShape="0">
              <a:srgbClr val="000000">
                <a:alpha val="25000"/>
              </a:srgbClr>
            </a:outerShdw>
          </a:effectLst>
        </p:spPr>
      </p:sp>
      <p:sp>
        <p:nvSpPr>
          <p:cNvPr id="21" name="Text 15"/>
          <p:cNvSpPr/>
          <p:nvPr/>
        </p:nvSpPr>
        <p:spPr>
          <a:xfrm>
            <a:off x="11430000" y="6419088"/>
            <a:ext cx="329184" cy="329184"/>
          </a:xfrm>
          <a:prstGeom prst="rect">
            <a:avLst/>
          </a:prstGeom>
          <a:noFill/>
          <a:ln/>
        </p:spPr>
        <p:txBody>
          <a:bodyPr wrap="square"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22</a:t>
            </a:r>
            <a:endParaRPr lang="en-US" sz="10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25003" y="4241512"/>
            <a:ext cx="2024253" cy="2024253"/>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157</TotalTime>
  <Words>2677</Words>
  <Application>Microsoft Office PowerPoint</Application>
  <PresentationFormat>Widescreen</PresentationFormat>
  <Paragraphs>476</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HY HOC IT</cp:lastModifiedBy>
  <cp:revision>19</cp:revision>
  <dcterms:created xsi:type="dcterms:W3CDTF">2026-07-16T11:50:38Z</dcterms:created>
  <dcterms:modified xsi:type="dcterms:W3CDTF">2026-07-23T01:47:19Z</dcterms:modified>
</cp:coreProperties>
</file>